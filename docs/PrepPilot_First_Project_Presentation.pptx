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PrepPilot, an offline-first, AI-assisted study and exam preparation platform built for Android. I am Archit Jain, with Vanshika, Lavi and Jasmine, guided by Ms. Kareena. Over the next twenty minutes we will cover the problem we set out to solve, our proposed solution, the architecture behind it, and — importantly — an honest account of what the system does and does not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presentation moves in four parts: first the problem, then our solution, then the engineering that makes it work, and finally the evidence — testing, and an honest statement of limitations. Everything we claim is backed by the audit document in our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PrepPilot is built around one idea: a syllabus is a structure, and progress is a measurement over it. Everything hangs off that. Two commitments shape the engineering. First, offline-first in the strict sense — the local database is authoritative, not a cache. Second, the AI assists but never drives; it can propose changes, but it cannot apply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organisational rather than academic. Four specific failures: students cannot measure progress accurately; most tools require connectivity they do not have while studying; their tooling is fragmented across several apps; and where progress is computed, it is usually computed wrongly. The next slide shows exactly how wrongly.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our motivation. Take a subject with two chapters: one has a single topic, complete. The other has ninety-nine topics, none complete. Averaging the chapter percentages gives fifty percent. The truth is one percent. That difference decides how a student spends their final weeks. Because averaging is the obvious implementation, we wrote a regression test specifically to prevent anyone reintroducing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twelve objectives; these are the six principal ones. Each is measurable and each is met. Note objective six in particular — integrating AI safely was treated as an engineering constraint from the start, not something added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looked at six categories of existing approach. Each fails differently, but the pattern is consistent: tools that revise well hold no syllabus; tools that track time do not know what was studied; tools that hold content require connectivity. The gap is an application where the syllabus is the spine and everything else attaches to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one application in which the syllabus is the central data structure and every other feature references it. Progress, study sessions, flashcards, notes, reminders and the AI assistant all read from and write to that one structure. The four commitments along the bottom are design rules we held to throughout — each is implemented, not aspirational.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is four levels deep, the fourth optional. Four rules govern how it is counted. The most important is topic weighting, which we saw on the earlier slide. The second matters more than it looks: an empty chapter reports an em dash, not zero percent, because a chapter you have not filled in yet is unmeasured, not unstarted. Showing zero would be a lie about work that does not exist. Finally, all five progress figures come from one traversal, so they are consistent by construction rather than by careful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timer modes. The engineering detail worth explaining is how we measure elapsed time. The naive approach is a counter incremented every second — but Android suspends background processes, so that counter stops the moment a student locks their screen, and the session is under-reported. We instead derive elapsed time from the start timestamp, which survives both backgrounding and process death without needing a foreground service. We also exclude Pomodoro breaks, because counting rest as study makes the total meaningless.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deliberately precise, and it is the one we most expect to be questioned on. Many apps say 'spaced repetition' and mean SM-2, the Anki algorithm. We implemented SM-2 fully and tested it — but our review screen currently uses four fixed intervals instead, because fixed labels tell the student exactly what will happen, whereas an adaptive schedule's '1 day' button is not one day on a mature card. We maintain the SM-2 statistics underneath, so switching is a one-line change. We would rather state this accurately than claim an algorithm we do not currently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supporting features — and the slide below them is the one we are proudest of, because it states what these features cannot do. Focus Mode does not block other apps; Android simply does not permit that without privileges the Play Store restricts. We do not toggle Do Not Disturb. Web reminders die with the tab. Rather than let a student discover these by being let down, the app itself displays a capability list saying so. If asked why we did not implement app blocking — the answer is that it is not a matter of effort, it is a platform restriction.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is from the running application. Note the two ticks and the two crosses, each with a reason. In the browser build two further items show as unsupported because they are app-only capabilities. We consider this the right default: state the limit in the interface, at the moment the student would otherwise form a false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Offline-first is a precise claim, so let us be precise. The local SQLite database is authoritative — writes complete there regardless of network state, and progress updates immediately. Synchronisation is a separate concern that happens later. Three design properties make this work, and each addresses a specific failure mode. Client-generated ids mean an offline row is recognised as the same row, not a duplicate. Tombstones mean deletions survive a sync. And taking the watermark from the server's clock rather than the device's prevents a device with a fast clock silently skipping rows forever.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Synchronisation runs pull, merge, then push — in that order, and the order matters. Four conflict rules, applied identically on every device. Rule two is the subtle one: topics carry a separate completedChangedAt column so that completion resolves independently of the rest of the row. Without it, renaming a topic on your tablet would silently revert a tick you made on your phone, because the two changes would be indistinguishable. Rule three settles genuine ties in favour of completed, because un-ticking finished work is the error a student would never forgive us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 architecture, and the important point is what is NOT in the picture: the client never talks to Gemini directly, and the API key never reaches a device. If we had put the key in the app, anyone who downloaded the APK could extract it and spend our quota. Instead the client calls a Supabase Edge Function which holds the key as a server secret. That function also identifies the caller from their signed token rather than a header — because a header is just text the caller writes, so a rate limit keyed on one is bypassed by editing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answer to the question 'what stops the AI wrecking a student's syllabus?' The answer is not that we asked it nicely. A model reply is parsed into an inert proposal object, and the proposal grammar admits exactly two verbs — add chapters, and add topics. There is no verb for deleting, completing or reordering. A reply asking for those operations cannot even be represented in our data structure, so it cannot be applied. Safety is structural. We also treat model output as untrusted input and validate names exactly as we validate typed input.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client layers, each with one job. The layer worth pointing out is the domain layer in packages/shared — it is deliberately free of React Native imports, which means the identical code runs in the Android app, in the browser build, and in our test suite. The mobile app and the web demo therefore cannot disagree about a percentage. On the right, Supabase is our backend — Auth, Postgres with row-level security, and two Deno Edge Functions. Note there is no Node.js server anywhere: Node is our build tooling, not our backend.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tables locally, eight of which synchronise. Preferences stays on the device because a theme choice belongs to a device, not an account. The bottom panel describes a decision we think is worth defending: study sessions and flashcards deliberately have no foreign key to the syllabus. If they did, deleting a subject would cascade and shrink your total study time — but you really did spend those hours. So we keep the ids as plain references plus a snapshot of the names, which also keeps history readable after a rename.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Twenty-two syllabi ship inside the app. Three are generated from official source syllabi; ten CBSE streams and nine competitive or professional syllabi are hand-written from each body's published syllabus, because none of these bodies publishes a machine-readable version. Because they are bundled rather than fetched, importing works with no connectivity — which matters, since setting up your syllabus is the first thing you do. A tracker represents one exam, so a student sitting both GATE and UPSC keeps two, and switching switches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sign-in methods. The security model rests on row-level security: every table has it enabled and forced — forcing matters, because without it the policies do not apply to the table owner. Note the third bullet: there is deliberately no delete policy anywhere. Deletion happens by tombstone, and the absence of that policy is what enforces it at the database rather than trusting client code. On secrets — the anon key being in the bundle is correct and intentional; it is publishable and its power is bounded by RLS. The keys that matter never leave the server.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as actually built, with versions taken from our package manifests. The note at the bottom is one we would like to pre-empt a question on. It is common to list Node.js as a backend. In our case that would be wrong: Node runs our bundler, our test runners and our formatter, but there is no Node server anywhere in the repository. Our backend is Supabase — managed Postgres, Auth, and Deno Edge Functions.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evidence base. Seventeen hundred and ninety-nine tests across eighty suites, all passing — and this number was measured, not estimated: we ran the suite from a clean install while preparing this presentation. Continuous integration runs six stages on every change. Two of those are worth explaining: we build the Android bundle and the web bundle in CI, because a green test suite does not prove the app still bundles through a pnpm workspace — that is a failure mode we hit and now guard against.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screenshots, not mock-ups. They were captured from the application running in its browser build — which is the same codebase and the same SQLite schema as the Android app, compiled to WebAssembly. We hid the demo-session banner for legibility, and we are noting that openly rather than presenting a cropped image as something it is 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row is the everyday flow. The property we want to highlight is in the amber box: the local write completes regardless of network state, so no student action ever waits on connectivity. The bottom row shows the AI path specifically — note that 'student confirms' sits between the proposal and anything being applied, and that progress is recomputed only after the change lands.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present this slide ourselves than have it discovered in questioning. Three categories. The first are platform restrictions — not things we ran out of time for, but things Android does not permit. The second are genuine implementation gaps we would close with more time; the flashcard scheduler is the most significant. The third is scope: our project targets Android, iOS is untested, and while we have run the app on a real device, we have not tested systematically across Android versions and manufacturer battery policies — which is where notification delivery is most likely to vary.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near-term work is deliberately unglamorous, because the groundwork is already in place. Adaptive scheduling is the clearest example: the SM-2 implementation exists and is tested, and we already record the ease factors and lapse counts it needs — so switching is a small, safe change rather than a rewrite. Same with drag-and-drop: the data layer supports arbitrary reordering; only the gesture handling is missing.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Three technical contributions: a genuinely offline-first architecture, a progress model that refuses to flatter the user, and an AI integration whose safety is structural rather than advisory. But equally deliberate is what we decline to claim. We think that posture is not modesty for its own sake — a student planning months of preparation around a tool needs that tool to be accurate about itself.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 are happy to answer questions on any part of the architecture, the progress model, the synchronisation rules, or the limitations we have described.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idya-university-logo.png"/>
          <p:cNvPicPr>
            <a:picLocks noChangeAspect="1"/>
          </p:cNvPicPr>
          <p:nvPr/>
        </p:nvPicPr>
        <p:blipFill>
          <a:blip r:embed="rId2"/>
          <a:stretch>
            <a:fillRect/>
          </a:stretch>
        </p:blipFill>
        <p:spPr>
          <a:xfrm>
            <a:off x="658368" y="475488"/>
            <a:ext cx="841248" cy="841248"/>
          </a:xfrm>
          <a:prstGeom prst="rect">
            <a:avLst/>
          </a:prstGeom>
        </p:spPr>
      </p:pic>
      <p:sp>
        <p:nvSpPr>
          <p:cNvPr id="4" name="TextBox 3"/>
          <p:cNvSpPr txBox="1"/>
          <p:nvPr/>
        </p:nvSpPr>
        <p:spPr>
          <a:xfrm>
            <a:off x="1682496" y="566928"/>
            <a:ext cx="5486400" cy="274320"/>
          </a:xfrm>
          <a:prstGeom prst="rect">
            <a:avLst/>
          </a:prstGeom>
          <a:noFill/>
        </p:spPr>
        <p:txBody>
          <a:bodyPr wrap="square" lIns="0" rIns="0" tIns="0" bIns="0" anchor="t">
            <a:spAutoFit/>
          </a:bodyPr>
          <a:lstStyle/>
          <a:p>
            <a:pPr algn="l">
              <a:lnSpc>
                <a:spcPct val="100000"/>
              </a:lnSpc>
            </a:pPr>
            <a:r>
              <a:rPr sz="1500" b="1" i="0">
                <a:solidFill>
                  <a:srgbClr val="FFFFFF"/>
                </a:solidFill>
                <a:latin typeface="Calibri"/>
              </a:rPr>
              <a:t>VIDYA UNIVERSITY</a:t>
            </a:r>
          </a:p>
        </p:txBody>
      </p:sp>
      <p:sp>
        <p:nvSpPr>
          <p:cNvPr id="5" name="TextBox 4"/>
          <p:cNvSpPr txBox="1"/>
          <p:nvPr/>
        </p:nvSpPr>
        <p:spPr>
          <a:xfrm>
            <a:off x="1682496" y="877824"/>
            <a:ext cx="6400800" cy="274320"/>
          </a:xfrm>
          <a:prstGeom prst="rect">
            <a:avLst/>
          </a:prstGeom>
          <a:noFill/>
        </p:spPr>
        <p:txBody>
          <a:bodyPr wrap="square" lIns="0" rIns="0" tIns="0" bIns="0" anchor="t">
            <a:spAutoFit/>
          </a:bodyPr>
          <a:lstStyle/>
          <a:p>
            <a:pPr algn="l">
              <a:lnSpc>
                <a:spcPct val="100000"/>
              </a:lnSpc>
            </a:pPr>
            <a:r>
              <a:rPr sz="1150" b="0" i="0">
                <a:solidFill>
                  <a:srgbClr val="9BA7B4"/>
                </a:solidFill>
                <a:latin typeface="Calibri"/>
              </a:rPr>
              <a:t>Department of Computer Science &amp; Engineering</a:t>
            </a:r>
          </a:p>
        </p:txBody>
      </p:sp>
      <p:sp>
        <p:nvSpPr>
          <p:cNvPr id="6" name="TextBox 5"/>
          <p:cNvSpPr txBox="1"/>
          <p:nvPr/>
        </p:nvSpPr>
        <p:spPr>
          <a:xfrm>
            <a:off x="658368" y="1883664"/>
            <a:ext cx="8595360" cy="274320"/>
          </a:xfrm>
          <a:prstGeom prst="rect">
            <a:avLst/>
          </a:prstGeom>
          <a:noFill/>
        </p:spPr>
        <p:txBody>
          <a:bodyPr wrap="square" lIns="0" rIns="0" tIns="0" bIns="0" anchor="t">
            <a:spAutoFit/>
          </a:bodyPr>
          <a:lstStyle/>
          <a:p>
            <a:pPr algn="l">
              <a:lnSpc>
                <a:spcPct val="100000"/>
              </a:lnSpc>
            </a:pPr>
            <a:r>
              <a:rPr sz="1150" b="1" i="0">
                <a:solidFill>
                  <a:srgbClr val="06B6D4"/>
                </a:solidFill>
                <a:latin typeface="Calibri"/>
              </a:rPr>
              <a:t>FIRST PROJECT PRESENTATION  ·  3RD SEMESTER  ·  CSE (AI &amp; ML)</a:t>
            </a:r>
          </a:p>
        </p:txBody>
      </p:sp>
      <p:sp>
        <p:nvSpPr>
          <p:cNvPr id="7" name="TextBox 6"/>
          <p:cNvSpPr txBox="1"/>
          <p:nvPr/>
        </p:nvSpPr>
        <p:spPr>
          <a:xfrm>
            <a:off x="658368" y="2249424"/>
            <a:ext cx="8778240" cy="1005840"/>
          </a:xfrm>
          <a:prstGeom prst="rect">
            <a:avLst/>
          </a:prstGeom>
          <a:noFill/>
        </p:spPr>
        <p:txBody>
          <a:bodyPr wrap="square" lIns="0" rIns="0" tIns="0" bIns="0" anchor="t">
            <a:spAutoFit/>
          </a:bodyPr>
          <a:lstStyle/>
          <a:p>
            <a:pPr algn="l">
              <a:lnSpc>
                <a:spcPct val="100000"/>
              </a:lnSpc>
            </a:pPr>
            <a:r>
              <a:rPr sz="6200" b="1" i="0">
                <a:solidFill>
                  <a:srgbClr val="FFFFFF"/>
                </a:solidFill>
                <a:latin typeface="Calibri"/>
              </a:rPr>
              <a:t>PrepPilot</a:t>
            </a:r>
          </a:p>
        </p:txBody>
      </p:sp>
      <p:sp>
        <p:nvSpPr>
          <p:cNvPr id="8" name="TextBox 7"/>
          <p:cNvSpPr txBox="1"/>
          <p:nvPr/>
        </p:nvSpPr>
        <p:spPr>
          <a:xfrm>
            <a:off x="658368" y="3310128"/>
            <a:ext cx="8412480" cy="658368"/>
          </a:xfrm>
          <a:prstGeom prst="rect">
            <a:avLst/>
          </a:prstGeom>
          <a:noFill/>
        </p:spPr>
        <p:txBody>
          <a:bodyPr wrap="square" lIns="0" rIns="0" tIns="0" bIns="0" anchor="t">
            <a:spAutoFit/>
          </a:bodyPr>
          <a:lstStyle/>
          <a:p>
            <a:pPr algn="l">
              <a:lnSpc>
                <a:spcPct val="122000"/>
              </a:lnSpc>
            </a:pPr>
            <a:r>
              <a:rPr sz="1900" b="0" i="0">
                <a:solidFill>
                  <a:srgbClr val="9BA7B4"/>
                </a:solidFill>
                <a:latin typeface="Calibri"/>
              </a:rPr>
              <a:t>An Offline-First, AI-Assisted Study and
Examination Preparation Platform</a:t>
            </a:r>
          </a:p>
        </p:txBody>
      </p:sp>
      <p:sp>
        <p:nvSpPr>
          <p:cNvPr id="9" name="Rectangle 8"/>
          <p:cNvSpPr/>
          <p:nvPr/>
        </p:nvSpPr>
        <p:spPr>
          <a:xfrm>
            <a:off x="658368" y="4224528"/>
            <a:ext cx="658368"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535424"/>
            <a:ext cx="2926080" cy="219456"/>
          </a:xfrm>
          <a:prstGeom prst="rect">
            <a:avLst/>
          </a:prstGeom>
          <a:noFill/>
        </p:spPr>
        <p:txBody>
          <a:bodyPr wrap="square" lIns="0" rIns="0" tIns="0" bIns="0" anchor="t">
            <a:spAutoFit/>
          </a:bodyPr>
          <a:lstStyle/>
          <a:p>
            <a:pPr algn="l">
              <a:lnSpc>
                <a:spcPct val="100000"/>
              </a:lnSpc>
            </a:pPr>
            <a:r>
              <a:rPr sz="950" b="1" i="0">
                <a:solidFill>
                  <a:srgbClr val="6B7684"/>
                </a:solidFill>
                <a:latin typeface="Calibri"/>
              </a:rPr>
              <a:t>PRESENTED BY</a:t>
            </a:r>
          </a:p>
        </p:txBody>
      </p:sp>
      <p:sp>
        <p:nvSpPr>
          <p:cNvPr id="11" name="TextBox 10"/>
          <p:cNvSpPr txBox="1"/>
          <p:nvPr/>
        </p:nvSpPr>
        <p:spPr>
          <a:xfrm>
            <a:off x="658368" y="4846320"/>
            <a:ext cx="2286000" cy="237744"/>
          </a:xfrm>
          <a:prstGeom prst="rect">
            <a:avLst/>
          </a:prstGeom>
          <a:noFill/>
        </p:spPr>
        <p:txBody>
          <a:bodyPr wrap="square" lIns="0" rIns="0" tIns="0" bIns="0" anchor="t">
            <a:spAutoFit/>
          </a:bodyPr>
          <a:lstStyle/>
          <a:p>
            <a:pPr algn="l">
              <a:lnSpc>
                <a:spcPct val="100000"/>
              </a:lnSpc>
            </a:pPr>
            <a:r>
              <a:rPr sz="1350" b="1" i="0">
                <a:solidFill>
                  <a:srgbClr val="FFFFFF"/>
                </a:solidFill>
                <a:latin typeface="Calibri"/>
              </a:rPr>
              <a:t>Archit Jain</a:t>
            </a:r>
          </a:p>
        </p:txBody>
      </p:sp>
      <p:sp>
        <p:nvSpPr>
          <p:cNvPr id="12" name="TextBox 11"/>
          <p:cNvSpPr txBox="1"/>
          <p:nvPr/>
        </p:nvSpPr>
        <p:spPr>
          <a:xfrm>
            <a:off x="658368" y="5102352"/>
            <a:ext cx="2286000" cy="182880"/>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Roll No. ______________</a:t>
            </a:r>
          </a:p>
        </p:txBody>
      </p:sp>
      <p:sp>
        <p:nvSpPr>
          <p:cNvPr id="13" name="TextBox 12"/>
          <p:cNvSpPr txBox="1"/>
          <p:nvPr/>
        </p:nvSpPr>
        <p:spPr>
          <a:xfrm>
            <a:off x="2990087" y="4846320"/>
            <a:ext cx="2286000" cy="237744"/>
          </a:xfrm>
          <a:prstGeom prst="rect">
            <a:avLst/>
          </a:prstGeom>
          <a:noFill/>
        </p:spPr>
        <p:txBody>
          <a:bodyPr wrap="square" lIns="0" rIns="0" tIns="0" bIns="0" anchor="t">
            <a:spAutoFit/>
          </a:bodyPr>
          <a:lstStyle/>
          <a:p>
            <a:pPr algn="l">
              <a:lnSpc>
                <a:spcPct val="100000"/>
              </a:lnSpc>
            </a:pPr>
            <a:r>
              <a:rPr sz="1350" b="1" i="0">
                <a:solidFill>
                  <a:srgbClr val="FFFFFF"/>
                </a:solidFill>
                <a:latin typeface="Calibri"/>
              </a:rPr>
              <a:t>Vanshika Rajput</a:t>
            </a:r>
          </a:p>
        </p:txBody>
      </p:sp>
      <p:sp>
        <p:nvSpPr>
          <p:cNvPr id="14" name="TextBox 13"/>
          <p:cNvSpPr txBox="1"/>
          <p:nvPr/>
        </p:nvSpPr>
        <p:spPr>
          <a:xfrm>
            <a:off x="2990087" y="5102352"/>
            <a:ext cx="2286000" cy="182880"/>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Roll No. ______________</a:t>
            </a:r>
          </a:p>
        </p:txBody>
      </p:sp>
      <p:sp>
        <p:nvSpPr>
          <p:cNvPr id="15" name="TextBox 14"/>
          <p:cNvSpPr txBox="1"/>
          <p:nvPr/>
        </p:nvSpPr>
        <p:spPr>
          <a:xfrm>
            <a:off x="658368" y="5413248"/>
            <a:ext cx="2286000" cy="237744"/>
          </a:xfrm>
          <a:prstGeom prst="rect">
            <a:avLst/>
          </a:prstGeom>
          <a:noFill/>
        </p:spPr>
        <p:txBody>
          <a:bodyPr wrap="square" lIns="0" rIns="0" tIns="0" bIns="0" anchor="t">
            <a:spAutoFit/>
          </a:bodyPr>
          <a:lstStyle/>
          <a:p>
            <a:pPr algn="l">
              <a:lnSpc>
                <a:spcPct val="100000"/>
              </a:lnSpc>
            </a:pPr>
            <a:r>
              <a:rPr sz="1350" b="1" i="0">
                <a:solidFill>
                  <a:srgbClr val="FFFFFF"/>
                </a:solidFill>
                <a:latin typeface="Calibri"/>
              </a:rPr>
              <a:t>Lavi Chaudhary</a:t>
            </a:r>
          </a:p>
        </p:txBody>
      </p:sp>
      <p:sp>
        <p:nvSpPr>
          <p:cNvPr id="16" name="TextBox 15"/>
          <p:cNvSpPr txBox="1"/>
          <p:nvPr/>
        </p:nvSpPr>
        <p:spPr>
          <a:xfrm>
            <a:off x="658368" y="5669280"/>
            <a:ext cx="2286000" cy="182880"/>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Roll No. ______________</a:t>
            </a:r>
          </a:p>
        </p:txBody>
      </p:sp>
      <p:sp>
        <p:nvSpPr>
          <p:cNvPr id="17" name="TextBox 16"/>
          <p:cNvSpPr txBox="1"/>
          <p:nvPr/>
        </p:nvSpPr>
        <p:spPr>
          <a:xfrm>
            <a:off x="2990087" y="5413248"/>
            <a:ext cx="2286000" cy="237744"/>
          </a:xfrm>
          <a:prstGeom prst="rect">
            <a:avLst/>
          </a:prstGeom>
          <a:noFill/>
        </p:spPr>
        <p:txBody>
          <a:bodyPr wrap="square" lIns="0" rIns="0" tIns="0" bIns="0" anchor="t">
            <a:spAutoFit/>
          </a:bodyPr>
          <a:lstStyle/>
          <a:p>
            <a:pPr algn="l">
              <a:lnSpc>
                <a:spcPct val="100000"/>
              </a:lnSpc>
            </a:pPr>
            <a:r>
              <a:rPr sz="1350" b="1" i="0">
                <a:solidFill>
                  <a:srgbClr val="FFFFFF"/>
                </a:solidFill>
                <a:latin typeface="Calibri"/>
              </a:rPr>
              <a:t>Jasmine Chaudhary</a:t>
            </a:r>
          </a:p>
        </p:txBody>
      </p:sp>
      <p:sp>
        <p:nvSpPr>
          <p:cNvPr id="18" name="TextBox 17"/>
          <p:cNvSpPr txBox="1"/>
          <p:nvPr/>
        </p:nvSpPr>
        <p:spPr>
          <a:xfrm>
            <a:off x="2990087" y="5669280"/>
            <a:ext cx="2286000" cy="182880"/>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Roll No. ______________</a:t>
            </a:r>
          </a:p>
        </p:txBody>
      </p:sp>
      <p:sp>
        <p:nvSpPr>
          <p:cNvPr id="19" name="TextBox 18"/>
          <p:cNvSpPr txBox="1"/>
          <p:nvPr/>
        </p:nvSpPr>
        <p:spPr>
          <a:xfrm>
            <a:off x="7589520" y="4535424"/>
            <a:ext cx="2743200" cy="219456"/>
          </a:xfrm>
          <a:prstGeom prst="rect">
            <a:avLst/>
          </a:prstGeom>
          <a:noFill/>
        </p:spPr>
        <p:txBody>
          <a:bodyPr wrap="square" lIns="0" rIns="0" tIns="0" bIns="0" anchor="t">
            <a:spAutoFit/>
          </a:bodyPr>
          <a:lstStyle/>
          <a:p>
            <a:pPr algn="l">
              <a:lnSpc>
                <a:spcPct val="100000"/>
              </a:lnSpc>
            </a:pPr>
            <a:r>
              <a:rPr sz="950" b="1" i="0">
                <a:solidFill>
                  <a:srgbClr val="6B7684"/>
                </a:solidFill>
                <a:latin typeface="Calibri"/>
              </a:rPr>
              <a:t>PROJECT GUIDE</a:t>
            </a:r>
          </a:p>
        </p:txBody>
      </p:sp>
      <p:sp>
        <p:nvSpPr>
          <p:cNvPr id="20" name="TextBox 19"/>
          <p:cNvSpPr txBox="1"/>
          <p:nvPr/>
        </p:nvSpPr>
        <p:spPr>
          <a:xfrm>
            <a:off x="7589520" y="4846320"/>
            <a:ext cx="2743200" cy="274320"/>
          </a:xfrm>
          <a:prstGeom prst="rect">
            <a:avLst/>
          </a:prstGeom>
          <a:noFill/>
        </p:spPr>
        <p:txBody>
          <a:bodyPr wrap="square" lIns="0" rIns="0" tIns="0" bIns="0" anchor="t">
            <a:spAutoFit/>
          </a:bodyPr>
          <a:lstStyle/>
          <a:p>
            <a:pPr algn="l">
              <a:lnSpc>
                <a:spcPct val="100000"/>
              </a:lnSpc>
            </a:pPr>
            <a:r>
              <a:rPr sz="1500" b="1" i="0">
                <a:solidFill>
                  <a:srgbClr val="FFFFFF"/>
                </a:solidFill>
                <a:latin typeface="Calibri"/>
              </a:rPr>
              <a:t>Ms. Kareena</a:t>
            </a:r>
          </a:p>
        </p:txBody>
      </p:sp>
      <p:sp>
        <p:nvSpPr>
          <p:cNvPr id="21" name="TextBox 20"/>
          <p:cNvSpPr txBox="1"/>
          <p:nvPr/>
        </p:nvSpPr>
        <p:spPr>
          <a:xfrm>
            <a:off x="7589520" y="5138928"/>
            <a:ext cx="3108960" cy="219456"/>
          </a:xfrm>
          <a:prstGeom prst="rect">
            <a:avLst/>
          </a:prstGeom>
          <a:noFill/>
        </p:spPr>
        <p:txBody>
          <a:bodyPr wrap="square" lIns="0" rIns="0" tIns="0" bIns="0" anchor="t">
            <a:spAutoFit/>
          </a:bodyPr>
          <a:lstStyle/>
          <a:p>
            <a:pPr algn="l">
              <a:lnSpc>
                <a:spcPct val="100000"/>
              </a:lnSpc>
            </a:pPr>
            <a:r>
              <a:rPr sz="950" b="0" i="0">
                <a:solidFill>
                  <a:srgbClr val="6B7684"/>
                </a:solidFill>
                <a:latin typeface="Calibri"/>
              </a:rPr>
              <a:t>Dept. of Computer Science &amp; Engineering</a:t>
            </a:r>
          </a:p>
        </p:txBody>
      </p:sp>
      <p:sp>
        <p:nvSpPr>
          <p:cNvPr id="22" name="TextBox 21"/>
          <p:cNvSpPr txBox="1"/>
          <p:nvPr/>
        </p:nvSpPr>
        <p:spPr>
          <a:xfrm>
            <a:off x="7589520" y="5577840"/>
            <a:ext cx="2743200" cy="219456"/>
          </a:xfrm>
          <a:prstGeom prst="rect">
            <a:avLst/>
          </a:prstGeom>
          <a:noFill/>
        </p:spPr>
        <p:txBody>
          <a:bodyPr wrap="square" lIns="0" rIns="0" tIns="0" bIns="0" anchor="t">
            <a:spAutoFit/>
          </a:bodyPr>
          <a:lstStyle/>
          <a:p>
            <a:pPr algn="l">
              <a:lnSpc>
                <a:spcPct val="100000"/>
              </a:lnSpc>
            </a:pPr>
            <a:r>
              <a:rPr sz="950" b="1" i="0">
                <a:solidFill>
                  <a:srgbClr val="6B7684"/>
                </a:solidFill>
                <a:latin typeface="Calibri"/>
              </a:rPr>
              <a:t>SUBMISSION DATE</a:t>
            </a:r>
          </a:p>
        </p:txBody>
      </p:sp>
      <p:sp>
        <p:nvSpPr>
          <p:cNvPr id="23" name="TextBox 22"/>
          <p:cNvSpPr txBox="1"/>
          <p:nvPr/>
        </p:nvSpPr>
        <p:spPr>
          <a:xfrm>
            <a:off x="7589520" y="5815584"/>
            <a:ext cx="2743200" cy="274320"/>
          </a:xfrm>
          <a:prstGeom prst="rect">
            <a:avLst/>
          </a:prstGeom>
          <a:noFill/>
        </p:spPr>
        <p:txBody>
          <a:bodyPr wrap="square" lIns="0" rIns="0" tIns="0" bIns="0" anchor="t">
            <a:spAutoFit/>
          </a:bodyPr>
          <a:lstStyle/>
          <a:p>
            <a:pPr algn="l">
              <a:lnSpc>
                <a:spcPct val="100000"/>
              </a:lnSpc>
            </a:pPr>
            <a:r>
              <a:rPr sz="1350" b="1" i="0">
                <a:solidFill>
                  <a:srgbClr val="FFFFFF"/>
                </a:solidFill>
                <a:latin typeface="Calibri"/>
              </a:rPr>
              <a:t>12 September 2026</a:t>
            </a:r>
          </a:p>
        </p:txBody>
      </p:sp>
      <p:pic>
        <p:nvPicPr>
          <p:cNvPr id="24" name="Picture 23" descr="preppilot-logo.png"/>
          <p:cNvPicPr>
            <a:picLocks noChangeAspect="1"/>
          </p:cNvPicPr>
          <p:nvPr/>
        </p:nvPicPr>
        <p:blipFill>
          <a:blip r:embed="rId3"/>
          <a:stretch>
            <a:fillRect/>
          </a:stretch>
        </p:blipFill>
        <p:spPr>
          <a:xfrm>
            <a:off x="10561320" y="2103120"/>
            <a:ext cx="1051560" cy="1051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WHAT WE WILL COVER</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Agenda</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a:t>
            </a:r>
          </a:p>
        </p:txBody>
      </p:sp>
      <p:sp>
        <p:nvSpPr>
          <p:cNvPr id="8" name="Rounded Rectangle 7"/>
          <p:cNvSpPr/>
          <p:nvPr/>
        </p:nvSpPr>
        <p:spPr>
          <a:xfrm>
            <a:off x="658368" y="1389888"/>
            <a:ext cx="2526715" cy="324612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1682496"/>
            <a:ext cx="914400" cy="457200"/>
          </a:xfrm>
          <a:prstGeom prst="rect">
            <a:avLst/>
          </a:prstGeom>
          <a:noFill/>
        </p:spPr>
        <p:txBody>
          <a:bodyPr wrap="square" lIns="0" rIns="0" tIns="0" bIns="0" anchor="t">
            <a:spAutoFit/>
          </a:bodyPr>
          <a:lstStyle/>
          <a:p>
            <a:pPr algn="l">
              <a:lnSpc>
                <a:spcPct val="100000"/>
              </a:lnSpc>
            </a:pPr>
            <a:r>
              <a:rPr sz="3000" b="1" i="0">
                <a:solidFill>
                  <a:srgbClr val="3B82F6"/>
                </a:solidFill>
                <a:latin typeface="Calibri"/>
              </a:rPr>
              <a:t>01</a:t>
            </a:r>
          </a:p>
        </p:txBody>
      </p:sp>
      <p:sp>
        <p:nvSpPr>
          <p:cNvPr id="10" name="TextBox 9"/>
          <p:cNvSpPr txBox="1"/>
          <p:nvPr/>
        </p:nvSpPr>
        <p:spPr>
          <a:xfrm>
            <a:off x="914400" y="2322576"/>
            <a:ext cx="2069515" cy="292608"/>
          </a:xfrm>
          <a:prstGeom prst="rect">
            <a:avLst/>
          </a:prstGeom>
          <a:noFill/>
        </p:spPr>
        <p:txBody>
          <a:bodyPr wrap="square" lIns="0" rIns="0" tIns="0" bIns="0" anchor="t">
            <a:spAutoFit/>
          </a:bodyPr>
          <a:lstStyle/>
          <a:p>
            <a:pPr algn="l">
              <a:lnSpc>
                <a:spcPct val="100000"/>
              </a:lnSpc>
            </a:pPr>
            <a:r>
              <a:rPr sz="1550" b="1" i="0">
                <a:solidFill>
                  <a:srgbClr val="0B0F14"/>
                </a:solidFill>
                <a:latin typeface="Calibri"/>
              </a:rPr>
              <a:t>The Problem</a:t>
            </a:r>
          </a:p>
        </p:txBody>
      </p:sp>
      <p:sp>
        <p:nvSpPr>
          <p:cNvPr id="11" name="Rectangle 10"/>
          <p:cNvSpPr/>
          <p:nvPr/>
        </p:nvSpPr>
        <p:spPr>
          <a:xfrm>
            <a:off x="914400" y="2688336"/>
            <a:ext cx="384048" cy="32004"/>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07791"/>
            <a:ext cx="2069515" cy="1463040"/>
          </a:xfrm>
          <a:prstGeom prst="rect">
            <a:avLst/>
          </a:prstGeom>
          <a:noFill/>
        </p:spPr>
        <p:txBody>
          <a:bodyPr wrap="square" lIns="0" rIns="0" tIns="0" bIns="0">
            <a:spAutoFit/>
          </a:bodyPr>
          <a:lstStyle/>
          <a:p>
            <a:pPr>
              <a:lnSpc>
                <a:spcPct val="130000"/>
              </a:lnSpc>
              <a:spcAft>
                <a:spcPts val="700"/>
              </a:spcAft>
            </a:pPr>
            <a:r>
              <a:rPr sz="1200" b="0">
                <a:solidFill>
                  <a:srgbClr val="4A5568"/>
                </a:solidFill>
                <a:latin typeface="Calibri"/>
              </a:rPr>
              <a:t>Problem statement</a:t>
            </a:r>
          </a:p>
          <a:p>
            <a:pPr>
              <a:lnSpc>
                <a:spcPct val="130000"/>
              </a:lnSpc>
              <a:spcAft>
                <a:spcPts val="700"/>
              </a:spcAft>
            </a:pPr>
            <a:r>
              <a:rPr sz="1200" b="0">
                <a:solidFill>
                  <a:srgbClr val="4A5568"/>
                </a:solidFill>
                <a:latin typeface="Calibri"/>
              </a:rPr>
              <a:t>Why it matters</a:t>
            </a:r>
          </a:p>
          <a:p>
            <a:pPr>
              <a:lnSpc>
                <a:spcPct val="130000"/>
              </a:lnSpc>
              <a:spcAft>
                <a:spcPts val="700"/>
              </a:spcAft>
            </a:pPr>
            <a:r>
              <a:rPr sz="1200" b="0">
                <a:solidFill>
                  <a:srgbClr val="4A5568"/>
                </a:solidFill>
                <a:latin typeface="Calibri"/>
              </a:rPr>
              <a:t>Existing approaches</a:t>
            </a:r>
          </a:p>
        </p:txBody>
      </p:sp>
      <p:sp>
        <p:nvSpPr>
          <p:cNvPr id="13" name="Rounded Rectangle 12"/>
          <p:cNvSpPr/>
          <p:nvPr/>
        </p:nvSpPr>
        <p:spPr>
          <a:xfrm>
            <a:off x="3441115" y="1389888"/>
            <a:ext cx="2526715" cy="324612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97147" y="1682496"/>
            <a:ext cx="914400" cy="457200"/>
          </a:xfrm>
          <a:prstGeom prst="rect">
            <a:avLst/>
          </a:prstGeom>
          <a:noFill/>
        </p:spPr>
        <p:txBody>
          <a:bodyPr wrap="square" lIns="0" rIns="0" tIns="0" bIns="0" anchor="t">
            <a:spAutoFit/>
          </a:bodyPr>
          <a:lstStyle/>
          <a:p>
            <a:pPr algn="l">
              <a:lnSpc>
                <a:spcPct val="100000"/>
              </a:lnSpc>
            </a:pPr>
            <a:r>
              <a:rPr sz="3000" b="1" i="0">
                <a:solidFill>
                  <a:srgbClr val="10B981"/>
                </a:solidFill>
                <a:latin typeface="Calibri"/>
              </a:rPr>
              <a:t>02</a:t>
            </a:r>
          </a:p>
        </p:txBody>
      </p:sp>
      <p:sp>
        <p:nvSpPr>
          <p:cNvPr id="15" name="TextBox 14"/>
          <p:cNvSpPr txBox="1"/>
          <p:nvPr/>
        </p:nvSpPr>
        <p:spPr>
          <a:xfrm>
            <a:off x="3697147" y="2322576"/>
            <a:ext cx="2069515" cy="292608"/>
          </a:xfrm>
          <a:prstGeom prst="rect">
            <a:avLst/>
          </a:prstGeom>
          <a:noFill/>
        </p:spPr>
        <p:txBody>
          <a:bodyPr wrap="square" lIns="0" rIns="0" tIns="0" bIns="0" anchor="t">
            <a:spAutoFit/>
          </a:bodyPr>
          <a:lstStyle/>
          <a:p>
            <a:pPr algn="l">
              <a:lnSpc>
                <a:spcPct val="100000"/>
              </a:lnSpc>
            </a:pPr>
            <a:r>
              <a:rPr sz="1550" b="1" i="0">
                <a:solidFill>
                  <a:srgbClr val="0B0F14"/>
                </a:solidFill>
                <a:latin typeface="Calibri"/>
              </a:rPr>
              <a:t>Our Solution</a:t>
            </a:r>
          </a:p>
        </p:txBody>
      </p:sp>
      <p:sp>
        <p:nvSpPr>
          <p:cNvPr id="16" name="Rectangle 15"/>
          <p:cNvSpPr/>
          <p:nvPr/>
        </p:nvSpPr>
        <p:spPr>
          <a:xfrm>
            <a:off x="3697147" y="2688336"/>
            <a:ext cx="384048" cy="320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7147" y="2907791"/>
            <a:ext cx="2069515" cy="1463040"/>
          </a:xfrm>
          <a:prstGeom prst="rect">
            <a:avLst/>
          </a:prstGeom>
          <a:noFill/>
        </p:spPr>
        <p:txBody>
          <a:bodyPr wrap="square" lIns="0" rIns="0" tIns="0" bIns="0">
            <a:spAutoFit/>
          </a:bodyPr>
          <a:lstStyle/>
          <a:p>
            <a:pPr>
              <a:lnSpc>
                <a:spcPct val="130000"/>
              </a:lnSpc>
              <a:spcAft>
                <a:spcPts val="700"/>
              </a:spcAft>
            </a:pPr>
            <a:r>
              <a:rPr sz="1200" b="0">
                <a:solidFill>
                  <a:srgbClr val="4A5568"/>
                </a:solidFill>
                <a:latin typeface="Calibri"/>
              </a:rPr>
              <a:t>Objectives</a:t>
            </a:r>
          </a:p>
          <a:p>
            <a:pPr>
              <a:lnSpc>
                <a:spcPct val="130000"/>
              </a:lnSpc>
              <a:spcAft>
                <a:spcPts val="700"/>
              </a:spcAft>
            </a:pPr>
            <a:r>
              <a:rPr sz="1200" b="0">
                <a:solidFill>
                  <a:srgbClr val="4A5568"/>
                </a:solidFill>
                <a:latin typeface="Calibri"/>
              </a:rPr>
              <a:t>Proposed system</a:t>
            </a:r>
          </a:p>
          <a:p>
            <a:pPr>
              <a:lnSpc>
                <a:spcPct val="130000"/>
              </a:lnSpc>
              <a:spcAft>
                <a:spcPts val="700"/>
              </a:spcAft>
            </a:pPr>
            <a:r>
              <a:rPr sz="1200" b="0">
                <a:solidFill>
                  <a:srgbClr val="4A5568"/>
                </a:solidFill>
                <a:latin typeface="Calibri"/>
              </a:rPr>
              <a:t>Core features</a:t>
            </a:r>
          </a:p>
        </p:txBody>
      </p:sp>
      <p:sp>
        <p:nvSpPr>
          <p:cNvPr id="18" name="Rounded Rectangle 17"/>
          <p:cNvSpPr/>
          <p:nvPr/>
        </p:nvSpPr>
        <p:spPr>
          <a:xfrm>
            <a:off x="6223863" y="1389888"/>
            <a:ext cx="2526715" cy="324612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79895" y="1682496"/>
            <a:ext cx="914400" cy="457200"/>
          </a:xfrm>
          <a:prstGeom prst="rect">
            <a:avLst/>
          </a:prstGeom>
          <a:noFill/>
        </p:spPr>
        <p:txBody>
          <a:bodyPr wrap="square" lIns="0" rIns="0" tIns="0" bIns="0" anchor="t">
            <a:spAutoFit/>
          </a:bodyPr>
          <a:lstStyle/>
          <a:p>
            <a:pPr algn="l">
              <a:lnSpc>
                <a:spcPct val="100000"/>
              </a:lnSpc>
            </a:pPr>
            <a:r>
              <a:rPr sz="3000" b="1" i="0">
                <a:solidFill>
                  <a:srgbClr val="A855F7"/>
                </a:solidFill>
                <a:latin typeface="Calibri"/>
              </a:rPr>
              <a:t>03</a:t>
            </a:r>
          </a:p>
        </p:txBody>
      </p:sp>
      <p:sp>
        <p:nvSpPr>
          <p:cNvPr id="20" name="TextBox 19"/>
          <p:cNvSpPr txBox="1"/>
          <p:nvPr/>
        </p:nvSpPr>
        <p:spPr>
          <a:xfrm>
            <a:off x="6479895" y="2322576"/>
            <a:ext cx="2069515" cy="292608"/>
          </a:xfrm>
          <a:prstGeom prst="rect">
            <a:avLst/>
          </a:prstGeom>
          <a:noFill/>
        </p:spPr>
        <p:txBody>
          <a:bodyPr wrap="square" lIns="0" rIns="0" tIns="0" bIns="0" anchor="t">
            <a:spAutoFit/>
          </a:bodyPr>
          <a:lstStyle/>
          <a:p>
            <a:pPr algn="l">
              <a:lnSpc>
                <a:spcPct val="100000"/>
              </a:lnSpc>
            </a:pPr>
            <a:r>
              <a:rPr sz="1550" b="1" i="0">
                <a:solidFill>
                  <a:srgbClr val="0B0F14"/>
                </a:solidFill>
                <a:latin typeface="Calibri"/>
              </a:rPr>
              <a:t>Engineering</a:t>
            </a:r>
          </a:p>
        </p:txBody>
      </p:sp>
      <p:sp>
        <p:nvSpPr>
          <p:cNvPr id="21" name="Rectangle 20"/>
          <p:cNvSpPr/>
          <p:nvPr/>
        </p:nvSpPr>
        <p:spPr>
          <a:xfrm>
            <a:off x="6479895" y="2688336"/>
            <a:ext cx="384048" cy="32004"/>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9895" y="2907791"/>
            <a:ext cx="2069515" cy="1463040"/>
          </a:xfrm>
          <a:prstGeom prst="rect">
            <a:avLst/>
          </a:prstGeom>
          <a:noFill/>
        </p:spPr>
        <p:txBody>
          <a:bodyPr wrap="square" lIns="0" rIns="0" tIns="0" bIns="0">
            <a:spAutoFit/>
          </a:bodyPr>
          <a:lstStyle/>
          <a:p>
            <a:pPr>
              <a:lnSpc>
                <a:spcPct val="130000"/>
              </a:lnSpc>
              <a:spcAft>
                <a:spcPts val="700"/>
              </a:spcAft>
            </a:pPr>
            <a:r>
              <a:rPr sz="1200" b="0">
                <a:solidFill>
                  <a:srgbClr val="4A5568"/>
                </a:solidFill>
                <a:latin typeface="Calibri"/>
              </a:rPr>
              <a:t>Architecture</a:t>
            </a:r>
          </a:p>
          <a:p>
            <a:pPr>
              <a:lnSpc>
                <a:spcPct val="130000"/>
              </a:lnSpc>
              <a:spcAft>
                <a:spcPts val="700"/>
              </a:spcAft>
            </a:pPr>
            <a:r>
              <a:rPr sz="1200" b="0">
                <a:solidFill>
                  <a:srgbClr val="4A5568"/>
                </a:solidFill>
                <a:latin typeface="Calibri"/>
              </a:rPr>
              <a:t>Offline-first &amp; sync</a:t>
            </a:r>
          </a:p>
          <a:p>
            <a:pPr>
              <a:lnSpc>
                <a:spcPct val="130000"/>
              </a:lnSpc>
              <a:spcAft>
                <a:spcPts val="700"/>
              </a:spcAft>
            </a:pPr>
            <a:r>
              <a:rPr sz="1200" b="0">
                <a:solidFill>
                  <a:srgbClr val="4A5568"/>
                </a:solidFill>
                <a:latin typeface="Calibri"/>
              </a:rPr>
              <a:t>AI integration</a:t>
            </a:r>
          </a:p>
        </p:txBody>
      </p:sp>
      <p:sp>
        <p:nvSpPr>
          <p:cNvPr id="23" name="Rounded Rectangle 22"/>
          <p:cNvSpPr/>
          <p:nvPr/>
        </p:nvSpPr>
        <p:spPr>
          <a:xfrm>
            <a:off x="9006611" y="1389888"/>
            <a:ext cx="2526715" cy="324612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62643" y="1682496"/>
            <a:ext cx="914400" cy="457200"/>
          </a:xfrm>
          <a:prstGeom prst="rect">
            <a:avLst/>
          </a:prstGeom>
          <a:noFill/>
        </p:spPr>
        <p:txBody>
          <a:bodyPr wrap="square" lIns="0" rIns="0" tIns="0" bIns="0" anchor="t">
            <a:spAutoFit/>
          </a:bodyPr>
          <a:lstStyle/>
          <a:p>
            <a:pPr algn="l">
              <a:lnSpc>
                <a:spcPct val="100000"/>
              </a:lnSpc>
            </a:pPr>
            <a:r>
              <a:rPr sz="3000" b="1" i="0">
                <a:solidFill>
                  <a:srgbClr val="F59E0B"/>
                </a:solidFill>
                <a:latin typeface="Calibri"/>
              </a:rPr>
              <a:t>04</a:t>
            </a:r>
          </a:p>
        </p:txBody>
      </p:sp>
      <p:sp>
        <p:nvSpPr>
          <p:cNvPr id="25" name="TextBox 24"/>
          <p:cNvSpPr txBox="1"/>
          <p:nvPr/>
        </p:nvSpPr>
        <p:spPr>
          <a:xfrm>
            <a:off x="9262643" y="2322576"/>
            <a:ext cx="2069515" cy="292608"/>
          </a:xfrm>
          <a:prstGeom prst="rect">
            <a:avLst/>
          </a:prstGeom>
          <a:noFill/>
        </p:spPr>
        <p:txBody>
          <a:bodyPr wrap="square" lIns="0" rIns="0" tIns="0" bIns="0" anchor="t">
            <a:spAutoFit/>
          </a:bodyPr>
          <a:lstStyle/>
          <a:p>
            <a:pPr algn="l">
              <a:lnSpc>
                <a:spcPct val="100000"/>
              </a:lnSpc>
            </a:pPr>
            <a:r>
              <a:rPr sz="1550" b="1" i="0">
                <a:solidFill>
                  <a:srgbClr val="0B0F14"/>
                </a:solidFill>
                <a:latin typeface="Calibri"/>
              </a:rPr>
              <a:t>Evidence</a:t>
            </a:r>
          </a:p>
        </p:txBody>
      </p:sp>
      <p:sp>
        <p:nvSpPr>
          <p:cNvPr id="26" name="Rectangle 25"/>
          <p:cNvSpPr/>
          <p:nvPr/>
        </p:nvSpPr>
        <p:spPr>
          <a:xfrm>
            <a:off x="9262643" y="2688336"/>
            <a:ext cx="384048" cy="320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62643" y="2907791"/>
            <a:ext cx="2069515" cy="1463040"/>
          </a:xfrm>
          <a:prstGeom prst="rect">
            <a:avLst/>
          </a:prstGeom>
          <a:noFill/>
        </p:spPr>
        <p:txBody>
          <a:bodyPr wrap="square" lIns="0" rIns="0" tIns="0" bIns="0">
            <a:spAutoFit/>
          </a:bodyPr>
          <a:lstStyle/>
          <a:p>
            <a:pPr>
              <a:lnSpc>
                <a:spcPct val="130000"/>
              </a:lnSpc>
              <a:spcAft>
                <a:spcPts val="700"/>
              </a:spcAft>
            </a:pPr>
            <a:r>
              <a:rPr sz="1200" b="0">
                <a:solidFill>
                  <a:srgbClr val="4A5568"/>
                </a:solidFill>
                <a:latin typeface="Calibri"/>
              </a:rPr>
              <a:t>Technology stack</a:t>
            </a:r>
          </a:p>
          <a:p>
            <a:pPr>
              <a:lnSpc>
                <a:spcPct val="130000"/>
              </a:lnSpc>
              <a:spcAft>
                <a:spcPts val="700"/>
              </a:spcAft>
            </a:pPr>
            <a:r>
              <a:rPr sz="1200" b="0">
                <a:solidFill>
                  <a:srgbClr val="4A5568"/>
                </a:solidFill>
                <a:latin typeface="Calibri"/>
              </a:rPr>
              <a:t>Testing</a:t>
            </a:r>
          </a:p>
          <a:p>
            <a:pPr>
              <a:lnSpc>
                <a:spcPct val="130000"/>
              </a:lnSpc>
              <a:spcAft>
                <a:spcPts val="700"/>
              </a:spcAft>
            </a:pPr>
            <a:r>
              <a:rPr sz="1200" b="0">
                <a:solidFill>
                  <a:srgbClr val="4A5568"/>
                </a:solidFill>
                <a:latin typeface="Calibri"/>
              </a:rPr>
              <a:t>Limitations &amp; scope</a:t>
            </a:r>
          </a:p>
        </p:txBody>
      </p:sp>
      <p:sp>
        <p:nvSpPr>
          <p:cNvPr id="28" name="TextBox 27"/>
          <p:cNvSpPr txBox="1"/>
          <p:nvPr/>
        </p:nvSpPr>
        <p:spPr>
          <a:xfrm>
            <a:off x="658368" y="4910328"/>
            <a:ext cx="10874959" cy="274320"/>
          </a:xfrm>
          <a:prstGeom prst="rect">
            <a:avLst/>
          </a:prstGeom>
          <a:noFill/>
        </p:spPr>
        <p:txBody>
          <a:bodyPr wrap="square" lIns="0" rIns="0" tIns="0" bIns="0" anchor="t">
            <a:spAutoFit/>
          </a:bodyPr>
          <a:lstStyle/>
          <a:p>
            <a:pPr algn="l">
              <a:lnSpc>
                <a:spcPct val="100000"/>
              </a:lnSpc>
            </a:pPr>
            <a:r>
              <a:rPr sz="1150" b="0" i="1">
                <a:solidFill>
                  <a:srgbClr val="6B7684"/>
                </a:solidFill>
                <a:latin typeface="Calibri"/>
              </a:rPr>
              <a:t>Every technical claim in this presentation is traceable to the repository audit recorded in docs/AUDIT.md.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PROJECT INTRODUCTION</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What is PrepPilot?</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3</a:t>
            </a:r>
          </a:p>
        </p:txBody>
      </p:sp>
      <p:sp>
        <p:nvSpPr>
          <p:cNvPr id="8" name="TextBox 7"/>
          <p:cNvSpPr txBox="1"/>
          <p:nvPr/>
        </p:nvSpPr>
        <p:spPr>
          <a:xfrm>
            <a:off x="658368" y="1389888"/>
            <a:ext cx="6858000" cy="822960"/>
          </a:xfrm>
          <a:prstGeom prst="rect">
            <a:avLst/>
          </a:prstGeom>
          <a:noFill/>
        </p:spPr>
        <p:txBody>
          <a:bodyPr wrap="square" lIns="0" rIns="0" tIns="0" bIns="0" anchor="t">
            <a:spAutoFit/>
          </a:bodyPr>
          <a:lstStyle/>
          <a:p>
            <a:pPr algn="l">
              <a:lnSpc>
                <a:spcPct val="128000"/>
              </a:lnSpc>
            </a:pPr>
            <a:r>
              <a:rPr sz="1700" b="0" i="0">
                <a:solidFill>
                  <a:srgbClr val="0B0F14"/>
                </a:solidFill>
                <a:latin typeface="Calibri"/>
              </a:rPr>
              <a:t>A mobile application that helps a student organise a syllabus, record what they have genuinely completed, time their study, and revise — with or without an internet connection.</a:t>
            </a:r>
          </a:p>
        </p:txBody>
      </p:sp>
      <p:sp>
        <p:nvSpPr>
          <p:cNvPr id="9" name="Rounded Rectangle 8"/>
          <p:cNvSpPr/>
          <p:nvPr/>
        </p:nvSpPr>
        <p:spPr>
          <a:xfrm>
            <a:off x="658368" y="2377440"/>
            <a:ext cx="2151887" cy="15727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59536" y="2596896"/>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2551176"/>
            <a:ext cx="15849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Syllabus at the centre</a:t>
            </a:r>
          </a:p>
        </p:txBody>
      </p:sp>
      <p:sp>
        <p:nvSpPr>
          <p:cNvPr id="12" name="TextBox 11"/>
          <p:cNvSpPr txBox="1"/>
          <p:nvPr/>
        </p:nvSpPr>
        <p:spPr>
          <a:xfrm>
            <a:off x="877824" y="2944368"/>
            <a:ext cx="1712975" cy="841247"/>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Subject → Chapter → Topic → Sub-topic. Every feature attaches to this structure.</a:t>
            </a:r>
          </a:p>
        </p:txBody>
      </p:sp>
      <p:sp>
        <p:nvSpPr>
          <p:cNvPr id="13" name="Rounded Rectangle 12"/>
          <p:cNvSpPr/>
          <p:nvPr/>
        </p:nvSpPr>
        <p:spPr>
          <a:xfrm>
            <a:off x="3011423" y="2377440"/>
            <a:ext cx="2151887" cy="15727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212592" y="2596896"/>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95471" y="2551176"/>
            <a:ext cx="15849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Offline-first, strictly</a:t>
            </a:r>
          </a:p>
        </p:txBody>
      </p:sp>
      <p:sp>
        <p:nvSpPr>
          <p:cNvPr id="16" name="TextBox 15"/>
          <p:cNvSpPr txBox="1"/>
          <p:nvPr/>
        </p:nvSpPr>
        <p:spPr>
          <a:xfrm>
            <a:off x="3230880" y="2944368"/>
            <a:ext cx="1712975" cy="841247"/>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On-device SQLite is the source of truth. The cloud syncs; it is never required.</a:t>
            </a:r>
          </a:p>
        </p:txBody>
      </p:sp>
      <p:sp>
        <p:nvSpPr>
          <p:cNvPr id="17" name="Rounded Rectangle 16"/>
          <p:cNvSpPr/>
          <p:nvPr/>
        </p:nvSpPr>
        <p:spPr>
          <a:xfrm>
            <a:off x="5364480" y="2377440"/>
            <a:ext cx="2151887" cy="15727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565647" y="2596896"/>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48528" y="2551176"/>
            <a:ext cx="15849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Tracker first, AI second</a:t>
            </a:r>
          </a:p>
        </p:txBody>
      </p:sp>
      <p:sp>
        <p:nvSpPr>
          <p:cNvPr id="20" name="TextBox 19"/>
          <p:cNvSpPr txBox="1"/>
          <p:nvPr/>
        </p:nvSpPr>
        <p:spPr>
          <a:xfrm>
            <a:off x="5583936" y="2944368"/>
            <a:ext cx="1712975" cy="841247"/>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The assistant supports the workflow. It can propose, never apply.</a:t>
            </a:r>
          </a:p>
        </p:txBody>
      </p:sp>
      <p:sp>
        <p:nvSpPr>
          <p:cNvPr id="21" name="Rounded Rectangle 20"/>
          <p:cNvSpPr/>
          <p:nvPr/>
        </p:nvSpPr>
        <p:spPr>
          <a:xfrm>
            <a:off x="658368" y="4151376"/>
            <a:ext cx="6858000" cy="1170432"/>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334256"/>
            <a:ext cx="6400800"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THE ORGANISING IDEA</a:t>
            </a:r>
          </a:p>
        </p:txBody>
      </p:sp>
      <p:sp>
        <p:nvSpPr>
          <p:cNvPr id="23" name="TextBox 22"/>
          <p:cNvSpPr txBox="1"/>
          <p:nvPr/>
        </p:nvSpPr>
        <p:spPr>
          <a:xfrm>
            <a:off x="932688" y="4626864"/>
            <a:ext cx="6400800" cy="594360"/>
          </a:xfrm>
          <a:prstGeom prst="rect">
            <a:avLst/>
          </a:prstGeom>
          <a:noFill/>
        </p:spPr>
        <p:txBody>
          <a:bodyPr wrap="square" lIns="0" rIns="0" tIns="0" bIns="0" anchor="t">
            <a:spAutoFit/>
          </a:bodyPr>
          <a:lstStyle/>
          <a:p>
            <a:pPr algn="l">
              <a:lnSpc>
                <a:spcPct val="122000"/>
              </a:lnSpc>
            </a:pPr>
            <a:r>
              <a:rPr sz="1300" b="0" i="0">
                <a:solidFill>
                  <a:srgbClr val="4A5568"/>
                </a:solidFill>
                <a:latin typeface="Calibri"/>
              </a:rPr>
              <a:t>A student's syllabus is a structure, and progress is a measurement over that structure. Timers, flashcards, notes and reminders all point back to it.</a:t>
            </a:r>
          </a:p>
        </p:txBody>
      </p:sp>
      <p:pic>
        <p:nvPicPr>
          <p:cNvPr id="24" name="Picture 23" descr="tracker.png"/>
          <p:cNvPicPr>
            <a:picLocks noChangeAspect="1"/>
          </p:cNvPicPr>
          <p:nvPr/>
        </p:nvPicPr>
        <p:blipFill>
          <a:blip r:embed="rId3"/>
          <a:stretch>
            <a:fillRect/>
          </a:stretch>
        </p:blipFill>
        <p:spPr>
          <a:xfrm>
            <a:off x="8183879" y="1316736"/>
            <a:ext cx="1927286" cy="4443984"/>
          </a:xfrm>
          <a:prstGeom prst="rect">
            <a:avLst/>
          </a:prstGeom>
        </p:spPr>
      </p:pic>
      <p:sp>
        <p:nvSpPr>
          <p:cNvPr id="25" name="TextBox 24"/>
          <p:cNvSpPr txBox="1"/>
          <p:nvPr/>
        </p:nvSpPr>
        <p:spPr>
          <a:xfrm>
            <a:off x="7818120" y="5852160"/>
            <a:ext cx="3840480" cy="219456"/>
          </a:xfrm>
          <a:prstGeom prst="rect">
            <a:avLst/>
          </a:prstGeom>
          <a:noFill/>
        </p:spPr>
        <p:txBody>
          <a:bodyPr wrap="square" lIns="0" rIns="0" tIns="0" bIns="0" anchor="t">
            <a:spAutoFit/>
          </a:bodyPr>
          <a:lstStyle/>
          <a:p>
            <a:pPr algn="ctr">
              <a:lnSpc>
                <a:spcPct val="100000"/>
              </a:lnSpc>
            </a:pPr>
            <a:r>
              <a:rPr sz="900" b="0" i="1">
                <a:solidFill>
                  <a:srgbClr val="6B7684"/>
                </a:solidFill>
                <a:latin typeface="Calibri"/>
              </a:rPr>
              <a:t>Tracker screen — captured from the running 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THE PROBLEM WE SET OUT TO SOLVE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Problem Statement</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4</a:t>
            </a:r>
          </a:p>
        </p:txBody>
      </p:sp>
      <p:sp>
        <p:nvSpPr>
          <p:cNvPr id="8" name="Rounded Rectangle 7"/>
          <p:cNvSpPr/>
          <p:nvPr/>
        </p:nvSpPr>
        <p:spPr>
          <a:xfrm>
            <a:off x="658368" y="1389888"/>
            <a:ext cx="10874959" cy="969264"/>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7552" y="1572768"/>
            <a:ext cx="10216591" cy="640080"/>
          </a:xfrm>
          <a:prstGeom prst="rect">
            <a:avLst/>
          </a:prstGeom>
          <a:noFill/>
        </p:spPr>
        <p:txBody>
          <a:bodyPr wrap="square" lIns="0" rIns="0" tIns="0" bIns="0" anchor="t">
            <a:spAutoFit/>
          </a:bodyPr>
          <a:lstStyle/>
          <a:p>
            <a:pPr algn="l">
              <a:lnSpc>
                <a:spcPct val="124000"/>
              </a:lnSpc>
            </a:pPr>
            <a:r>
              <a:rPr sz="1550" b="0" i="0">
                <a:solidFill>
                  <a:srgbClr val="FFFFFF"/>
                </a:solidFill>
                <a:latin typeface="Calibri"/>
              </a:rPr>
              <a:t>Students lack a single, reliable, offline-capable tool that answers “how much of my syllabus have I actually finished?” honestly — and that supports the study workflow against that same structure.</a:t>
            </a:r>
          </a:p>
        </p:txBody>
      </p:sp>
      <p:sp>
        <p:nvSpPr>
          <p:cNvPr id="10" name="Rounded Rectangle 9"/>
          <p:cNvSpPr/>
          <p:nvPr/>
        </p:nvSpPr>
        <p:spPr>
          <a:xfrm>
            <a:off x="658368" y="2596896"/>
            <a:ext cx="5318607" cy="11338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59536" y="2816352"/>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2770632"/>
            <a:ext cx="4751679"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No accurate measurement</a:t>
            </a:r>
          </a:p>
        </p:txBody>
      </p:sp>
      <p:sp>
        <p:nvSpPr>
          <p:cNvPr id="13" name="TextBox 12"/>
          <p:cNvSpPr txBox="1"/>
          <p:nvPr/>
        </p:nvSpPr>
        <p:spPr>
          <a:xfrm>
            <a:off x="877824" y="3163824"/>
            <a:ext cx="4879695" cy="402335"/>
          </a:xfrm>
          <a:prstGeom prst="rect">
            <a:avLst/>
          </a:prstGeom>
          <a:noFill/>
        </p:spPr>
        <p:txBody>
          <a:bodyPr wrap="square" lIns="0" rIns="0" tIns="0" bIns="0">
            <a:spAutoFit/>
          </a:bodyPr>
          <a:lstStyle/>
          <a:p>
            <a:pPr>
              <a:lnSpc>
                <a:spcPct val="118000"/>
              </a:lnSpc>
              <a:spcAft>
                <a:spcPts val="400"/>
              </a:spcAft>
            </a:pPr>
            <a:r>
              <a:rPr sz="1150" b="0">
                <a:solidFill>
                  <a:srgbClr val="4A5568"/>
                </a:solidFill>
                <a:latin typeface="Calibri"/>
              </a:rPr>
              <a:t>Paper, spreadsheets and memory cannot compute meaningful completion across a hierarchical syllabus of unequal parts.</a:t>
            </a:r>
          </a:p>
        </p:txBody>
      </p:sp>
      <p:sp>
        <p:nvSpPr>
          <p:cNvPr id="14" name="Rounded Rectangle 13"/>
          <p:cNvSpPr/>
          <p:nvPr/>
        </p:nvSpPr>
        <p:spPr>
          <a:xfrm>
            <a:off x="6214719" y="2596896"/>
            <a:ext cx="5318607" cy="11338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15887" y="2816352"/>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8767" y="2770632"/>
            <a:ext cx="4751679"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Connectivity dependence</a:t>
            </a:r>
          </a:p>
        </p:txBody>
      </p:sp>
      <p:sp>
        <p:nvSpPr>
          <p:cNvPr id="17" name="TextBox 16"/>
          <p:cNvSpPr txBox="1"/>
          <p:nvPr/>
        </p:nvSpPr>
        <p:spPr>
          <a:xfrm>
            <a:off x="6434175" y="3163824"/>
            <a:ext cx="4879695" cy="402335"/>
          </a:xfrm>
          <a:prstGeom prst="rect">
            <a:avLst/>
          </a:prstGeom>
          <a:noFill/>
        </p:spPr>
        <p:txBody>
          <a:bodyPr wrap="square" lIns="0" rIns="0" tIns="0" bIns="0">
            <a:spAutoFit/>
          </a:bodyPr>
          <a:lstStyle/>
          <a:p>
            <a:pPr>
              <a:lnSpc>
                <a:spcPct val="118000"/>
              </a:lnSpc>
              <a:spcAft>
                <a:spcPts val="400"/>
              </a:spcAft>
            </a:pPr>
            <a:r>
              <a:rPr sz="1150" b="0">
                <a:solidFill>
                  <a:srgbClr val="4A5568"/>
                </a:solidFill>
                <a:latin typeface="Calibri"/>
              </a:rPr>
              <a:t>Most study apps need a network round-trip for basic operation — unusable in libraries, hostels and trains.</a:t>
            </a:r>
          </a:p>
        </p:txBody>
      </p:sp>
      <p:sp>
        <p:nvSpPr>
          <p:cNvPr id="18" name="Rounded Rectangle 17"/>
          <p:cNvSpPr/>
          <p:nvPr/>
        </p:nvSpPr>
        <p:spPr>
          <a:xfrm>
            <a:off x="658368" y="3895344"/>
            <a:ext cx="5318607" cy="11338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59536" y="4114800"/>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5" y="4069080"/>
            <a:ext cx="4751679"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Fragmentation</a:t>
            </a:r>
          </a:p>
        </p:txBody>
      </p:sp>
      <p:sp>
        <p:nvSpPr>
          <p:cNvPr id="21" name="TextBox 20"/>
          <p:cNvSpPr txBox="1"/>
          <p:nvPr/>
        </p:nvSpPr>
        <p:spPr>
          <a:xfrm>
            <a:off x="877824" y="4462272"/>
            <a:ext cx="4879695" cy="402335"/>
          </a:xfrm>
          <a:prstGeom prst="rect">
            <a:avLst/>
          </a:prstGeom>
          <a:noFill/>
        </p:spPr>
        <p:txBody>
          <a:bodyPr wrap="square" lIns="0" rIns="0" tIns="0" bIns="0">
            <a:spAutoFit/>
          </a:bodyPr>
          <a:lstStyle/>
          <a:p>
            <a:pPr>
              <a:lnSpc>
                <a:spcPct val="118000"/>
              </a:lnSpc>
              <a:spcAft>
                <a:spcPts val="400"/>
              </a:spcAft>
            </a:pPr>
            <a:r>
              <a:rPr sz="1150" b="0">
                <a:solidFill>
                  <a:srgbClr val="4A5568"/>
                </a:solidFill>
                <a:latin typeface="Calibri"/>
              </a:rPr>
              <a:t>Tracking, timers, flashcards and notes live in three or four unconnected apps that share no context.</a:t>
            </a:r>
          </a:p>
        </p:txBody>
      </p:sp>
      <p:sp>
        <p:nvSpPr>
          <p:cNvPr id="22" name="Rounded Rectangle 21"/>
          <p:cNvSpPr/>
          <p:nvPr/>
        </p:nvSpPr>
        <p:spPr>
          <a:xfrm>
            <a:off x="6214719" y="3895344"/>
            <a:ext cx="5318607" cy="11338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415887" y="4114800"/>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8767" y="4069080"/>
            <a:ext cx="4751679"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Misleading metrics</a:t>
            </a:r>
          </a:p>
        </p:txBody>
      </p:sp>
      <p:sp>
        <p:nvSpPr>
          <p:cNvPr id="25" name="TextBox 24"/>
          <p:cNvSpPr txBox="1"/>
          <p:nvPr/>
        </p:nvSpPr>
        <p:spPr>
          <a:xfrm>
            <a:off x="6434175" y="4462272"/>
            <a:ext cx="4879695" cy="402335"/>
          </a:xfrm>
          <a:prstGeom prst="rect">
            <a:avLst/>
          </a:prstGeom>
          <a:noFill/>
        </p:spPr>
        <p:txBody>
          <a:bodyPr wrap="square" lIns="0" rIns="0" tIns="0" bIns="0">
            <a:spAutoFit/>
          </a:bodyPr>
          <a:lstStyle/>
          <a:p>
            <a:pPr>
              <a:lnSpc>
                <a:spcPct val="118000"/>
              </a:lnSpc>
              <a:spcAft>
                <a:spcPts val="400"/>
              </a:spcAft>
            </a:pPr>
            <a:r>
              <a:rPr sz="1150" b="0">
                <a:solidFill>
                  <a:srgbClr val="4A5568"/>
                </a:solidFill>
                <a:latin typeface="Calibri"/>
              </a:rPr>
              <a:t>Naive progress calculations systematically misrepresent how much work actually remains.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A WRONG NUMBER IS WORSE THAN NO NUMBER</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Why This Problem Matters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5</a:t>
            </a:r>
          </a:p>
        </p:txBody>
      </p:sp>
      <p:sp>
        <p:nvSpPr>
          <p:cNvPr id="8" name="TextBox 7"/>
          <p:cNvSpPr txBox="1"/>
          <p:nvPr/>
        </p:nvSpPr>
        <p:spPr>
          <a:xfrm>
            <a:off x="658368" y="1389888"/>
            <a:ext cx="10881360" cy="310896"/>
          </a:xfrm>
          <a:prstGeom prst="rect">
            <a:avLst/>
          </a:prstGeom>
          <a:noFill/>
        </p:spPr>
        <p:txBody>
          <a:bodyPr wrap="square" lIns="0" rIns="0" tIns="0" bIns="0" anchor="t">
            <a:spAutoFit/>
          </a:bodyPr>
          <a:lstStyle/>
          <a:p>
            <a:pPr algn="l">
              <a:lnSpc>
                <a:spcPct val="100000"/>
              </a:lnSpc>
            </a:pPr>
            <a:r>
              <a:rPr sz="1500" b="0" i="0">
                <a:solidFill>
                  <a:srgbClr val="4A5568"/>
                </a:solidFill>
                <a:latin typeface="Calibri"/>
              </a:rPr>
              <a:t>Consider a subject with two chapters: one topic complete out of one, and zero complete out of ninety-nine.</a:t>
            </a:r>
          </a:p>
        </p:txBody>
      </p:sp>
      <p:sp>
        <p:nvSpPr>
          <p:cNvPr id="9" name="Rounded Rectangle 8"/>
          <p:cNvSpPr/>
          <p:nvPr/>
        </p:nvSpPr>
        <p:spPr>
          <a:xfrm>
            <a:off x="658368" y="1956816"/>
            <a:ext cx="5074920" cy="2084831"/>
          </a:xfrm>
          <a:prstGeom prst="roundRect">
            <a:avLst>
              <a:gd name="adj" fmla="val 8000"/>
            </a:avLst>
          </a:prstGeom>
          <a:solidFill>
            <a:srgbClr val="FEF2F2"/>
          </a:solidFill>
          <a:ln w="1270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914400" y="2176272"/>
            <a:ext cx="1481328" cy="27432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THE OBVIOUS WAY</a:t>
            </a:r>
          </a:p>
        </p:txBody>
      </p:sp>
      <p:sp>
        <p:nvSpPr>
          <p:cNvPr id="11" name="TextBox 10"/>
          <p:cNvSpPr txBox="1"/>
          <p:nvPr/>
        </p:nvSpPr>
        <p:spPr>
          <a:xfrm>
            <a:off x="914400" y="2596896"/>
            <a:ext cx="4562856"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Average the chapter percentages</a:t>
            </a:r>
          </a:p>
        </p:txBody>
      </p:sp>
      <p:sp>
        <p:nvSpPr>
          <p:cNvPr id="12" name="TextBox 11"/>
          <p:cNvSpPr txBox="1"/>
          <p:nvPr/>
        </p:nvSpPr>
        <p:spPr>
          <a:xfrm>
            <a:off x="914400" y="2944368"/>
            <a:ext cx="4562856" cy="365760"/>
          </a:xfrm>
          <a:prstGeom prst="rect">
            <a:avLst/>
          </a:prstGeom>
          <a:noFill/>
        </p:spPr>
        <p:txBody>
          <a:bodyPr wrap="square" lIns="0" rIns="0" tIns="0" bIns="0" anchor="t">
            <a:spAutoFit/>
          </a:bodyPr>
          <a:lstStyle/>
          <a:p>
            <a:pPr algn="l">
              <a:lnSpc>
                <a:spcPct val="100000"/>
              </a:lnSpc>
            </a:pPr>
            <a:r>
              <a:rPr sz="1700" b="0" i="0">
                <a:solidFill>
                  <a:srgbClr val="4A5568"/>
                </a:solidFill>
                <a:latin typeface="Consolas"/>
              </a:rPr>
              <a:t>( 100%  +  0% )  ÷  2</a:t>
            </a:r>
          </a:p>
        </p:txBody>
      </p:sp>
      <p:sp>
        <p:nvSpPr>
          <p:cNvPr id="13" name="TextBox 12"/>
          <p:cNvSpPr txBox="1"/>
          <p:nvPr/>
        </p:nvSpPr>
        <p:spPr>
          <a:xfrm>
            <a:off x="914400" y="3383280"/>
            <a:ext cx="4562856" cy="457200"/>
          </a:xfrm>
          <a:prstGeom prst="rect">
            <a:avLst/>
          </a:prstGeom>
          <a:noFill/>
        </p:spPr>
        <p:txBody>
          <a:bodyPr wrap="square" lIns="0" rIns="0" tIns="0" bIns="0" anchor="t">
            <a:spAutoFit/>
          </a:bodyPr>
          <a:lstStyle/>
          <a:p>
            <a:pPr algn="l">
              <a:lnSpc>
                <a:spcPct val="100000"/>
              </a:lnSpc>
            </a:pPr>
            <a:r>
              <a:rPr sz="2600" b="1" i="0">
                <a:solidFill>
                  <a:srgbClr val="EF4444"/>
                </a:solidFill>
                <a:latin typeface="Calibri"/>
              </a:rPr>
              <a:t>= 50% complete</a:t>
            </a:r>
          </a:p>
        </p:txBody>
      </p:sp>
      <p:sp>
        <p:nvSpPr>
          <p:cNvPr id="14" name="Rounded Rectangle 13"/>
          <p:cNvSpPr/>
          <p:nvPr/>
        </p:nvSpPr>
        <p:spPr>
          <a:xfrm>
            <a:off x="6190488" y="1956816"/>
            <a:ext cx="5074920" cy="2084831"/>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46520" y="2176272"/>
            <a:ext cx="2057400"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WHAT PREPPILOT DOES</a:t>
            </a:r>
          </a:p>
        </p:txBody>
      </p:sp>
      <p:sp>
        <p:nvSpPr>
          <p:cNvPr id="16" name="TextBox 15"/>
          <p:cNvSpPr txBox="1"/>
          <p:nvPr/>
        </p:nvSpPr>
        <p:spPr>
          <a:xfrm>
            <a:off x="6446520" y="2596896"/>
            <a:ext cx="4562856"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Weight by topics, not chapters</a:t>
            </a:r>
          </a:p>
        </p:txBody>
      </p:sp>
      <p:sp>
        <p:nvSpPr>
          <p:cNvPr id="17" name="TextBox 16"/>
          <p:cNvSpPr txBox="1"/>
          <p:nvPr/>
        </p:nvSpPr>
        <p:spPr>
          <a:xfrm>
            <a:off x="6446520" y="2944368"/>
            <a:ext cx="4562856" cy="365760"/>
          </a:xfrm>
          <a:prstGeom prst="rect">
            <a:avLst/>
          </a:prstGeom>
          <a:noFill/>
        </p:spPr>
        <p:txBody>
          <a:bodyPr wrap="square" lIns="0" rIns="0" tIns="0" bIns="0" anchor="t">
            <a:spAutoFit/>
          </a:bodyPr>
          <a:lstStyle/>
          <a:p>
            <a:pPr algn="l">
              <a:lnSpc>
                <a:spcPct val="100000"/>
              </a:lnSpc>
            </a:pPr>
            <a:r>
              <a:rPr sz="1700" b="0" i="0">
                <a:solidFill>
                  <a:srgbClr val="4A5568"/>
                </a:solidFill>
                <a:latin typeface="Consolas"/>
              </a:rPr>
              <a:t>1 topic  ÷  100 topics</a:t>
            </a:r>
          </a:p>
        </p:txBody>
      </p:sp>
      <p:sp>
        <p:nvSpPr>
          <p:cNvPr id="18" name="TextBox 17"/>
          <p:cNvSpPr txBox="1"/>
          <p:nvPr/>
        </p:nvSpPr>
        <p:spPr>
          <a:xfrm>
            <a:off x="6446520" y="3383280"/>
            <a:ext cx="4562856" cy="457200"/>
          </a:xfrm>
          <a:prstGeom prst="rect">
            <a:avLst/>
          </a:prstGeom>
          <a:noFill/>
        </p:spPr>
        <p:txBody>
          <a:bodyPr wrap="square" lIns="0" rIns="0" tIns="0" bIns="0" anchor="t">
            <a:spAutoFit/>
          </a:bodyPr>
          <a:lstStyle/>
          <a:p>
            <a:pPr algn="l">
              <a:lnSpc>
                <a:spcPct val="100000"/>
              </a:lnSpc>
            </a:pPr>
            <a:r>
              <a:rPr sz="2600" b="1" i="0">
                <a:solidFill>
                  <a:srgbClr val="10B981"/>
                </a:solidFill>
                <a:latin typeface="Calibri"/>
              </a:rPr>
              <a:t>= 1% complete</a:t>
            </a:r>
          </a:p>
        </p:txBody>
      </p:sp>
      <p:sp>
        <p:nvSpPr>
          <p:cNvPr id="19" name="Rounded Rectangle 18"/>
          <p:cNvSpPr/>
          <p:nvPr/>
        </p:nvSpPr>
        <p:spPr>
          <a:xfrm>
            <a:off x="658368" y="4261104"/>
            <a:ext cx="10874959" cy="1335024"/>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443984"/>
            <a:ext cx="10289743" cy="256032"/>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WHY THIS IS THE CORE PROMISE</a:t>
            </a:r>
          </a:p>
        </p:txBody>
      </p:sp>
      <p:sp>
        <p:nvSpPr>
          <p:cNvPr id="21" name="TextBox 20"/>
          <p:cNvSpPr txBox="1"/>
          <p:nvPr/>
        </p:nvSpPr>
        <p:spPr>
          <a:xfrm>
            <a:off x="950976" y="4773168"/>
            <a:ext cx="10289743" cy="731520"/>
          </a:xfrm>
          <a:prstGeom prst="rect">
            <a:avLst/>
          </a:prstGeom>
          <a:noFill/>
        </p:spPr>
        <p:txBody>
          <a:bodyPr wrap="square" lIns="0" rIns="0" tIns="0" bIns="0" anchor="t">
            <a:spAutoFit/>
          </a:bodyPr>
          <a:lstStyle/>
          <a:p>
            <a:pPr algn="l">
              <a:lnSpc>
                <a:spcPct val="120000"/>
              </a:lnSpc>
            </a:pPr>
            <a:r>
              <a:rPr sz="1300" b="0" i="0">
                <a:solidFill>
                  <a:srgbClr val="4A5568"/>
                </a:solidFill>
                <a:latin typeface="Calibri"/>
              </a:rPr>
              <a:t>A student who believes they are halfway through when they are 1% through will plan their remaining weeks wrongly. The averaging mistake is the obvious implementation — so our progress engine guards against it with an explicit regression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WHAT WE SET OUT TO BUILD</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Objectives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6</a:t>
            </a:r>
          </a:p>
        </p:txBody>
      </p:sp>
      <p:sp>
        <p:nvSpPr>
          <p:cNvPr id="8" name="Rounded Rectangle 7"/>
          <p:cNvSpPr/>
          <p:nvPr/>
        </p:nvSpPr>
        <p:spPr>
          <a:xfrm>
            <a:off x="658368" y="1389888"/>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572768"/>
            <a:ext cx="731520" cy="274320"/>
          </a:xfrm>
          <a:prstGeom prst="rect">
            <a:avLst/>
          </a:prstGeom>
          <a:noFill/>
        </p:spPr>
        <p:txBody>
          <a:bodyPr wrap="square" lIns="0" rIns="0" tIns="0" bIns="0" anchor="t">
            <a:spAutoFit/>
          </a:bodyPr>
          <a:lstStyle/>
          <a:p>
            <a:pPr algn="l">
              <a:lnSpc>
                <a:spcPct val="100000"/>
              </a:lnSpc>
            </a:pPr>
            <a:r>
              <a:rPr sz="1300" b="1" i="0">
                <a:solidFill>
                  <a:srgbClr val="3B82F6"/>
                </a:solidFill>
                <a:latin typeface="Consolas"/>
              </a:rPr>
              <a:t>01</a:t>
            </a:r>
          </a:p>
        </p:txBody>
      </p:sp>
      <p:sp>
        <p:nvSpPr>
          <p:cNvPr id="10" name="TextBox 9"/>
          <p:cNvSpPr txBox="1"/>
          <p:nvPr/>
        </p:nvSpPr>
        <p:spPr>
          <a:xfrm>
            <a:off x="896112" y="1883664"/>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Model the syllabus</a:t>
            </a:r>
          </a:p>
        </p:txBody>
      </p:sp>
      <p:sp>
        <p:nvSpPr>
          <p:cNvPr id="11" name="TextBox 10"/>
          <p:cNvSpPr txBox="1"/>
          <p:nvPr/>
        </p:nvSpPr>
        <p:spPr>
          <a:xfrm>
            <a:off x="896112" y="2194560"/>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Four-level hierarchy with per-item completion</a:t>
            </a:r>
          </a:p>
        </p:txBody>
      </p:sp>
      <p:sp>
        <p:nvSpPr>
          <p:cNvPr id="12" name="Rounded Rectangle 11"/>
          <p:cNvSpPr/>
          <p:nvPr/>
        </p:nvSpPr>
        <p:spPr>
          <a:xfrm>
            <a:off x="4362602" y="1389888"/>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0346" y="1572768"/>
            <a:ext cx="731520" cy="274320"/>
          </a:xfrm>
          <a:prstGeom prst="rect">
            <a:avLst/>
          </a:prstGeom>
          <a:noFill/>
        </p:spPr>
        <p:txBody>
          <a:bodyPr wrap="square" lIns="0" rIns="0" tIns="0" bIns="0" anchor="t">
            <a:spAutoFit/>
          </a:bodyPr>
          <a:lstStyle/>
          <a:p>
            <a:pPr algn="l">
              <a:lnSpc>
                <a:spcPct val="100000"/>
              </a:lnSpc>
            </a:pPr>
            <a:r>
              <a:rPr sz="1300" b="1" i="0">
                <a:solidFill>
                  <a:srgbClr val="10B981"/>
                </a:solidFill>
                <a:latin typeface="Consolas"/>
              </a:rPr>
              <a:t>02</a:t>
            </a:r>
          </a:p>
        </p:txBody>
      </p:sp>
      <p:sp>
        <p:nvSpPr>
          <p:cNvPr id="14" name="TextBox 13"/>
          <p:cNvSpPr txBox="1"/>
          <p:nvPr/>
        </p:nvSpPr>
        <p:spPr>
          <a:xfrm>
            <a:off x="4600346" y="1883664"/>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Measure honestly</a:t>
            </a:r>
          </a:p>
        </p:txBody>
      </p:sp>
      <p:sp>
        <p:nvSpPr>
          <p:cNvPr id="15" name="TextBox 14"/>
          <p:cNvSpPr txBox="1"/>
          <p:nvPr/>
        </p:nvSpPr>
        <p:spPr>
          <a:xfrm>
            <a:off x="4600346" y="2194560"/>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Topic-weighted progress that never misrepresents</a:t>
            </a:r>
          </a:p>
        </p:txBody>
      </p:sp>
      <p:sp>
        <p:nvSpPr>
          <p:cNvPr id="16" name="Rounded Rectangle 15"/>
          <p:cNvSpPr/>
          <p:nvPr/>
        </p:nvSpPr>
        <p:spPr>
          <a:xfrm>
            <a:off x="8066836" y="1389888"/>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04580" y="1572768"/>
            <a:ext cx="731520" cy="274320"/>
          </a:xfrm>
          <a:prstGeom prst="rect">
            <a:avLst/>
          </a:prstGeom>
          <a:noFill/>
        </p:spPr>
        <p:txBody>
          <a:bodyPr wrap="square" lIns="0" rIns="0" tIns="0" bIns="0" anchor="t">
            <a:spAutoFit/>
          </a:bodyPr>
          <a:lstStyle/>
          <a:p>
            <a:pPr algn="l">
              <a:lnSpc>
                <a:spcPct val="100000"/>
              </a:lnSpc>
            </a:pPr>
            <a:r>
              <a:rPr sz="1300" b="1" i="0">
                <a:solidFill>
                  <a:srgbClr val="A855F7"/>
                </a:solidFill>
                <a:latin typeface="Consolas"/>
              </a:rPr>
              <a:t>03</a:t>
            </a:r>
          </a:p>
        </p:txBody>
      </p:sp>
      <p:sp>
        <p:nvSpPr>
          <p:cNvPr id="18" name="TextBox 17"/>
          <p:cNvSpPr txBox="1"/>
          <p:nvPr/>
        </p:nvSpPr>
        <p:spPr>
          <a:xfrm>
            <a:off x="8304580" y="1883664"/>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Work offline</a:t>
            </a:r>
          </a:p>
        </p:txBody>
      </p:sp>
      <p:sp>
        <p:nvSpPr>
          <p:cNvPr id="19" name="TextBox 18"/>
          <p:cNvSpPr txBox="1"/>
          <p:nvPr/>
        </p:nvSpPr>
        <p:spPr>
          <a:xfrm>
            <a:off x="8304580" y="2194560"/>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Local database authoritative; network optional</a:t>
            </a:r>
          </a:p>
        </p:txBody>
      </p:sp>
      <p:sp>
        <p:nvSpPr>
          <p:cNvPr id="20" name="Rounded Rectangle 19"/>
          <p:cNvSpPr/>
          <p:nvPr/>
        </p:nvSpPr>
        <p:spPr>
          <a:xfrm>
            <a:off x="658368" y="2871216"/>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2" y="3054096"/>
            <a:ext cx="731520" cy="274320"/>
          </a:xfrm>
          <a:prstGeom prst="rect">
            <a:avLst/>
          </a:prstGeom>
          <a:noFill/>
        </p:spPr>
        <p:txBody>
          <a:bodyPr wrap="square" lIns="0" rIns="0" tIns="0" bIns="0" anchor="t">
            <a:spAutoFit/>
          </a:bodyPr>
          <a:lstStyle/>
          <a:p>
            <a:pPr algn="l">
              <a:lnSpc>
                <a:spcPct val="100000"/>
              </a:lnSpc>
            </a:pPr>
            <a:r>
              <a:rPr sz="1300" b="1" i="0">
                <a:solidFill>
                  <a:srgbClr val="06B6D4"/>
                </a:solidFill>
                <a:latin typeface="Consolas"/>
              </a:rPr>
              <a:t>04</a:t>
            </a:r>
          </a:p>
        </p:txBody>
      </p:sp>
      <p:sp>
        <p:nvSpPr>
          <p:cNvPr id="22" name="TextBox 21"/>
          <p:cNvSpPr txBox="1"/>
          <p:nvPr/>
        </p:nvSpPr>
        <p:spPr>
          <a:xfrm>
            <a:off x="896112" y="3364992"/>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Sync deterministically</a:t>
            </a:r>
          </a:p>
        </p:txBody>
      </p:sp>
      <p:sp>
        <p:nvSpPr>
          <p:cNvPr id="23" name="TextBox 22"/>
          <p:cNvSpPr txBox="1"/>
          <p:nvPr/>
        </p:nvSpPr>
        <p:spPr>
          <a:xfrm>
            <a:off x="896112" y="3675888"/>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Multi-device with predictable conflict rules</a:t>
            </a:r>
          </a:p>
        </p:txBody>
      </p:sp>
      <p:sp>
        <p:nvSpPr>
          <p:cNvPr id="24" name="Rounded Rectangle 23"/>
          <p:cNvSpPr/>
          <p:nvPr/>
        </p:nvSpPr>
        <p:spPr>
          <a:xfrm>
            <a:off x="4362602" y="2871216"/>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00346" y="3054096"/>
            <a:ext cx="731520" cy="274320"/>
          </a:xfrm>
          <a:prstGeom prst="rect">
            <a:avLst/>
          </a:prstGeom>
          <a:noFill/>
        </p:spPr>
        <p:txBody>
          <a:bodyPr wrap="square" lIns="0" rIns="0" tIns="0" bIns="0" anchor="t">
            <a:spAutoFit/>
          </a:bodyPr>
          <a:lstStyle/>
          <a:p>
            <a:pPr algn="l">
              <a:lnSpc>
                <a:spcPct val="100000"/>
              </a:lnSpc>
            </a:pPr>
            <a:r>
              <a:rPr sz="1300" b="1" i="0">
                <a:solidFill>
                  <a:srgbClr val="F59E0B"/>
                </a:solidFill>
                <a:latin typeface="Consolas"/>
              </a:rPr>
              <a:t>05</a:t>
            </a:r>
          </a:p>
        </p:txBody>
      </p:sp>
      <p:sp>
        <p:nvSpPr>
          <p:cNvPr id="26" name="TextBox 25"/>
          <p:cNvSpPr txBox="1"/>
          <p:nvPr/>
        </p:nvSpPr>
        <p:spPr>
          <a:xfrm>
            <a:off x="4600346" y="3364992"/>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Record study accurately</a:t>
            </a:r>
          </a:p>
        </p:txBody>
      </p:sp>
      <p:sp>
        <p:nvSpPr>
          <p:cNvPr id="27" name="TextBox 26"/>
          <p:cNvSpPr txBox="1"/>
          <p:nvPr/>
        </p:nvSpPr>
        <p:spPr>
          <a:xfrm>
            <a:off x="4600346" y="3675888"/>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Survive backgrounding and process death</a:t>
            </a:r>
          </a:p>
        </p:txBody>
      </p:sp>
      <p:sp>
        <p:nvSpPr>
          <p:cNvPr id="28" name="Rounded Rectangle 27"/>
          <p:cNvSpPr/>
          <p:nvPr/>
        </p:nvSpPr>
        <p:spPr>
          <a:xfrm>
            <a:off x="8066836" y="2871216"/>
            <a:ext cx="3466490" cy="13167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304580" y="3054096"/>
            <a:ext cx="731520" cy="274320"/>
          </a:xfrm>
          <a:prstGeom prst="rect">
            <a:avLst/>
          </a:prstGeom>
          <a:noFill/>
        </p:spPr>
        <p:txBody>
          <a:bodyPr wrap="square" lIns="0" rIns="0" tIns="0" bIns="0" anchor="t">
            <a:spAutoFit/>
          </a:bodyPr>
          <a:lstStyle/>
          <a:p>
            <a:pPr algn="l">
              <a:lnSpc>
                <a:spcPct val="100000"/>
              </a:lnSpc>
            </a:pPr>
            <a:r>
              <a:rPr sz="1300" b="1" i="0">
                <a:solidFill>
                  <a:srgbClr val="EF4444"/>
                </a:solidFill>
                <a:latin typeface="Consolas"/>
              </a:rPr>
              <a:t>06</a:t>
            </a:r>
          </a:p>
        </p:txBody>
      </p:sp>
      <p:sp>
        <p:nvSpPr>
          <p:cNvPr id="30" name="TextBox 29"/>
          <p:cNvSpPr txBox="1"/>
          <p:nvPr/>
        </p:nvSpPr>
        <p:spPr>
          <a:xfrm>
            <a:off x="8304580" y="3364992"/>
            <a:ext cx="3009290" cy="274320"/>
          </a:xfrm>
          <a:prstGeom prst="rect">
            <a:avLst/>
          </a:prstGeom>
          <a:noFill/>
        </p:spPr>
        <p:txBody>
          <a:bodyPr wrap="square" lIns="0" rIns="0" tIns="0" bIns="0" anchor="t">
            <a:spAutoFit/>
          </a:bodyPr>
          <a:lstStyle/>
          <a:p>
            <a:pPr algn="l">
              <a:lnSpc>
                <a:spcPct val="100000"/>
              </a:lnSpc>
            </a:pPr>
            <a:r>
              <a:rPr sz="1350" b="1" i="0">
                <a:solidFill>
                  <a:srgbClr val="0B0F14"/>
                </a:solidFill>
                <a:latin typeface="Calibri"/>
              </a:rPr>
              <a:t>Integrate AI safely</a:t>
            </a:r>
          </a:p>
        </p:txBody>
      </p:sp>
      <p:sp>
        <p:nvSpPr>
          <p:cNvPr id="31" name="TextBox 30"/>
          <p:cNvSpPr txBox="1"/>
          <p:nvPr/>
        </p:nvSpPr>
        <p:spPr>
          <a:xfrm>
            <a:off x="8304580" y="3675888"/>
            <a:ext cx="3009290" cy="402336"/>
          </a:xfrm>
          <a:prstGeom prst="rect">
            <a:avLst/>
          </a:prstGeom>
          <a:noFill/>
        </p:spPr>
        <p:txBody>
          <a:bodyPr wrap="square" lIns="0" rIns="0" tIns="0" bIns="0" anchor="t">
            <a:spAutoFit/>
          </a:bodyPr>
          <a:lstStyle/>
          <a:p>
            <a:pPr algn="l">
              <a:lnSpc>
                <a:spcPct val="115000"/>
              </a:lnSpc>
            </a:pPr>
            <a:r>
              <a:rPr sz="1100" b="0" i="0">
                <a:solidFill>
                  <a:srgbClr val="4A5568"/>
                </a:solidFill>
                <a:latin typeface="Calibri"/>
              </a:rPr>
              <a:t>No client-side keys; no unconfirmed changes</a:t>
            </a:r>
          </a:p>
        </p:txBody>
      </p:sp>
      <p:sp>
        <p:nvSpPr>
          <p:cNvPr id="32" name="Rounded Rectangle 31"/>
          <p:cNvSpPr/>
          <p:nvPr/>
        </p:nvSpPr>
        <p:spPr>
          <a:xfrm>
            <a:off x="658368" y="4517136"/>
            <a:ext cx="10874959" cy="658368"/>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50976" y="4700016"/>
            <a:ext cx="10289743" cy="310896"/>
          </a:xfrm>
          <a:prstGeom prst="rect">
            <a:avLst/>
          </a:prstGeom>
          <a:noFill/>
        </p:spPr>
        <p:txBody>
          <a:bodyPr wrap="square" lIns="0" rIns="0" tIns="0" bIns="0" anchor="t">
            <a:spAutoFit/>
          </a:bodyPr>
          <a:lstStyle/>
          <a:p>
            <a:pPr algn="l">
              <a:lnSpc>
                <a:spcPct val="115000"/>
              </a:lnSpc>
            </a:pPr>
            <a:r>
              <a:rPr sz="1250" b="0" i="0">
                <a:solidFill>
                  <a:srgbClr val="065F46"/>
                </a:solidFill>
                <a:latin typeface="Calibri"/>
              </a:rPr>
              <a:t>All twelve project objectives are met. Six further objectives — templates, multi-course support, revision tooling, data isolation and automated validation — are listed in the synopsis.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WHY CURRENT TOOLS FALL SHORT</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Existing Approaches and the Gap</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7</a:t>
            </a:r>
          </a:p>
        </p:txBody>
      </p:sp>
      <p:sp>
        <p:nvSpPr>
          <p:cNvPr id="8" name="Rounded Rectangle 7"/>
          <p:cNvSpPr/>
          <p:nvPr/>
        </p:nvSpPr>
        <p:spPr>
          <a:xfrm>
            <a:off x="658368" y="1389888"/>
            <a:ext cx="7040880" cy="323697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1517904"/>
            <a:ext cx="2743200" cy="237744"/>
          </a:xfrm>
          <a:prstGeom prst="rect">
            <a:avLst/>
          </a:prstGeom>
          <a:noFill/>
        </p:spPr>
        <p:txBody>
          <a:bodyPr wrap="square" lIns="0" rIns="0" tIns="0" bIns="0" anchor="t">
            <a:spAutoFit/>
          </a:bodyPr>
          <a:lstStyle/>
          <a:p>
            <a:pPr algn="l">
              <a:lnSpc>
                <a:spcPct val="100000"/>
              </a:lnSpc>
            </a:pPr>
            <a:r>
              <a:rPr sz="900" b="1" i="0">
                <a:solidFill>
                  <a:srgbClr val="6B7684"/>
                </a:solidFill>
                <a:latin typeface="Calibri"/>
              </a:rPr>
              <a:t>APPROACH</a:t>
            </a:r>
          </a:p>
        </p:txBody>
      </p:sp>
      <p:sp>
        <p:nvSpPr>
          <p:cNvPr id="10" name="TextBox 9"/>
          <p:cNvSpPr txBox="1"/>
          <p:nvPr/>
        </p:nvSpPr>
        <p:spPr>
          <a:xfrm>
            <a:off x="2871215" y="1517904"/>
            <a:ext cx="3657600" cy="237744"/>
          </a:xfrm>
          <a:prstGeom prst="rect">
            <a:avLst/>
          </a:prstGeom>
          <a:noFill/>
        </p:spPr>
        <p:txBody>
          <a:bodyPr wrap="square" lIns="0" rIns="0" tIns="0" bIns="0" anchor="t">
            <a:spAutoFit/>
          </a:bodyPr>
          <a:lstStyle/>
          <a:p>
            <a:pPr algn="l">
              <a:lnSpc>
                <a:spcPct val="100000"/>
              </a:lnSpc>
            </a:pPr>
            <a:r>
              <a:rPr sz="900" b="1" i="0">
                <a:solidFill>
                  <a:srgbClr val="6B7684"/>
                </a:solidFill>
                <a:latin typeface="Calibri"/>
              </a:rPr>
              <a:t>LIMITATION</a:t>
            </a:r>
          </a:p>
        </p:txBody>
      </p:sp>
      <p:sp>
        <p:nvSpPr>
          <p:cNvPr id="11" name="Rounded Rectangle 10"/>
          <p:cNvSpPr/>
          <p:nvPr/>
        </p:nvSpPr>
        <p:spPr>
          <a:xfrm>
            <a:off x="749808" y="1755648"/>
            <a:ext cx="6858000" cy="43891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28800"/>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Paper checklists</a:t>
            </a:r>
          </a:p>
        </p:txBody>
      </p:sp>
      <p:sp>
        <p:nvSpPr>
          <p:cNvPr id="13" name="TextBox 12"/>
          <p:cNvSpPr txBox="1"/>
          <p:nvPr/>
        </p:nvSpPr>
        <p:spPr>
          <a:xfrm>
            <a:off x="2871215" y="1837943"/>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No computed progress · no backup · no time tracking</a:t>
            </a:r>
          </a:p>
        </p:txBody>
      </p:sp>
      <p:sp>
        <p:nvSpPr>
          <p:cNvPr id="14" name="TextBox 13"/>
          <p:cNvSpPr txBox="1"/>
          <p:nvPr/>
        </p:nvSpPr>
        <p:spPr>
          <a:xfrm>
            <a:off x="914400" y="2304288"/>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Spreadsheets</a:t>
            </a:r>
          </a:p>
        </p:txBody>
      </p:sp>
      <p:sp>
        <p:nvSpPr>
          <p:cNvPr id="15" name="TextBox 14"/>
          <p:cNvSpPr txBox="1"/>
          <p:nvPr/>
        </p:nvSpPr>
        <p:spPr>
          <a:xfrm>
            <a:off x="2871215" y="2313432"/>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Laborious on a phone · manual formulas · no revision tooling</a:t>
            </a:r>
          </a:p>
        </p:txBody>
      </p:sp>
      <p:sp>
        <p:nvSpPr>
          <p:cNvPr id="16" name="Rounded Rectangle 15"/>
          <p:cNvSpPr/>
          <p:nvPr/>
        </p:nvSpPr>
        <p:spPr>
          <a:xfrm>
            <a:off x="749808" y="2706624"/>
            <a:ext cx="6858000" cy="43891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2779776"/>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To-do apps</a:t>
            </a:r>
          </a:p>
        </p:txBody>
      </p:sp>
      <p:sp>
        <p:nvSpPr>
          <p:cNvPr id="18" name="TextBox 17"/>
          <p:cNvSpPr txBox="1"/>
          <p:nvPr/>
        </p:nvSpPr>
        <p:spPr>
          <a:xfrm>
            <a:off x="2871215" y="2788920"/>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Flat lists · no syllabus concept · no weighted progress</a:t>
            </a:r>
          </a:p>
        </p:txBody>
      </p:sp>
      <p:sp>
        <p:nvSpPr>
          <p:cNvPr id="19" name="TextBox 18"/>
          <p:cNvSpPr txBox="1"/>
          <p:nvPr/>
        </p:nvSpPr>
        <p:spPr>
          <a:xfrm>
            <a:off x="914400" y="3255264"/>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Flashcard apps</a:t>
            </a:r>
          </a:p>
        </p:txBody>
      </p:sp>
      <p:sp>
        <p:nvSpPr>
          <p:cNvPr id="20" name="TextBox 19"/>
          <p:cNvSpPr txBox="1"/>
          <p:nvPr/>
        </p:nvSpPr>
        <p:spPr>
          <a:xfrm>
            <a:off x="2871215" y="3264408"/>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Strong revision, but hold no syllabus and no progress model</a:t>
            </a:r>
          </a:p>
        </p:txBody>
      </p:sp>
      <p:sp>
        <p:nvSpPr>
          <p:cNvPr id="21" name="Rounded Rectangle 20"/>
          <p:cNvSpPr/>
          <p:nvPr/>
        </p:nvSpPr>
        <p:spPr>
          <a:xfrm>
            <a:off x="749808" y="3657600"/>
            <a:ext cx="6858000" cy="43891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3730752"/>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Pomodoro timers</a:t>
            </a:r>
          </a:p>
        </p:txBody>
      </p:sp>
      <p:sp>
        <p:nvSpPr>
          <p:cNvPr id="23" name="TextBox 22"/>
          <p:cNvSpPr txBox="1"/>
          <p:nvPr/>
        </p:nvSpPr>
        <p:spPr>
          <a:xfrm>
            <a:off x="2871215" y="3739896"/>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Time only — no connection to what was actually studied</a:t>
            </a:r>
          </a:p>
        </p:txBody>
      </p:sp>
      <p:sp>
        <p:nvSpPr>
          <p:cNvPr id="24" name="TextBox 23"/>
          <p:cNvSpPr txBox="1"/>
          <p:nvPr/>
        </p:nvSpPr>
        <p:spPr>
          <a:xfrm>
            <a:off x="914400" y="4206240"/>
            <a:ext cx="192024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Coaching portals</a:t>
            </a:r>
          </a:p>
        </p:txBody>
      </p:sp>
      <p:sp>
        <p:nvSpPr>
          <p:cNvPr id="25" name="TextBox 24"/>
          <p:cNvSpPr txBox="1"/>
          <p:nvPr/>
        </p:nvSpPr>
        <p:spPr>
          <a:xfrm>
            <a:off x="2871215" y="4215384"/>
            <a:ext cx="4663440" cy="274320"/>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Require connectivity · content-locked · track their syllabus</a:t>
            </a:r>
          </a:p>
        </p:txBody>
      </p:sp>
      <p:sp>
        <p:nvSpPr>
          <p:cNvPr id="26" name="Rounded Rectangle 25"/>
          <p:cNvSpPr/>
          <p:nvPr/>
        </p:nvSpPr>
        <p:spPr>
          <a:xfrm>
            <a:off x="7918704" y="1389888"/>
            <a:ext cx="3614623" cy="3236976"/>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93024" y="1645920"/>
            <a:ext cx="3200400" cy="237744"/>
          </a:xfrm>
          <a:prstGeom prst="rect">
            <a:avLst/>
          </a:prstGeom>
          <a:noFill/>
        </p:spPr>
        <p:txBody>
          <a:bodyPr wrap="square" lIns="0" rIns="0" tIns="0" bIns="0" anchor="t">
            <a:spAutoFit/>
          </a:bodyPr>
          <a:lstStyle/>
          <a:p>
            <a:pPr algn="l">
              <a:lnSpc>
                <a:spcPct val="100000"/>
              </a:lnSpc>
            </a:pPr>
            <a:r>
              <a:rPr sz="1000" b="1" i="0">
                <a:solidFill>
                  <a:srgbClr val="06B6D4"/>
                </a:solidFill>
                <a:latin typeface="Calibri"/>
              </a:rPr>
              <a:t>THE GAP</a:t>
            </a:r>
          </a:p>
        </p:txBody>
      </p:sp>
      <p:sp>
        <p:nvSpPr>
          <p:cNvPr id="28" name="TextBox 27"/>
          <p:cNvSpPr txBox="1"/>
          <p:nvPr/>
        </p:nvSpPr>
        <p:spPr>
          <a:xfrm>
            <a:off x="8193024" y="1956816"/>
            <a:ext cx="3200400" cy="2103120"/>
          </a:xfrm>
          <a:prstGeom prst="rect">
            <a:avLst/>
          </a:prstGeom>
          <a:noFill/>
        </p:spPr>
        <p:txBody>
          <a:bodyPr wrap="square" lIns="0" rIns="0" tIns="0" bIns="0" anchor="t">
            <a:spAutoFit/>
          </a:bodyPr>
          <a:lstStyle/>
          <a:p>
            <a:pPr algn="l">
              <a:lnSpc>
                <a:spcPct val="126000"/>
              </a:lnSpc>
            </a:pPr>
            <a:r>
              <a:rPr sz="1300" b="0" i="0">
                <a:solidFill>
                  <a:srgbClr val="FFFFFF"/>
                </a:solidFill>
                <a:latin typeface="Calibri"/>
              </a:rPr>
              <a:t>No existing tool combines a structured syllabus model, an honest progress calculation, offline-first operation and integrated study tooling in one application.</a:t>
            </a:r>
          </a:p>
        </p:txBody>
      </p:sp>
      <p:sp>
        <p:nvSpPr>
          <p:cNvPr id="29" name="TextBox 28"/>
          <p:cNvSpPr txBox="1"/>
          <p:nvPr/>
        </p:nvSpPr>
        <p:spPr>
          <a:xfrm>
            <a:off x="8193024" y="3529584"/>
            <a:ext cx="3200400" cy="822960"/>
          </a:xfrm>
          <a:prstGeom prst="rect">
            <a:avLst/>
          </a:prstGeom>
          <a:noFill/>
        </p:spPr>
        <p:txBody>
          <a:bodyPr wrap="square" lIns="0" rIns="0" tIns="0" bIns="0" anchor="t">
            <a:spAutoFit/>
          </a:bodyPr>
          <a:lstStyle/>
          <a:p>
            <a:pPr algn="l">
              <a:lnSpc>
                <a:spcPct val="122000"/>
              </a:lnSpc>
            </a:pPr>
            <a:r>
              <a:rPr sz="1150" b="0" i="0">
                <a:solidFill>
                  <a:srgbClr val="9BA7B4"/>
                </a:solidFill>
                <a:latin typeface="Calibri"/>
              </a:rPr>
              <a:t>So students run three or four apps that share no context — and the syllabus exists in none of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ONE APPLICATION, ONE STRUCTURE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Proposed Solution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8</a:t>
            </a:r>
          </a:p>
        </p:txBody>
      </p:sp>
      <p:sp>
        <p:nvSpPr>
          <p:cNvPr id="8" name="Rounded Rectangle 7"/>
          <p:cNvSpPr/>
          <p:nvPr/>
        </p:nvSpPr>
        <p:spPr>
          <a:xfrm>
            <a:off x="3703320" y="2688336"/>
            <a:ext cx="2286000" cy="841248"/>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SYLLABUS</a:t>
            </a:r>
          </a:p>
          <a:p>
            <a:pPr algn="ctr">
              <a:spcBef>
                <a:spcPts val="200"/>
              </a:spcBef>
            </a:pPr>
            <a:r>
              <a:rPr sz="900">
                <a:solidFill>
                  <a:srgbClr val="FFFFFF"/>
                </a:solidFill>
                <a:latin typeface="Calibri"/>
              </a:rPr>
              <a:t>Subject → Chapter → Topic</a:t>
            </a:r>
          </a:p>
        </p:txBody>
      </p:sp>
      <p:sp>
        <p:nvSpPr>
          <p:cNvPr id="9" name="Rounded Rectangle 8"/>
          <p:cNvSpPr/>
          <p:nvPr/>
        </p:nvSpPr>
        <p:spPr>
          <a:xfrm>
            <a:off x="566928" y="1389888"/>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13232" y="1572768"/>
            <a:ext cx="45720" cy="42062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536192"/>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Progress</a:t>
            </a:r>
          </a:p>
        </p:txBody>
      </p:sp>
      <p:sp>
        <p:nvSpPr>
          <p:cNvPr id="12" name="TextBox 11"/>
          <p:cNvSpPr txBox="1"/>
          <p:nvPr/>
        </p:nvSpPr>
        <p:spPr>
          <a:xfrm>
            <a:off x="877824" y="1810512"/>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topic-weighted</a:t>
            </a:r>
          </a:p>
        </p:txBody>
      </p:sp>
      <p:sp>
        <p:nvSpPr>
          <p:cNvPr id="13" name="Right Arrow 12"/>
          <p:cNvSpPr/>
          <p:nvPr/>
        </p:nvSpPr>
        <p:spPr>
          <a:xfrm>
            <a:off x="3035808" y="1719072"/>
            <a:ext cx="621792" cy="12801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322576"/>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13232" y="2505456"/>
            <a:ext cx="45720" cy="42062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2468880"/>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Sessions</a:t>
            </a:r>
          </a:p>
        </p:txBody>
      </p:sp>
      <p:sp>
        <p:nvSpPr>
          <p:cNvPr id="17" name="TextBox 16"/>
          <p:cNvSpPr txBox="1"/>
          <p:nvPr/>
        </p:nvSpPr>
        <p:spPr>
          <a:xfrm>
            <a:off x="877824" y="2743200"/>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3 timer modes</a:t>
            </a:r>
          </a:p>
        </p:txBody>
      </p:sp>
      <p:sp>
        <p:nvSpPr>
          <p:cNvPr id="18" name="Right Arrow 17"/>
          <p:cNvSpPr/>
          <p:nvPr/>
        </p:nvSpPr>
        <p:spPr>
          <a:xfrm>
            <a:off x="3035808" y="2651760"/>
            <a:ext cx="621792" cy="12801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3255264"/>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13232" y="3438144"/>
            <a:ext cx="45720" cy="42062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401568"/>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Flashcards</a:t>
            </a:r>
          </a:p>
        </p:txBody>
      </p:sp>
      <p:sp>
        <p:nvSpPr>
          <p:cNvPr id="22" name="TextBox 21"/>
          <p:cNvSpPr txBox="1"/>
          <p:nvPr/>
        </p:nvSpPr>
        <p:spPr>
          <a:xfrm>
            <a:off x="877824" y="3675888"/>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scheduled review</a:t>
            </a:r>
          </a:p>
        </p:txBody>
      </p:sp>
      <p:sp>
        <p:nvSpPr>
          <p:cNvPr id="23" name="Right Arrow 22"/>
          <p:cNvSpPr/>
          <p:nvPr/>
        </p:nvSpPr>
        <p:spPr>
          <a:xfrm>
            <a:off x="3035808" y="3584448"/>
            <a:ext cx="621792" cy="12801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19088" y="1389888"/>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565392" y="1572768"/>
            <a:ext cx="45720" cy="42062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9983" y="1536192"/>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Notes</a:t>
            </a:r>
          </a:p>
        </p:txBody>
      </p:sp>
      <p:sp>
        <p:nvSpPr>
          <p:cNvPr id="27" name="TextBox 26"/>
          <p:cNvSpPr txBox="1"/>
          <p:nvPr/>
        </p:nvSpPr>
        <p:spPr>
          <a:xfrm>
            <a:off x="6729983" y="1810512"/>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per topic</a:t>
            </a:r>
          </a:p>
        </p:txBody>
      </p:sp>
      <p:sp>
        <p:nvSpPr>
          <p:cNvPr id="28" name="Left Arrow 27"/>
          <p:cNvSpPr/>
          <p:nvPr/>
        </p:nvSpPr>
        <p:spPr>
          <a:xfrm>
            <a:off x="6035040" y="1719072"/>
            <a:ext cx="329184" cy="128016"/>
          </a:xfrm>
          <a:prstGeom prst="lef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19088" y="2322576"/>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565392" y="2505456"/>
            <a:ext cx="45720" cy="42062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983" y="2468880"/>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Reminders</a:t>
            </a:r>
          </a:p>
        </p:txBody>
      </p:sp>
      <p:sp>
        <p:nvSpPr>
          <p:cNvPr id="32" name="TextBox 31"/>
          <p:cNvSpPr txBox="1"/>
          <p:nvPr/>
        </p:nvSpPr>
        <p:spPr>
          <a:xfrm>
            <a:off x="6729983" y="2743200"/>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student-set only</a:t>
            </a:r>
          </a:p>
        </p:txBody>
      </p:sp>
      <p:sp>
        <p:nvSpPr>
          <p:cNvPr id="33" name="Left Arrow 32"/>
          <p:cNvSpPr/>
          <p:nvPr/>
        </p:nvSpPr>
        <p:spPr>
          <a:xfrm>
            <a:off x="6035040" y="2651760"/>
            <a:ext cx="329184" cy="128016"/>
          </a:xfrm>
          <a:prstGeom prst="lef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19088" y="3255264"/>
            <a:ext cx="2395728"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565392" y="3438144"/>
            <a:ext cx="45720" cy="42062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29983" y="3401568"/>
            <a:ext cx="2011680"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AI Assistant</a:t>
            </a:r>
          </a:p>
        </p:txBody>
      </p:sp>
      <p:sp>
        <p:nvSpPr>
          <p:cNvPr id="37" name="TextBox 36"/>
          <p:cNvSpPr txBox="1"/>
          <p:nvPr/>
        </p:nvSpPr>
        <p:spPr>
          <a:xfrm>
            <a:off x="6729983" y="3675888"/>
            <a:ext cx="2011680" cy="219456"/>
          </a:xfrm>
          <a:prstGeom prst="rect">
            <a:avLst/>
          </a:prstGeom>
          <a:noFill/>
        </p:spPr>
        <p:txBody>
          <a:bodyPr wrap="square" lIns="0" rIns="0" tIns="0" bIns="0" anchor="t">
            <a:spAutoFit/>
          </a:bodyPr>
          <a:lstStyle/>
          <a:p>
            <a:pPr algn="l">
              <a:lnSpc>
                <a:spcPct val="100000"/>
              </a:lnSpc>
            </a:pPr>
            <a:r>
              <a:rPr sz="1000" b="0" i="0">
                <a:solidFill>
                  <a:srgbClr val="6B7684"/>
                </a:solidFill>
                <a:latin typeface="Calibri"/>
              </a:rPr>
              <a:t>explain · quiz</a:t>
            </a:r>
          </a:p>
        </p:txBody>
      </p:sp>
      <p:sp>
        <p:nvSpPr>
          <p:cNvPr id="38" name="Left Arrow 37"/>
          <p:cNvSpPr/>
          <p:nvPr/>
        </p:nvSpPr>
        <p:spPr>
          <a:xfrm>
            <a:off x="6035040" y="3584448"/>
            <a:ext cx="329184" cy="128016"/>
          </a:xfrm>
          <a:prstGeom prst="lef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8368" y="4389120"/>
            <a:ext cx="2581579" cy="713232"/>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41247" y="4681728"/>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5" y="4562856"/>
            <a:ext cx="2032939" cy="438912"/>
          </a:xfrm>
          <a:prstGeom prst="rect">
            <a:avLst/>
          </a:prstGeom>
          <a:noFill/>
        </p:spPr>
        <p:txBody>
          <a:bodyPr wrap="square" lIns="0" rIns="0" tIns="0" bIns="0" anchor="t">
            <a:spAutoFit/>
          </a:bodyPr>
          <a:lstStyle/>
          <a:p>
            <a:pPr algn="l">
              <a:lnSpc>
                <a:spcPct val="112000"/>
              </a:lnSpc>
            </a:pPr>
            <a:r>
              <a:rPr sz="1100" b="1" i="0">
                <a:solidFill>
                  <a:srgbClr val="0B0F14"/>
                </a:solidFill>
                <a:latin typeface="Calibri"/>
              </a:rPr>
              <a:t>Local database is the source of truth</a:t>
            </a:r>
          </a:p>
        </p:txBody>
      </p:sp>
      <p:sp>
        <p:nvSpPr>
          <p:cNvPr id="42" name="Rounded Rectangle 41"/>
          <p:cNvSpPr/>
          <p:nvPr/>
        </p:nvSpPr>
        <p:spPr>
          <a:xfrm>
            <a:off x="3422827" y="4389120"/>
            <a:ext cx="2581579" cy="713232"/>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3605707" y="4681728"/>
            <a:ext cx="100584" cy="10058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06875" y="4562856"/>
            <a:ext cx="2032939" cy="438912"/>
          </a:xfrm>
          <a:prstGeom prst="rect">
            <a:avLst/>
          </a:prstGeom>
          <a:noFill/>
        </p:spPr>
        <p:txBody>
          <a:bodyPr wrap="square" lIns="0" rIns="0" tIns="0" bIns="0" anchor="t">
            <a:spAutoFit/>
          </a:bodyPr>
          <a:lstStyle/>
          <a:p>
            <a:pPr algn="l">
              <a:lnSpc>
                <a:spcPct val="112000"/>
              </a:lnSpc>
            </a:pPr>
            <a:r>
              <a:rPr sz="1100" b="1" i="0">
                <a:solidFill>
                  <a:srgbClr val="0B0F14"/>
                </a:solidFill>
                <a:latin typeface="Calibri"/>
              </a:rPr>
              <a:t>Progress computed in exactly one place</a:t>
            </a:r>
          </a:p>
        </p:txBody>
      </p:sp>
      <p:sp>
        <p:nvSpPr>
          <p:cNvPr id="45" name="Rounded Rectangle 44"/>
          <p:cNvSpPr/>
          <p:nvPr/>
        </p:nvSpPr>
        <p:spPr>
          <a:xfrm>
            <a:off x="6187287" y="4389120"/>
            <a:ext cx="2581579" cy="713232"/>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370167" y="4681728"/>
            <a:ext cx="100584" cy="100584"/>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71335" y="4562856"/>
            <a:ext cx="2032939" cy="438912"/>
          </a:xfrm>
          <a:prstGeom prst="rect">
            <a:avLst/>
          </a:prstGeom>
          <a:noFill/>
        </p:spPr>
        <p:txBody>
          <a:bodyPr wrap="square" lIns="0" rIns="0" tIns="0" bIns="0" anchor="t">
            <a:spAutoFit/>
          </a:bodyPr>
          <a:lstStyle/>
          <a:p>
            <a:pPr algn="l">
              <a:lnSpc>
                <a:spcPct val="112000"/>
              </a:lnSpc>
            </a:pPr>
            <a:r>
              <a:rPr sz="1100" b="1" i="0">
                <a:solidFill>
                  <a:srgbClr val="0B0F14"/>
                </a:solidFill>
                <a:latin typeface="Calibri"/>
              </a:rPr>
              <a:t>AI may propose, never apply</a:t>
            </a:r>
          </a:p>
        </p:txBody>
      </p:sp>
      <p:sp>
        <p:nvSpPr>
          <p:cNvPr id="48" name="Rounded Rectangle 47"/>
          <p:cNvSpPr/>
          <p:nvPr/>
        </p:nvSpPr>
        <p:spPr>
          <a:xfrm>
            <a:off x="8951747" y="4389120"/>
            <a:ext cx="2581579" cy="713232"/>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9134627" y="4681728"/>
            <a:ext cx="100584" cy="100584"/>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35795" y="4562856"/>
            <a:ext cx="2032939" cy="438912"/>
          </a:xfrm>
          <a:prstGeom prst="rect">
            <a:avLst/>
          </a:prstGeom>
          <a:noFill/>
        </p:spPr>
        <p:txBody>
          <a:bodyPr wrap="square" lIns="0" rIns="0" tIns="0" bIns="0" anchor="t">
            <a:spAutoFit/>
          </a:bodyPr>
          <a:lstStyle/>
          <a:p>
            <a:pPr algn="l">
              <a:lnSpc>
                <a:spcPct val="112000"/>
              </a:lnSpc>
            </a:pPr>
            <a:r>
              <a:rPr sz="1100" b="1" i="0">
                <a:solidFill>
                  <a:srgbClr val="0B0F14"/>
                </a:solidFill>
                <a:latin typeface="Calibri"/>
              </a:rPr>
              <a:t>Secrets never reach the device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HOW THE HIERARCHY IS COUNTED</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Syllabus Structure and Progress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9</a:t>
            </a:r>
          </a:p>
        </p:txBody>
      </p:sp>
      <p:sp>
        <p:nvSpPr>
          <p:cNvPr id="8" name="Rounded Rectangle 7"/>
          <p:cNvSpPr/>
          <p:nvPr/>
        </p:nvSpPr>
        <p:spPr>
          <a:xfrm>
            <a:off x="658368" y="1389888"/>
            <a:ext cx="3931920" cy="54864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86384" y="1508760"/>
            <a:ext cx="45720" cy="310896"/>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481328"/>
            <a:ext cx="1371600" cy="219456"/>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SUBJECT</a:t>
            </a:r>
          </a:p>
        </p:txBody>
      </p:sp>
      <p:sp>
        <p:nvSpPr>
          <p:cNvPr id="11" name="TextBox 10"/>
          <p:cNvSpPr txBox="1"/>
          <p:nvPr/>
        </p:nvSpPr>
        <p:spPr>
          <a:xfrm>
            <a:off x="932688" y="1664208"/>
            <a:ext cx="2377440" cy="237744"/>
          </a:xfrm>
          <a:prstGeom prst="rect">
            <a:avLst/>
          </a:prstGeom>
          <a:noFill/>
        </p:spPr>
        <p:txBody>
          <a:bodyPr wrap="square" lIns="0" rIns="0" tIns="0" bIns="0" anchor="t">
            <a:spAutoFit/>
          </a:bodyPr>
          <a:lstStyle/>
          <a:p>
            <a:pPr algn="l">
              <a:lnSpc>
                <a:spcPct val="100000"/>
              </a:lnSpc>
            </a:pPr>
            <a:r>
              <a:rPr sz="1200" b="0" i="0">
                <a:solidFill>
                  <a:srgbClr val="0B0F14"/>
                </a:solidFill>
                <a:latin typeface="Calibri"/>
              </a:rPr>
              <a:t>Mathematics</a:t>
            </a:r>
          </a:p>
        </p:txBody>
      </p:sp>
      <p:sp>
        <p:nvSpPr>
          <p:cNvPr id="12" name="Down Arrow 11"/>
          <p:cNvSpPr/>
          <p:nvPr/>
        </p:nvSpPr>
        <p:spPr>
          <a:xfrm>
            <a:off x="932688" y="1956816"/>
            <a:ext cx="128016" cy="128016"/>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60704" y="2103120"/>
            <a:ext cx="3529584" cy="54864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188719" y="2221991"/>
            <a:ext cx="45720" cy="310896"/>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35024" y="2194560"/>
            <a:ext cx="1371600" cy="219456"/>
          </a:xfrm>
          <a:prstGeom prst="rect">
            <a:avLst/>
          </a:prstGeom>
          <a:noFill/>
        </p:spPr>
        <p:txBody>
          <a:bodyPr wrap="square" lIns="0" rIns="0" tIns="0" bIns="0" anchor="t">
            <a:spAutoFit/>
          </a:bodyPr>
          <a:lstStyle/>
          <a:p>
            <a:pPr algn="l">
              <a:lnSpc>
                <a:spcPct val="100000"/>
              </a:lnSpc>
            </a:pPr>
            <a:r>
              <a:rPr sz="950" b="1" i="0">
                <a:solidFill>
                  <a:srgbClr val="A855F7"/>
                </a:solidFill>
                <a:latin typeface="Calibri"/>
              </a:rPr>
              <a:t>CHAPTER</a:t>
            </a:r>
          </a:p>
        </p:txBody>
      </p:sp>
      <p:sp>
        <p:nvSpPr>
          <p:cNvPr id="16" name="TextBox 15"/>
          <p:cNvSpPr txBox="1"/>
          <p:nvPr/>
        </p:nvSpPr>
        <p:spPr>
          <a:xfrm>
            <a:off x="1335024" y="2377439"/>
            <a:ext cx="2377440" cy="237744"/>
          </a:xfrm>
          <a:prstGeom prst="rect">
            <a:avLst/>
          </a:prstGeom>
          <a:noFill/>
        </p:spPr>
        <p:txBody>
          <a:bodyPr wrap="square" lIns="0" rIns="0" tIns="0" bIns="0" anchor="t">
            <a:spAutoFit/>
          </a:bodyPr>
          <a:lstStyle/>
          <a:p>
            <a:pPr algn="l">
              <a:lnSpc>
                <a:spcPct val="100000"/>
              </a:lnSpc>
            </a:pPr>
            <a:r>
              <a:rPr sz="1200" b="0" i="0">
                <a:solidFill>
                  <a:srgbClr val="0B0F14"/>
                </a:solidFill>
                <a:latin typeface="Calibri"/>
              </a:rPr>
              <a:t>Trigonometry</a:t>
            </a:r>
          </a:p>
        </p:txBody>
      </p:sp>
      <p:sp>
        <p:nvSpPr>
          <p:cNvPr id="17" name="Down Arrow 16"/>
          <p:cNvSpPr/>
          <p:nvPr/>
        </p:nvSpPr>
        <p:spPr>
          <a:xfrm>
            <a:off x="1335024" y="2670048"/>
            <a:ext cx="128016" cy="128016"/>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63040" y="2816352"/>
            <a:ext cx="3127248" cy="54864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591056" y="2935224"/>
            <a:ext cx="45720" cy="3108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7360" y="2907792"/>
            <a:ext cx="1371600" cy="219456"/>
          </a:xfrm>
          <a:prstGeom prst="rect">
            <a:avLst/>
          </a:prstGeom>
          <a:noFill/>
        </p:spPr>
        <p:txBody>
          <a:bodyPr wrap="square" lIns="0" rIns="0" tIns="0" bIns="0" anchor="t">
            <a:spAutoFit/>
          </a:bodyPr>
          <a:lstStyle/>
          <a:p>
            <a:pPr algn="l">
              <a:lnSpc>
                <a:spcPct val="100000"/>
              </a:lnSpc>
            </a:pPr>
            <a:r>
              <a:rPr sz="950" b="1" i="0">
                <a:solidFill>
                  <a:srgbClr val="10B981"/>
                </a:solidFill>
                <a:latin typeface="Calibri"/>
              </a:rPr>
              <a:t>TOPIC</a:t>
            </a:r>
          </a:p>
        </p:txBody>
      </p:sp>
      <p:sp>
        <p:nvSpPr>
          <p:cNvPr id="21" name="TextBox 20"/>
          <p:cNvSpPr txBox="1"/>
          <p:nvPr/>
        </p:nvSpPr>
        <p:spPr>
          <a:xfrm>
            <a:off x="1737360" y="3090672"/>
            <a:ext cx="2377440" cy="237744"/>
          </a:xfrm>
          <a:prstGeom prst="rect">
            <a:avLst/>
          </a:prstGeom>
          <a:noFill/>
        </p:spPr>
        <p:txBody>
          <a:bodyPr wrap="square" lIns="0" rIns="0" tIns="0" bIns="0" anchor="t">
            <a:spAutoFit/>
          </a:bodyPr>
          <a:lstStyle/>
          <a:p>
            <a:pPr algn="l">
              <a:lnSpc>
                <a:spcPct val="100000"/>
              </a:lnSpc>
            </a:pPr>
            <a:r>
              <a:rPr sz="1200" b="0" i="0">
                <a:solidFill>
                  <a:srgbClr val="0B0F14"/>
                </a:solidFill>
                <a:latin typeface="Calibri"/>
              </a:rPr>
              <a:t>Identities</a:t>
            </a:r>
          </a:p>
        </p:txBody>
      </p:sp>
      <p:sp>
        <p:nvSpPr>
          <p:cNvPr id="22" name="Down Arrow 21"/>
          <p:cNvSpPr/>
          <p:nvPr/>
        </p:nvSpPr>
        <p:spPr>
          <a:xfrm>
            <a:off x="1737360" y="3383280"/>
            <a:ext cx="128016" cy="128016"/>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865376" y="3529584"/>
            <a:ext cx="2724911" cy="54864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993392" y="3648456"/>
            <a:ext cx="45720" cy="31089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39696" y="3621024"/>
            <a:ext cx="1371600" cy="219456"/>
          </a:xfrm>
          <a:prstGeom prst="rect">
            <a:avLst/>
          </a:prstGeom>
          <a:noFill/>
        </p:spPr>
        <p:txBody>
          <a:bodyPr wrap="square" lIns="0" rIns="0" tIns="0" bIns="0" anchor="t">
            <a:spAutoFit/>
          </a:bodyPr>
          <a:lstStyle/>
          <a:p>
            <a:pPr algn="l">
              <a:lnSpc>
                <a:spcPct val="100000"/>
              </a:lnSpc>
            </a:pPr>
            <a:r>
              <a:rPr sz="950" b="1" i="0">
                <a:solidFill>
                  <a:srgbClr val="F59E0B"/>
                </a:solidFill>
                <a:latin typeface="Calibri"/>
              </a:rPr>
              <a:t>SUB-TOPIC</a:t>
            </a:r>
          </a:p>
        </p:txBody>
      </p:sp>
      <p:sp>
        <p:nvSpPr>
          <p:cNvPr id="26" name="TextBox 25"/>
          <p:cNvSpPr txBox="1"/>
          <p:nvPr/>
        </p:nvSpPr>
        <p:spPr>
          <a:xfrm>
            <a:off x="2139696" y="3803904"/>
            <a:ext cx="2377440" cy="237744"/>
          </a:xfrm>
          <a:prstGeom prst="rect">
            <a:avLst/>
          </a:prstGeom>
          <a:noFill/>
        </p:spPr>
        <p:txBody>
          <a:bodyPr wrap="square" lIns="0" rIns="0" tIns="0" bIns="0" anchor="t">
            <a:spAutoFit/>
          </a:bodyPr>
          <a:lstStyle/>
          <a:p>
            <a:pPr algn="l">
              <a:lnSpc>
                <a:spcPct val="100000"/>
              </a:lnSpc>
            </a:pPr>
            <a:r>
              <a:rPr sz="1200" b="0" i="0">
                <a:solidFill>
                  <a:srgbClr val="0B0F14"/>
                </a:solidFill>
                <a:latin typeface="Calibri"/>
              </a:rPr>
              <a:t>optional fourth level</a:t>
            </a:r>
          </a:p>
        </p:txBody>
      </p:sp>
      <p:sp>
        <p:nvSpPr>
          <p:cNvPr id="27" name="Rounded Rectangle 26"/>
          <p:cNvSpPr/>
          <p:nvPr/>
        </p:nvSpPr>
        <p:spPr>
          <a:xfrm>
            <a:off x="4892040" y="1389888"/>
            <a:ext cx="6641287"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5093207" y="1609344"/>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088" y="1563624"/>
            <a:ext cx="60743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Topic-weighted</a:t>
            </a:r>
          </a:p>
        </p:txBody>
      </p:sp>
      <p:sp>
        <p:nvSpPr>
          <p:cNvPr id="30" name="TextBox 29"/>
          <p:cNvSpPr txBox="1"/>
          <p:nvPr/>
        </p:nvSpPr>
        <p:spPr>
          <a:xfrm>
            <a:off x="5111496" y="1956816"/>
            <a:ext cx="6202375" cy="54863"/>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Subject progress is all completed units ÷ all units — never the mean of chapter percentages.</a:t>
            </a:r>
          </a:p>
        </p:txBody>
      </p:sp>
      <p:sp>
        <p:nvSpPr>
          <p:cNvPr id="31" name="Rounded Rectangle 30"/>
          <p:cNvSpPr/>
          <p:nvPr/>
        </p:nvSpPr>
        <p:spPr>
          <a:xfrm>
            <a:off x="4892040" y="2286000"/>
            <a:ext cx="6641287"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5093207" y="2505456"/>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76088" y="2459736"/>
            <a:ext cx="60743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Empty is not zero</a:t>
            </a:r>
          </a:p>
        </p:txBody>
      </p:sp>
      <p:sp>
        <p:nvSpPr>
          <p:cNvPr id="34" name="TextBox 33"/>
          <p:cNvSpPr txBox="1"/>
          <p:nvPr/>
        </p:nvSpPr>
        <p:spPr>
          <a:xfrm>
            <a:off x="5111496" y="2852928"/>
            <a:ext cx="6202375" cy="54863"/>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A chapter with no topics reports “—”, not 0%. It is unmeasured, not unstarted.</a:t>
            </a:r>
          </a:p>
        </p:txBody>
      </p:sp>
      <p:sp>
        <p:nvSpPr>
          <p:cNvPr id="35" name="Rounded Rectangle 34"/>
          <p:cNvSpPr/>
          <p:nvPr/>
        </p:nvSpPr>
        <p:spPr>
          <a:xfrm>
            <a:off x="4892040" y="3182112"/>
            <a:ext cx="6641287"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5093207" y="3401568"/>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76088" y="3355848"/>
            <a:ext cx="60743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Sub-topics become the unit</a:t>
            </a:r>
          </a:p>
        </p:txBody>
      </p:sp>
      <p:sp>
        <p:nvSpPr>
          <p:cNvPr id="38" name="TextBox 37"/>
          <p:cNvSpPr txBox="1"/>
          <p:nvPr/>
        </p:nvSpPr>
        <p:spPr>
          <a:xfrm>
            <a:off x="5111496" y="3749039"/>
            <a:ext cx="6202375" cy="54863"/>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A topic split into four parts weighs four times one that is not — it is four times the work.</a:t>
            </a:r>
          </a:p>
        </p:txBody>
      </p:sp>
      <p:sp>
        <p:nvSpPr>
          <p:cNvPr id="39" name="Rounded Rectangle 38"/>
          <p:cNvSpPr/>
          <p:nvPr/>
        </p:nvSpPr>
        <p:spPr>
          <a:xfrm>
            <a:off x="4892040" y="4078224"/>
            <a:ext cx="6641287"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5093207" y="4297680"/>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76088" y="4251960"/>
            <a:ext cx="6074359"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Rounding is honest</a:t>
            </a:r>
          </a:p>
        </p:txBody>
      </p:sp>
      <p:sp>
        <p:nvSpPr>
          <p:cNvPr id="42" name="TextBox 41"/>
          <p:cNvSpPr txBox="1"/>
          <p:nvPr/>
        </p:nvSpPr>
        <p:spPr>
          <a:xfrm>
            <a:off x="5111496" y="4645152"/>
            <a:ext cx="6202375" cy="54863"/>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9,999 of 10,000 topics displays as 99%, never a falsely triumphant 100%.</a:t>
            </a:r>
          </a:p>
        </p:txBody>
      </p:sp>
      <p:sp>
        <p:nvSpPr>
          <p:cNvPr id="43" name="TextBox 42"/>
          <p:cNvSpPr txBox="1"/>
          <p:nvPr/>
        </p:nvSpPr>
        <p:spPr>
          <a:xfrm>
            <a:off x="658368" y="5065775"/>
            <a:ext cx="3931920" cy="548640"/>
          </a:xfrm>
          <a:prstGeom prst="rect">
            <a:avLst/>
          </a:prstGeom>
          <a:noFill/>
        </p:spPr>
        <p:txBody>
          <a:bodyPr wrap="square" lIns="0" rIns="0" tIns="0" bIns="0" anchor="t">
            <a:spAutoFit/>
          </a:bodyPr>
          <a:lstStyle/>
          <a:p>
            <a:pPr algn="l">
              <a:lnSpc>
                <a:spcPct val="120000"/>
              </a:lnSpc>
            </a:pPr>
            <a:r>
              <a:rPr sz="1100" b="0" i="1">
                <a:solidFill>
                  <a:srgbClr val="6B7684"/>
                </a:solidFill>
                <a:latin typeface="Calibri"/>
              </a:rPr>
              <a:t>All five figures — topic, chapter, subject, overall and dashboard — are derived from a single traversal, so they cannot disagree.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RECORDING TIME THAT ACTUALLY HAPPENED</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Study Timers and Sessions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10</a:t>
            </a:r>
          </a:p>
        </p:txBody>
      </p:sp>
      <p:sp>
        <p:nvSpPr>
          <p:cNvPr id="8" name="Rounded Rectangle 7"/>
          <p:cNvSpPr/>
          <p:nvPr/>
        </p:nvSpPr>
        <p:spPr>
          <a:xfrm>
            <a:off x="658368" y="1389888"/>
            <a:ext cx="2121408" cy="89611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1554480"/>
            <a:ext cx="1755648" cy="274320"/>
          </a:xfrm>
          <a:prstGeom prst="rect">
            <a:avLst/>
          </a:prstGeom>
          <a:noFill/>
        </p:spPr>
        <p:txBody>
          <a:bodyPr wrap="square" lIns="0" rIns="0" tIns="0" bIns="0" anchor="t">
            <a:spAutoFit/>
          </a:bodyPr>
          <a:lstStyle/>
          <a:p>
            <a:pPr algn="l">
              <a:lnSpc>
                <a:spcPct val="100000"/>
              </a:lnSpc>
            </a:pPr>
            <a:r>
              <a:rPr sz="1400" b="1" i="0">
                <a:solidFill>
                  <a:srgbClr val="3B82F6"/>
                </a:solidFill>
                <a:latin typeface="Calibri"/>
              </a:rPr>
              <a:t>Stopwatch</a:t>
            </a:r>
          </a:p>
        </p:txBody>
      </p:sp>
      <p:sp>
        <p:nvSpPr>
          <p:cNvPr id="10" name="TextBox 9"/>
          <p:cNvSpPr txBox="1"/>
          <p:nvPr/>
        </p:nvSpPr>
        <p:spPr>
          <a:xfrm>
            <a:off x="877824" y="1883664"/>
            <a:ext cx="1755648" cy="237744"/>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Counts up, no limit</a:t>
            </a:r>
          </a:p>
        </p:txBody>
      </p:sp>
      <p:sp>
        <p:nvSpPr>
          <p:cNvPr id="11" name="Rounded Rectangle 10"/>
          <p:cNvSpPr/>
          <p:nvPr/>
        </p:nvSpPr>
        <p:spPr>
          <a:xfrm>
            <a:off x="2980944" y="1389888"/>
            <a:ext cx="2121408" cy="89611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00400" y="1554480"/>
            <a:ext cx="1755648" cy="274320"/>
          </a:xfrm>
          <a:prstGeom prst="rect">
            <a:avLst/>
          </a:prstGeom>
          <a:noFill/>
        </p:spPr>
        <p:txBody>
          <a:bodyPr wrap="square" lIns="0" rIns="0" tIns="0" bIns="0" anchor="t">
            <a:spAutoFit/>
          </a:bodyPr>
          <a:lstStyle/>
          <a:p>
            <a:pPr algn="l">
              <a:lnSpc>
                <a:spcPct val="100000"/>
              </a:lnSpc>
            </a:pPr>
            <a:r>
              <a:rPr sz="1400" b="1" i="0">
                <a:solidFill>
                  <a:srgbClr val="A855F7"/>
                </a:solidFill>
                <a:latin typeface="Calibri"/>
              </a:rPr>
              <a:t>Pomodoro</a:t>
            </a:r>
          </a:p>
        </p:txBody>
      </p:sp>
      <p:sp>
        <p:nvSpPr>
          <p:cNvPr id="13" name="TextBox 12"/>
          <p:cNvSpPr txBox="1"/>
          <p:nvPr/>
        </p:nvSpPr>
        <p:spPr>
          <a:xfrm>
            <a:off x="3200400" y="1883664"/>
            <a:ext cx="1755648" cy="237744"/>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25 / 5 / 15, configurable</a:t>
            </a:r>
          </a:p>
        </p:txBody>
      </p:sp>
      <p:sp>
        <p:nvSpPr>
          <p:cNvPr id="14" name="Rounded Rectangle 13"/>
          <p:cNvSpPr/>
          <p:nvPr/>
        </p:nvSpPr>
        <p:spPr>
          <a:xfrm>
            <a:off x="5303520" y="1389888"/>
            <a:ext cx="2121408" cy="89611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22976" y="1554480"/>
            <a:ext cx="1755648" cy="274320"/>
          </a:xfrm>
          <a:prstGeom prst="rect">
            <a:avLst/>
          </a:prstGeom>
          <a:noFill/>
        </p:spPr>
        <p:txBody>
          <a:bodyPr wrap="square" lIns="0" rIns="0" tIns="0" bIns="0" anchor="t">
            <a:spAutoFit/>
          </a:bodyPr>
          <a:lstStyle/>
          <a:p>
            <a:pPr algn="l">
              <a:lnSpc>
                <a:spcPct val="100000"/>
              </a:lnSpc>
            </a:pPr>
            <a:r>
              <a:rPr sz="1400" b="1" i="0">
                <a:solidFill>
                  <a:srgbClr val="10B981"/>
                </a:solidFill>
                <a:latin typeface="Calibri"/>
              </a:rPr>
              <a:t>Custom</a:t>
            </a:r>
          </a:p>
        </p:txBody>
      </p:sp>
      <p:sp>
        <p:nvSpPr>
          <p:cNvPr id="16" name="TextBox 15"/>
          <p:cNvSpPr txBox="1"/>
          <p:nvPr/>
        </p:nvSpPr>
        <p:spPr>
          <a:xfrm>
            <a:off x="5522976" y="1883664"/>
            <a:ext cx="1755648" cy="237744"/>
          </a:xfrm>
          <a:prstGeom prst="rect">
            <a:avLst/>
          </a:prstGeom>
          <a:noFill/>
        </p:spPr>
        <p:txBody>
          <a:bodyPr wrap="square" lIns="0" rIns="0" tIns="0" bIns="0" anchor="t">
            <a:spAutoFit/>
          </a:bodyPr>
          <a:lstStyle/>
          <a:p>
            <a:pPr algn="l">
              <a:lnSpc>
                <a:spcPct val="100000"/>
              </a:lnSpc>
            </a:pPr>
            <a:r>
              <a:rPr sz="1050" b="0" i="0">
                <a:solidFill>
                  <a:srgbClr val="4A5568"/>
                </a:solidFill>
                <a:latin typeface="Calibri"/>
              </a:rPr>
              <a:t>Any countdown, 1–480 min</a:t>
            </a:r>
          </a:p>
        </p:txBody>
      </p:sp>
      <p:sp>
        <p:nvSpPr>
          <p:cNvPr id="17" name="Rounded Rectangle 16"/>
          <p:cNvSpPr/>
          <p:nvPr/>
        </p:nvSpPr>
        <p:spPr>
          <a:xfrm>
            <a:off x="658368" y="2505456"/>
            <a:ext cx="6766560" cy="133502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59536" y="2724912"/>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5" y="2679192"/>
            <a:ext cx="6199632"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Elapsed time is derived, never accumulated</a:t>
            </a:r>
          </a:p>
        </p:txBody>
      </p:sp>
      <p:sp>
        <p:nvSpPr>
          <p:cNvPr id="20" name="TextBox 19"/>
          <p:cNvSpPr txBox="1"/>
          <p:nvPr/>
        </p:nvSpPr>
        <p:spPr>
          <a:xfrm>
            <a:off x="877824" y="3072384"/>
            <a:ext cx="6327648" cy="603503"/>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Time is computed from timestamps — now − startedAt + banked — not by a counter ticking each second.</a:t>
            </a:r>
          </a:p>
          <a:p>
            <a:pPr>
              <a:lnSpc>
                <a:spcPct val="118000"/>
              </a:lnSpc>
              <a:spcAft>
                <a:spcPts val="400"/>
              </a:spcAft>
            </a:pPr>
            <a:r>
              <a:rPr sz="1100" b="0">
                <a:solidFill>
                  <a:srgbClr val="4A5568"/>
                </a:solidFill>
                <a:latin typeface="Calibri"/>
              </a:rPr>
              <a:t>Android suspends background processes. A ticking counter stops when the screen locks and would silently under-report the session. Deriving from a start timestamp survives backgrounding and process death.</a:t>
            </a:r>
          </a:p>
        </p:txBody>
      </p:sp>
      <p:sp>
        <p:nvSpPr>
          <p:cNvPr id="21" name="Rounded Rectangle 20"/>
          <p:cNvSpPr/>
          <p:nvPr/>
        </p:nvSpPr>
        <p:spPr>
          <a:xfrm>
            <a:off x="658368" y="4023360"/>
            <a:ext cx="3273552" cy="120700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59536" y="4242816"/>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5" y="4197096"/>
            <a:ext cx="2706624"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Breaks are not study time</a:t>
            </a:r>
          </a:p>
        </p:txBody>
      </p:sp>
      <p:sp>
        <p:nvSpPr>
          <p:cNvPr id="24" name="TextBox 23"/>
          <p:cNvSpPr txBox="1"/>
          <p:nvPr/>
        </p:nvSpPr>
        <p:spPr>
          <a:xfrm>
            <a:off x="877824" y="4590288"/>
            <a:ext cx="2834640" cy="475488"/>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Pomodoro break phases are excluded from recorded duration. Counting them would inflate “total time studied” and make the figure meaningless.</a:t>
            </a:r>
          </a:p>
        </p:txBody>
      </p:sp>
      <p:sp>
        <p:nvSpPr>
          <p:cNvPr id="25" name="Rounded Rectangle 24"/>
          <p:cNvSpPr/>
          <p:nvPr/>
        </p:nvSpPr>
        <p:spPr>
          <a:xfrm>
            <a:off x="4151376" y="4023360"/>
            <a:ext cx="3273552" cy="120700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352544" y="4242816"/>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5424" y="4197096"/>
            <a:ext cx="2706624" cy="292608"/>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Interrupted sessions survive</a:t>
            </a:r>
          </a:p>
        </p:txBody>
      </p:sp>
      <p:sp>
        <p:nvSpPr>
          <p:cNvPr id="28" name="TextBox 27"/>
          <p:cNvSpPr txBox="1"/>
          <p:nvPr/>
        </p:nvSpPr>
        <p:spPr>
          <a:xfrm>
            <a:off x="4370832" y="4590288"/>
            <a:ext cx="2834640" cy="475488"/>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A session killed by the OS is recorded as “abandoned” with the last heartbeat's duration — a crash costs one interval, not the whole sitting.</a:t>
            </a:r>
          </a:p>
        </p:txBody>
      </p:sp>
      <p:pic>
        <p:nvPicPr>
          <p:cNvPr id="29" name="Picture 28" descr="timer.png"/>
          <p:cNvPicPr>
            <a:picLocks noChangeAspect="1"/>
          </p:cNvPicPr>
          <p:nvPr/>
        </p:nvPicPr>
        <p:blipFill>
          <a:blip r:embed="rId3"/>
          <a:stretch>
            <a:fillRect/>
          </a:stretch>
        </p:blipFill>
        <p:spPr>
          <a:xfrm>
            <a:off x="8138160" y="1316736"/>
            <a:ext cx="1943148" cy="4480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REVISION BOUND TO THE SYLLABUS</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Flashcards and Review Scheduling</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11</a:t>
            </a:r>
          </a:p>
        </p:txBody>
      </p:sp>
      <p:sp>
        <p:nvSpPr>
          <p:cNvPr id="8" name="Rounded Rectangle 7"/>
          <p:cNvSpPr/>
          <p:nvPr/>
        </p:nvSpPr>
        <p:spPr>
          <a:xfrm>
            <a:off x="658368" y="1389888"/>
            <a:ext cx="6766560" cy="107899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59536" y="1609344"/>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563624"/>
            <a:ext cx="6199632"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How review works today</a:t>
            </a:r>
          </a:p>
        </p:txBody>
      </p:sp>
      <p:sp>
        <p:nvSpPr>
          <p:cNvPr id="11" name="TextBox 10"/>
          <p:cNvSpPr txBox="1"/>
          <p:nvPr/>
        </p:nvSpPr>
        <p:spPr>
          <a:xfrm>
            <a:off x="877824" y="1956816"/>
            <a:ext cx="6327648" cy="347471"/>
          </a:xfrm>
          <a:prstGeom prst="rect">
            <a:avLst/>
          </a:prstGeom>
          <a:noFill/>
        </p:spPr>
        <p:txBody>
          <a:bodyPr wrap="square" lIns="0" rIns="0" tIns="0" bIns="0">
            <a:spAutoFit/>
          </a:bodyPr>
          <a:lstStyle/>
          <a:p>
            <a:pPr>
              <a:lnSpc>
                <a:spcPct val="118000"/>
              </a:lnSpc>
              <a:spcAft>
                <a:spcPts val="400"/>
              </a:spcAft>
            </a:pPr>
            <a:r>
              <a:rPr sz="1150" b="0">
                <a:solidFill>
                  <a:srgbClr val="4A5568"/>
                </a:solidFill>
                <a:latin typeface="Calibri"/>
              </a:rPr>
              <a:t>After seeing the answer, the student picks one of four fixed intervals. The card returns after that interval.</a:t>
            </a:r>
          </a:p>
        </p:txBody>
      </p:sp>
      <p:sp>
        <p:nvSpPr>
          <p:cNvPr id="12" name="Rounded Rectangle 11"/>
          <p:cNvSpPr/>
          <p:nvPr/>
        </p:nvSpPr>
        <p:spPr>
          <a:xfrm>
            <a:off x="658368" y="2633472"/>
            <a:ext cx="1536192" cy="603504"/>
          </a:xfrm>
          <a:prstGeom prst="roundRect">
            <a:avLst>
              <a:gd name="adj" fmla="val 1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5 min</a:t>
            </a:r>
          </a:p>
        </p:txBody>
      </p:sp>
      <p:sp>
        <p:nvSpPr>
          <p:cNvPr id="13" name="Rounded Rectangle 12"/>
          <p:cNvSpPr/>
          <p:nvPr/>
        </p:nvSpPr>
        <p:spPr>
          <a:xfrm>
            <a:off x="2377439" y="2633472"/>
            <a:ext cx="1536192" cy="603504"/>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1 day</a:t>
            </a:r>
          </a:p>
        </p:txBody>
      </p:sp>
      <p:sp>
        <p:nvSpPr>
          <p:cNvPr id="14" name="Rounded Rectangle 13"/>
          <p:cNvSpPr/>
          <p:nvPr/>
        </p:nvSpPr>
        <p:spPr>
          <a:xfrm>
            <a:off x="4096511" y="2633472"/>
            <a:ext cx="1536192" cy="603504"/>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2 days</a:t>
            </a:r>
          </a:p>
        </p:txBody>
      </p:sp>
      <p:sp>
        <p:nvSpPr>
          <p:cNvPr id="15" name="Rounded Rectangle 14"/>
          <p:cNvSpPr/>
          <p:nvPr/>
        </p:nvSpPr>
        <p:spPr>
          <a:xfrm>
            <a:off x="5815583" y="2633472"/>
            <a:ext cx="1536192" cy="603504"/>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4 days</a:t>
            </a:r>
          </a:p>
        </p:txBody>
      </p:sp>
      <p:sp>
        <p:nvSpPr>
          <p:cNvPr id="16" name="Rounded Rectangle 15"/>
          <p:cNvSpPr/>
          <p:nvPr/>
        </p:nvSpPr>
        <p:spPr>
          <a:xfrm>
            <a:off x="658368" y="3474720"/>
            <a:ext cx="6766560" cy="1572768"/>
          </a:xfrm>
          <a:prstGeom prst="roundRect">
            <a:avLst>
              <a:gd name="adj" fmla="val 8000"/>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96112" y="3657600"/>
            <a:ext cx="1572768" cy="27432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STATED ACCURATELY</a:t>
            </a:r>
          </a:p>
        </p:txBody>
      </p:sp>
      <p:sp>
        <p:nvSpPr>
          <p:cNvPr id="18" name="TextBox 17"/>
          <p:cNvSpPr txBox="1"/>
          <p:nvPr/>
        </p:nvSpPr>
        <p:spPr>
          <a:xfrm>
            <a:off x="896112" y="4041648"/>
            <a:ext cx="6309360" cy="896112"/>
          </a:xfrm>
          <a:prstGeom prst="rect">
            <a:avLst/>
          </a:prstGeom>
          <a:noFill/>
        </p:spPr>
        <p:txBody>
          <a:bodyPr wrap="square" lIns="0" rIns="0" tIns="0" bIns="0" anchor="t">
            <a:spAutoFit/>
          </a:bodyPr>
          <a:lstStyle/>
          <a:p>
            <a:pPr algn="l">
              <a:lnSpc>
                <a:spcPct val="124000"/>
              </a:lnSpc>
            </a:pPr>
            <a:r>
              <a:rPr sz="1150" b="0" i="0">
                <a:solidFill>
                  <a:srgbClr val="78350F"/>
                </a:solidFill>
                <a:latin typeface="Calibri"/>
              </a:rPr>
              <a:t>PrepPilot implements fixed-interval spaced repetition — not SM-2. A full, tested SM-2 implementation exists in our shared package, and its bookkeeping (ease factor, repetitions, lapses) is maintained under every review — but the review screen does not currently call it.</a:t>
            </a:r>
          </a:p>
        </p:txBody>
      </p:sp>
      <p:sp>
        <p:nvSpPr>
          <p:cNvPr id="19" name="TextBox 18"/>
          <p:cNvSpPr txBox="1"/>
          <p:nvPr/>
        </p:nvSpPr>
        <p:spPr>
          <a:xfrm>
            <a:off x="658368" y="5230368"/>
            <a:ext cx="6766560" cy="457200"/>
          </a:xfrm>
          <a:prstGeom prst="rect">
            <a:avLst/>
          </a:prstGeom>
          <a:noFill/>
        </p:spPr>
        <p:txBody>
          <a:bodyPr wrap="square" lIns="0" rIns="0" tIns="0" bIns="0" anchor="t">
            <a:spAutoFit/>
          </a:bodyPr>
          <a:lstStyle/>
          <a:p>
            <a:pPr algn="l">
              <a:lnSpc>
                <a:spcPct val="120000"/>
              </a:lnSpc>
            </a:pPr>
            <a:r>
              <a:rPr sz="1050" b="0" i="1">
                <a:solidFill>
                  <a:srgbClr val="6B7684"/>
                </a:solidFill>
                <a:latin typeface="Calibri"/>
              </a:rPr>
              <a:t>Why fixed intervals: an adaptive schedule changes its button labels every review, so “1 day” is not a day on a mature card. Fixed labels say exactly what they do.</a:t>
            </a:r>
          </a:p>
        </p:txBody>
      </p:sp>
      <p:pic>
        <p:nvPicPr>
          <p:cNvPr id="20" name="Picture 19" descr="flashcards.png"/>
          <p:cNvPicPr>
            <a:picLocks noChangeAspect="1"/>
          </p:cNvPicPr>
          <p:nvPr/>
        </p:nvPicPr>
        <p:blipFill>
          <a:blip r:embed="rId3"/>
          <a:stretch>
            <a:fillRect/>
          </a:stretch>
        </p:blipFill>
        <p:spPr>
          <a:xfrm>
            <a:off x="8138160" y="1316736"/>
            <a:ext cx="1943148" cy="448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SUPPORT FEATURES — AND THEIR REAL LIMITS</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Notes, Reminders and Focus Mode</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12</a:t>
            </a:r>
          </a:p>
        </p:txBody>
      </p:sp>
      <p:sp>
        <p:nvSpPr>
          <p:cNvPr id="8" name="Rounded Rectangle 7"/>
          <p:cNvSpPr/>
          <p:nvPr/>
        </p:nvSpPr>
        <p:spPr>
          <a:xfrm>
            <a:off x="658368" y="1389888"/>
            <a:ext cx="3466490" cy="153619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59536" y="1609344"/>
            <a:ext cx="50292" cy="23774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563624"/>
            <a:ext cx="2899562" cy="292608"/>
          </a:xfrm>
          <a:prstGeom prst="rect">
            <a:avLst/>
          </a:prstGeom>
          <a:noFill/>
        </p:spPr>
        <p:txBody>
          <a:bodyPr wrap="square" lIns="0" rIns="0" tIns="0" bIns="0" anchor="t">
            <a:spAutoFit/>
          </a:bodyPr>
          <a:lstStyle/>
          <a:p>
            <a:pPr algn="l">
              <a:lnSpc>
                <a:spcPct val="100000"/>
              </a:lnSpc>
            </a:pPr>
            <a:r>
              <a:rPr sz="1400" b="1" i="0">
                <a:solidFill>
                  <a:srgbClr val="0B0F14"/>
                </a:solidFill>
                <a:latin typeface="Calibri"/>
              </a:rPr>
              <a:t>Notes</a:t>
            </a:r>
          </a:p>
        </p:txBody>
      </p:sp>
      <p:sp>
        <p:nvSpPr>
          <p:cNvPr id="11" name="TextBox 10"/>
          <p:cNvSpPr txBox="1"/>
          <p:nvPr/>
        </p:nvSpPr>
        <p:spPr>
          <a:xfrm>
            <a:off x="877824" y="1956816"/>
            <a:ext cx="3027578" cy="804671"/>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Free-text notes on any topic or sub-topic, managed from one screen — so fixing a typo does not mean hunting through a collapsed syllabus.</a:t>
            </a:r>
          </a:p>
        </p:txBody>
      </p:sp>
      <p:sp>
        <p:nvSpPr>
          <p:cNvPr id="12" name="Rounded Rectangle 11"/>
          <p:cNvSpPr/>
          <p:nvPr/>
        </p:nvSpPr>
        <p:spPr>
          <a:xfrm>
            <a:off x="4362602" y="1389888"/>
            <a:ext cx="3466490" cy="153619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563770" y="1609344"/>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46650" y="1563624"/>
            <a:ext cx="2899562" cy="292608"/>
          </a:xfrm>
          <a:prstGeom prst="rect">
            <a:avLst/>
          </a:prstGeom>
          <a:noFill/>
        </p:spPr>
        <p:txBody>
          <a:bodyPr wrap="square" lIns="0" rIns="0" tIns="0" bIns="0" anchor="t">
            <a:spAutoFit/>
          </a:bodyPr>
          <a:lstStyle/>
          <a:p>
            <a:pPr algn="l">
              <a:lnSpc>
                <a:spcPct val="100000"/>
              </a:lnSpc>
            </a:pPr>
            <a:r>
              <a:rPr sz="1400" b="1" i="0">
                <a:solidFill>
                  <a:srgbClr val="0B0F14"/>
                </a:solidFill>
                <a:latin typeface="Calibri"/>
              </a:rPr>
              <a:t>Reminders</a:t>
            </a:r>
          </a:p>
        </p:txBody>
      </p:sp>
      <p:sp>
        <p:nvSpPr>
          <p:cNvPr id="15" name="TextBox 14"/>
          <p:cNvSpPr txBox="1"/>
          <p:nvPr/>
        </p:nvSpPr>
        <p:spPr>
          <a:xfrm>
            <a:off x="4582058" y="1956816"/>
            <a:ext cx="3027578" cy="804671"/>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Student-created only — PrepPilot never invents schedules. Repeat rules: none, daily, weekdays, weekly.</a:t>
            </a:r>
          </a:p>
        </p:txBody>
      </p:sp>
      <p:sp>
        <p:nvSpPr>
          <p:cNvPr id="16" name="Rounded Rectangle 15"/>
          <p:cNvSpPr/>
          <p:nvPr/>
        </p:nvSpPr>
        <p:spPr>
          <a:xfrm>
            <a:off x="8066836" y="1389888"/>
            <a:ext cx="3466490" cy="153619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68004" y="1609344"/>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0884" y="1563624"/>
            <a:ext cx="2899562" cy="292608"/>
          </a:xfrm>
          <a:prstGeom prst="rect">
            <a:avLst/>
          </a:prstGeom>
          <a:noFill/>
        </p:spPr>
        <p:txBody>
          <a:bodyPr wrap="square" lIns="0" rIns="0" tIns="0" bIns="0" anchor="t">
            <a:spAutoFit/>
          </a:bodyPr>
          <a:lstStyle/>
          <a:p>
            <a:pPr algn="l">
              <a:lnSpc>
                <a:spcPct val="100000"/>
              </a:lnSpc>
            </a:pPr>
            <a:r>
              <a:rPr sz="1400" b="1" i="0">
                <a:solidFill>
                  <a:srgbClr val="0B0F14"/>
                </a:solidFill>
                <a:latin typeface="Calibri"/>
              </a:rPr>
              <a:t>Focus Mode</a:t>
            </a:r>
          </a:p>
        </p:txBody>
      </p:sp>
      <p:sp>
        <p:nvSpPr>
          <p:cNvPr id="19" name="TextBox 18"/>
          <p:cNvSpPr txBox="1"/>
          <p:nvPr/>
        </p:nvSpPr>
        <p:spPr>
          <a:xfrm>
            <a:off x="8286292" y="1956816"/>
            <a:ext cx="3027578" cy="804671"/>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A single distraction-free screen that keeps the display awake, silences PrepPilot's own reminders, and counts departures.</a:t>
            </a:r>
          </a:p>
        </p:txBody>
      </p:sp>
      <p:sp>
        <p:nvSpPr>
          <p:cNvPr id="20" name="Rounded Rectangle 19"/>
          <p:cNvSpPr/>
          <p:nvPr/>
        </p:nvSpPr>
        <p:spPr>
          <a:xfrm>
            <a:off x="658368" y="3163824"/>
            <a:ext cx="10874959" cy="2084831"/>
          </a:xfrm>
          <a:prstGeom prst="roundRect">
            <a:avLst>
              <a:gd name="adj" fmla="val 8000"/>
            </a:avLst>
          </a:prstGeom>
          <a:solidFill>
            <a:srgbClr val="FEF2F2"/>
          </a:solidFill>
          <a:ln w="1270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14400" y="3364992"/>
            <a:ext cx="3200400" cy="27432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LIMITATIONS WE STATE IN THE APP</a:t>
            </a:r>
          </a:p>
        </p:txBody>
      </p:sp>
      <p:sp>
        <p:nvSpPr>
          <p:cNvPr id="22" name="TextBox 21"/>
          <p:cNvSpPr txBox="1"/>
          <p:nvPr/>
        </p:nvSpPr>
        <p:spPr>
          <a:xfrm>
            <a:off x="914400" y="3767328"/>
            <a:ext cx="5212080" cy="219456"/>
          </a:xfrm>
          <a:prstGeom prst="rect">
            <a:avLst/>
          </a:prstGeom>
          <a:noFill/>
        </p:spPr>
        <p:txBody>
          <a:bodyPr wrap="square" lIns="0" rIns="0" tIns="0" bIns="0" anchor="t">
            <a:spAutoFit/>
          </a:bodyPr>
          <a:lstStyle/>
          <a:p>
            <a:pPr algn="l">
              <a:lnSpc>
                <a:spcPct val="100000"/>
              </a:lnSpc>
            </a:pPr>
            <a:r>
              <a:rPr sz="1150" b="1" i="0">
                <a:solidFill>
                  <a:srgbClr val="7F1D1D"/>
                </a:solidFill>
                <a:latin typeface="Calibri"/>
              </a:rPr>
              <a:t>Focus Mode cannot block other apps.</a:t>
            </a:r>
          </a:p>
        </p:txBody>
      </p:sp>
      <p:sp>
        <p:nvSpPr>
          <p:cNvPr id="23" name="TextBox 22"/>
          <p:cNvSpPr txBox="1"/>
          <p:nvPr/>
        </p:nvSpPr>
        <p:spPr>
          <a:xfrm>
            <a:off x="914400" y="3986784"/>
            <a:ext cx="5212080" cy="402336"/>
          </a:xfrm>
          <a:prstGeom prst="rect">
            <a:avLst/>
          </a:prstGeom>
          <a:noFill/>
        </p:spPr>
        <p:txBody>
          <a:bodyPr wrap="square" lIns="0" rIns="0" tIns="0" bIns="0" anchor="t">
            <a:spAutoFit/>
          </a:bodyPr>
          <a:lstStyle/>
          <a:p>
            <a:pPr algn="l">
              <a:lnSpc>
                <a:spcPct val="114000"/>
              </a:lnSpc>
            </a:pPr>
            <a:r>
              <a:rPr sz="1000" b="0" i="0">
                <a:solidFill>
                  <a:srgbClr val="991B1B"/>
                </a:solidFill>
                <a:latin typeface="Calibri"/>
              </a:rPr>
              <a:t>Android forbids it without an AccessibilityService or device-admin rights, both restricted by Play Store policy.</a:t>
            </a:r>
          </a:p>
        </p:txBody>
      </p:sp>
      <p:sp>
        <p:nvSpPr>
          <p:cNvPr id="24" name="TextBox 23"/>
          <p:cNvSpPr txBox="1"/>
          <p:nvPr/>
        </p:nvSpPr>
        <p:spPr>
          <a:xfrm>
            <a:off x="6355080" y="3767328"/>
            <a:ext cx="5212080" cy="219456"/>
          </a:xfrm>
          <a:prstGeom prst="rect">
            <a:avLst/>
          </a:prstGeom>
          <a:noFill/>
        </p:spPr>
        <p:txBody>
          <a:bodyPr wrap="square" lIns="0" rIns="0" tIns="0" bIns="0" anchor="t">
            <a:spAutoFit/>
          </a:bodyPr>
          <a:lstStyle/>
          <a:p>
            <a:pPr algn="l">
              <a:lnSpc>
                <a:spcPct val="100000"/>
              </a:lnSpc>
            </a:pPr>
            <a:r>
              <a:rPr sz="1150" b="1" i="0">
                <a:solidFill>
                  <a:srgbClr val="7F1D1D"/>
                </a:solidFill>
                <a:latin typeface="Calibri"/>
              </a:rPr>
              <a:t>Do Not Disturb is not toggled.</a:t>
            </a:r>
          </a:p>
        </p:txBody>
      </p:sp>
      <p:sp>
        <p:nvSpPr>
          <p:cNvPr id="25" name="TextBox 24"/>
          <p:cNvSpPr txBox="1"/>
          <p:nvPr/>
        </p:nvSpPr>
        <p:spPr>
          <a:xfrm>
            <a:off x="6355080" y="3986784"/>
            <a:ext cx="5212080" cy="402336"/>
          </a:xfrm>
          <a:prstGeom prst="rect">
            <a:avLst/>
          </a:prstGeom>
          <a:noFill/>
        </p:spPr>
        <p:txBody>
          <a:bodyPr wrap="square" lIns="0" rIns="0" tIns="0" bIns="0" anchor="t">
            <a:spAutoFit/>
          </a:bodyPr>
          <a:lstStyle/>
          <a:p>
            <a:pPr algn="l">
              <a:lnSpc>
                <a:spcPct val="114000"/>
              </a:lnSpc>
            </a:pPr>
            <a:r>
              <a:rPr sz="1000" b="0" i="0">
                <a:solidFill>
                  <a:srgbClr val="991B1B"/>
                </a:solidFill>
                <a:latin typeface="Calibri"/>
              </a:rPr>
              <a:t>It needs a system permission no Expo module exposes. We ask students to use their device's own DND alongside a session.</a:t>
            </a:r>
          </a:p>
        </p:txBody>
      </p:sp>
      <p:sp>
        <p:nvSpPr>
          <p:cNvPr id="26" name="TextBox 25"/>
          <p:cNvSpPr txBox="1"/>
          <p:nvPr/>
        </p:nvSpPr>
        <p:spPr>
          <a:xfrm>
            <a:off x="914400" y="4480560"/>
            <a:ext cx="5212080" cy="219456"/>
          </a:xfrm>
          <a:prstGeom prst="rect">
            <a:avLst/>
          </a:prstGeom>
          <a:noFill/>
        </p:spPr>
        <p:txBody>
          <a:bodyPr wrap="square" lIns="0" rIns="0" tIns="0" bIns="0" anchor="t">
            <a:spAutoFit/>
          </a:bodyPr>
          <a:lstStyle/>
          <a:p>
            <a:pPr algn="l">
              <a:lnSpc>
                <a:spcPct val="100000"/>
              </a:lnSpc>
            </a:pPr>
            <a:r>
              <a:rPr sz="1150" b="1" i="0">
                <a:solidFill>
                  <a:srgbClr val="7F1D1D"/>
                </a:solidFill>
                <a:latin typeface="Calibri"/>
              </a:rPr>
              <a:t>Web reminders stop when the tab closes.</a:t>
            </a:r>
          </a:p>
        </p:txBody>
      </p:sp>
      <p:sp>
        <p:nvSpPr>
          <p:cNvPr id="27" name="TextBox 26"/>
          <p:cNvSpPr txBox="1"/>
          <p:nvPr/>
        </p:nvSpPr>
        <p:spPr>
          <a:xfrm>
            <a:off x="914400" y="4700016"/>
            <a:ext cx="5212080" cy="402336"/>
          </a:xfrm>
          <a:prstGeom prst="rect">
            <a:avLst/>
          </a:prstGeom>
          <a:noFill/>
        </p:spPr>
        <p:txBody>
          <a:bodyPr wrap="square" lIns="0" rIns="0" tIns="0" bIns="0" anchor="t">
            <a:spAutoFit/>
          </a:bodyPr>
          <a:lstStyle/>
          <a:p>
            <a:pPr algn="l">
              <a:lnSpc>
                <a:spcPct val="114000"/>
              </a:lnSpc>
            </a:pPr>
            <a:r>
              <a:rPr sz="1000" b="0" i="0">
                <a:solidFill>
                  <a:srgbClr val="991B1B"/>
                </a:solidFill>
                <a:latin typeface="Calibri"/>
              </a:rPr>
              <a:t>A browser tab has no OS scheduler. On Android the operating system holds the schedule and they fire reliably.</a:t>
            </a:r>
          </a:p>
        </p:txBody>
      </p:sp>
      <p:sp>
        <p:nvSpPr>
          <p:cNvPr id="28" name="TextBox 27"/>
          <p:cNvSpPr txBox="1"/>
          <p:nvPr/>
        </p:nvSpPr>
        <p:spPr>
          <a:xfrm>
            <a:off x="6355080" y="4480560"/>
            <a:ext cx="5212080" cy="219456"/>
          </a:xfrm>
          <a:prstGeom prst="rect">
            <a:avLst/>
          </a:prstGeom>
          <a:noFill/>
        </p:spPr>
        <p:txBody>
          <a:bodyPr wrap="square" lIns="0" rIns="0" tIns="0" bIns="0" anchor="t">
            <a:spAutoFit/>
          </a:bodyPr>
          <a:lstStyle/>
          <a:p>
            <a:pPr algn="l">
              <a:lnSpc>
                <a:spcPct val="100000"/>
              </a:lnSpc>
            </a:pPr>
            <a:r>
              <a:rPr sz="1150" b="1" i="0">
                <a:solidFill>
                  <a:srgbClr val="7F1D1D"/>
                </a:solidFill>
                <a:latin typeface="Calibri"/>
              </a:rPr>
              <a:t>Weekday reminders are re-armed by the app.</a:t>
            </a:r>
          </a:p>
        </p:txBody>
      </p:sp>
      <p:sp>
        <p:nvSpPr>
          <p:cNvPr id="29" name="TextBox 28"/>
          <p:cNvSpPr txBox="1"/>
          <p:nvPr/>
        </p:nvSpPr>
        <p:spPr>
          <a:xfrm>
            <a:off x="6355080" y="4700016"/>
            <a:ext cx="5212080" cy="402336"/>
          </a:xfrm>
          <a:prstGeom prst="rect">
            <a:avLst/>
          </a:prstGeom>
          <a:noFill/>
        </p:spPr>
        <p:txBody>
          <a:bodyPr wrap="square" lIns="0" rIns="0" tIns="0" bIns="0" anchor="t">
            <a:spAutoFit/>
          </a:bodyPr>
          <a:lstStyle/>
          <a:p>
            <a:pPr algn="l">
              <a:lnSpc>
                <a:spcPct val="114000"/>
              </a:lnSpc>
            </a:pPr>
            <a:r>
              <a:rPr sz="1000" b="0" i="0">
                <a:solidFill>
                  <a:srgbClr val="991B1B"/>
                </a:solidFill>
                <a:latin typeface="Calibri"/>
              </a:rPr>
              <a:t>Neither platform offers a weekday-only trigger, so if the app is never opened they stop firing.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THE APP STATES ITS OWN LIMITS, IN THE INTERFACE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Honesty by Design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13</a:t>
            </a:r>
          </a:p>
        </p:txBody>
      </p:sp>
      <p:pic>
        <p:nvPicPr>
          <p:cNvPr id="8" name="Picture 7" descr="focus.png"/>
          <p:cNvPicPr>
            <a:picLocks noChangeAspect="1"/>
          </p:cNvPicPr>
          <p:nvPr/>
        </p:nvPicPr>
        <p:blipFill>
          <a:blip r:embed="rId3"/>
          <a:stretch>
            <a:fillRect/>
          </a:stretch>
        </p:blipFill>
        <p:spPr>
          <a:xfrm>
            <a:off x="1024128" y="1298448"/>
            <a:ext cx="1982804" cy="4572000"/>
          </a:xfrm>
          <a:prstGeom prst="rect">
            <a:avLst/>
          </a:prstGeom>
        </p:spPr>
      </p:pic>
      <p:sp>
        <p:nvSpPr>
          <p:cNvPr id="9" name="TextBox 8"/>
          <p:cNvSpPr txBox="1"/>
          <p:nvPr/>
        </p:nvSpPr>
        <p:spPr>
          <a:xfrm>
            <a:off x="4754880" y="1481328"/>
            <a:ext cx="6778447" cy="822960"/>
          </a:xfrm>
          <a:prstGeom prst="rect">
            <a:avLst/>
          </a:prstGeom>
          <a:noFill/>
        </p:spPr>
        <p:txBody>
          <a:bodyPr wrap="square" lIns="0" rIns="0" tIns="0" bIns="0" anchor="t">
            <a:spAutoFit/>
          </a:bodyPr>
          <a:lstStyle/>
          <a:p>
            <a:pPr algn="l">
              <a:lnSpc>
                <a:spcPct val="126000"/>
              </a:lnSpc>
            </a:pPr>
            <a:r>
              <a:rPr sz="1600" b="0" i="0">
                <a:solidFill>
                  <a:srgbClr val="0B0F14"/>
                </a:solidFill>
                <a:latin typeface="Calibri"/>
              </a:rPr>
              <a:t>Focus Mode ships with a capability list. Every item is marked supported or not supported, with the reason.</a:t>
            </a:r>
          </a:p>
        </p:txBody>
      </p:sp>
      <p:sp>
        <p:nvSpPr>
          <p:cNvPr id="10" name="TextBox 9"/>
          <p:cNvSpPr txBox="1"/>
          <p:nvPr/>
        </p:nvSpPr>
        <p:spPr>
          <a:xfrm>
            <a:off x="4754880" y="2450591"/>
            <a:ext cx="274320" cy="274320"/>
          </a:xfrm>
          <a:prstGeom prst="rect">
            <a:avLst/>
          </a:prstGeom>
          <a:noFill/>
        </p:spPr>
        <p:txBody>
          <a:bodyPr wrap="square" lIns="0" rIns="0" tIns="0" bIns="0" anchor="t">
            <a:spAutoFit/>
          </a:bodyPr>
          <a:lstStyle/>
          <a:p>
            <a:pPr algn="l">
              <a:lnSpc>
                <a:spcPct val="100000"/>
              </a:lnSpc>
            </a:pPr>
            <a:r>
              <a:rPr sz="1500" b="1" i="0">
                <a:solidFill>
                  <a:srgbClr val="10B981"/>
                </a:solidFill>
                <a:latin typeface="Calibri"/>
              </a:rPr>
              <a:t>✓</a:t>
            </a:r>
          </a:p>
        </p:txBody>
      </p:sp>
      <p:sp>
        <p:nvSpPr>
          <p:cNvPr id="11" name="TextBox 10"/>
          <p:cNvSpPr txBox="1"/>
          <p:nvPr/>
        </p:nvSpPr>
        <p:spPr>
          <a:xfrm>
            <a:off x="5065776" y="2468879"/>
            <a:ext cx="6412687" cy="457200"/>
          </a:xfrm>
          <a:prstGeom prst="rect">
            <a:avLst/>
          </a:prstGeom>
          <a:noFill/>
        </p:spPr>
        <p:txBody>
          <a:bodyPr wrap="square" lIns="0" rIns="0" tIns="0" bIns="0" anchor="t">
            <a:spAutoFit/>
          </a:bodyPr>
          <a:lstStyle/>
          <a:p>
            <a:pPr algn="l">
              <a:lnSpc>
                <a:spcPct val="116000"/>
              </a:lnSpc>
            </a:pPr>
            <a:r>
              <a:rPr sz="1200" b="0" i="0">
                <a:solidFill>
                  <a:srgbClr val="4A5568"/>
                </a:solidFill>
                <a:latin typeface="Calibri"/>
              </a:rPr>
              <a:t>Full-screen focus timer</a:t>
            </a:r>
          </a:p>
        </p:txBody>
      </p:sp>
      <p:sp>
        <p:nvSpPr>
          <p:cNvPr id="12" name="TextBox 11"/>
          <p:cNvSpPr txBox="1"/>
          <p:nvPr/>
        </p:nvSpPr>
        <p:spPr>
          <a:xfrm>
            <a:off x="4754880" y="2962656"/>
            <a:ext cx="274320" cy="274320"/>
          </a:xfrm>
          <a:prstGeom prst="rect">
            <a:avLst/>
          </a:prstGeom>
          <a:noFill/>
        </p:spPr>
        <p:txBody>
          <a:bodyPr wrap="square" lIns="0" rIns="0" tIns="0" bIns="0" anchor="t">
            <a:spAutoFit/>
          </a:bodyPr>
          <a:lstStyle/>
          <a:p>
            <a:pPr algn="l">
              <a:lnSpc>
                <a:spcPct val="100000"/>
              </a:lnSpc>
            </a:pPr>
            <a:r>
              <a:rPr sz="1500" b="1" i="0">
                <a:solidFill>
                  <a:srgbClr val="10B981"/>
                </a:solidFill>
                <a:latin typeface="Calibri"/>
              </a:rPr>
              <a:t>✓</a:t>
            </a:r>
          </a:p>
        </p:txBody>
      </p:sp>
      <p:sp>
        <p:nvSpPr>
          <p:cNvPr id="13" name="TextBox 12"/>
          <p:cNvSpPr txBox="1"/>
          <p:nvPr/>
        </p:nvSpPr>
        <p:spPr>
          <a:xfrm>
            <a:off x="5065776" y="2980944"/>
            <a:ext cx="6412687" cy="457200"/>
          </a:xfrm>
          <a:prstGeom prst="rect">
            <a:avLst/>
          </a:prstGeom>
          <a:noFill/>
        </p:spPr>
        <p:txBody>
          <a:bodyPr wrap="square" lIns="0" rIns="0" tIns="0" bIns="0" anchor="t">
            <a:spAutoFit/>
          </a:bodyPr>
          <a:lstStyle/>
          <a:p>
            <a:pPr algn="l">
              <a:lnSpc>
                <a:spcPct val="116000"/>
              </a:lnSpc>
            </a:pPr>
            <a:r>
              <a:rPr sz="1200" b="0" i="0">
                <a:solidFill>
                  <a:srgbClr val="4A5568"/>
                </a:solidFill>
                <a:latin typeface="Calibri"/>
              </a:rPr>
              <a:t>PrepPilot stays quiet</a:t>
            </a:r>
          </a:p>
        </p:txBody>
      </p:sp>
      <p:sp>
        <p:nvSpPr>
          <p:cNvPr id="14" name="TextBox 13"/>
          <p:cNvSpPr txBox="1"/>
          <p:nvPr/>
        </p:nvSpPr>
        <p:spPr>
          <a:xfrm>
            <a:off x="4754880" y="3474720"/>
            <a:ext cx="274320" cy="274320"/>
          </a:xfrm>
          <a:prstGeom prst="rect">
            <a:avLst/>
          </a:prstGeom>
          <a:noFill/>
        </p:spPr>
        <p:txBody>
          <a:bodyPr wrap="square" lIns="0" rIns="0" tIns="0" bIns="0" anchor="t">
            <a:spAutoFit/>
          </a:bodyPr>
          <a:lstStyle/>
          <a:p>
            <a:pPr algn="l">
              <a:lnSpc>
                <a:spcPct val="100000"/>
              </a:lnSpc>
            </a:pPr>
            <a:r>
              <a:rPr sz="1500" b="1" i="0">
                <a:solidFill>
                  <a:srgbClr val="EF4444"/>
                </a:solidFill>
                <a:latin typeface="Calibri"/>
              </a:rPr>
              <a:t>✗</a:t>
            </a:r>
          </a:p>
        </p:txBody>
      </p:sp>
      <p:sp>
        <p:nvSpPr>
          <p:cNvPr id="15" name="TextBox 14"/>
          <p:cNvSpPr txBox="1"/>
          <p:nvPr/>
        </p:nvSpPr>
        <p:spPr>
          <a:xfrm>
            <a:off x="5065776" y="3493008"/>
            <a:ext cx="6412687" cy="457200"/>
          </a:xfrm>
          <a:prstGeom prst="rect">
            <a:avLst/>
          </a:prstGeom>
          <a:noFill/>
        </p:spPr>
        <p:txBody>
          <a:bodyPr wrap="square" lIns="0" rIns="0" tIns="0" bIns="0" anchor="t">
            <a:spAutoFit/>
          </a:bodyPr>
          <a:lstStyle/>
          <a:p>
            <a:pPr algn="l">
              <a:lnSpc>
                <a:spcPct val="116000"/>
              </a:lnSpc>
            </a:pPr>
            <a:r>
              <a:rPr sz="1200" b="0" i="0">
                <a:solidFill>
                  <a:srgbClr val="4A5568"/>
                </a:solidFill>
                <a:latin typeface="Calibri"/>
              </a:rPr>
              <a:t>Blocking other apps — not possible on this platform</a:t>
            </a:r>
          </a:p>
        </p:txBody>
      </p:sp>
      <p:sp>
        <p:nvSpPr>
          <p:cNvPr id="16" name="TextBox 15"/>
          <p:cNvSpPr txBox="1"/>
          <p:nvPr/>
        </p:nvSpPr>
        <p:spPr>
          <a:xfrm>
            <a:off x="4754880" y="3986783"/>
            <a:ext cx="274320" cy="274320"/>
          </a:xfrm>
          <a:prstGeom prst="rect">
            <a:avLst/>
          </a:prstGeom>
          <a:noFill/>
        </p:spPr>
        <p:txBody>
          <a:bodyPr wrap="square" lIns="0" rIns="0" tIns="0" bIns="0" anchor="t">
            <a:spAutoFit/>
          </a:bodyPr>
          <a:lstStyle/>
          <a:p>
            <a:pPr algn="l">
              <a:lnSpc>
                <a:spcPct val="100000"/>
              </a:lnSpc>
            </a:pPr>
            <a:r>
              <a:rPr sz="1500" b="1" i="0">
                <a:solidFill>
                  <a:srgbClr val="EF4444"/>
                </a:solidFill>
                <a:latin typeface="Calibri"/>
              </a:rPr>
              <a:t>✗</a:t>
            </a:r>
          </a:p>
        </p:txBody>
      </p:sp>
      <p:sp>
        <p:nvSpPr>
          <p:cNvPr id="17" name="TextBox 16"/>
          <p:cNvSpPr txBox="1"/>
          <p:nvPr/>
        </p:nvSpPr>
        <p:spPr>
          <a:xfrm>
            <a:off x="5065776" y="4005071"/>
            <a:ext cx="6412687" cy="457200"/>
          </a:xfrm>
          <a:prstGeom prst="rect">
            <a:avLst/>
          </a:prstGeom>
          <a:noFill/>
        </p:spPr>
        <p:txBody>
          <a:bodyPr wrap="square" lIns="0" rIns="0" tIns="0" bIns="0" anchor="t">
            <a:spAutoFit/>
          </a:bodyPr>
          <a:lstStyle/>
          <a:p>
            <a:pPr algn="l">
              <a:lnSpc>
                <a:spcPct val="116000"/>
              </a:lnSpc>
            </a:pPr>
            <a:r>
              <a:rPr sz="1200" b="0" i="0">
                <a:solidFill>
                  <a:srgbClr val="4A5568"/>
                </a:solidFill>
                <a:latin typeface="Calibri"/>
              </a:rPr>
              <a:t>Silencing other apps' notifications — needs a permission we do not request</a:t>
            </a:r>
          </a:p>
        </p:txBody>
      </p:sp>
      <p:sp>
        <p:nvSpPr>
          <p:cNvPr id="18" name="Rounded Rectangle 17"/>
          <p:cNvSpPr/>
          <p:nvPr/>
        </p:nvSpPr>
        <p:spPr>
          <a:xfrm>
            <a:off x="4754880" y="4700016"/>
            <a:ext cx="6778447" cy="1042415"/>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10912" y="4882896"/>
            <a:ext cx="6035040"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WHY THIS MATTERS</a:t>
            </a:r>
          </a:p>
        </p:txBody>
      </p:sp>
      <p:sp>
        <p:nvSpPr>
          <p:cNvPr id="20" name="TextBox 19"/>
          <p:cNvSpPr txBox="1"/>
          <p:nvPr/>
        </p:nvSpPr>
        <p:spPr>
          <a:xfrm>
            <a:off x="5010912" y="5175504"/>
            <a:ext cx="6035040" cy="475488"/>
          </a:xfrm>
          <a:prstGeom prst="rect">
            <a:avLst/>
          </a:prstGeom>
          <a:noFill/>
        </p:spPr>
        <p:txBody>
          <a:bodyPr wrap="square" lIns="0" rIns="0" tIns="0" bIns="0" anchor="t">
            <a:spAutoFit/>
          </a:bodyPr>
          <a:lstStyle/>
          <a:p>
            <a:pPr algn="l">
              <a:lnSpc>
                <a:spcPct val="120000"/>
              </a:lnSpc>
            </a:pPr>
            <a:r>
              <a:rPr sz="1250" b="0" i="0">
                <a:solidFill>
                  <a:srgbClr val="4A5568"/>
                </a:solidFill>
                <a:latin typeface="Calibri"/>
              </a:rPr>
              <a:t>A student planning months of preparation around a tool needs that tool to be accurate about itself.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THE LOCAL DATABASE IS AUTHORITATIVE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Offline-First Architecture</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14</a:t>
            </a:r>
          </a:p>
        </p:txBody>
      </p:sp>
      <p:sp>
        <p:nvSpPr>
          <p:cNvPr id="8" name="TextBox 7"/>
          <p:cNvSpPr txBox="1"/>
          <p:nvPr/>
        </p:nvSpPr>
        <p:spPr>
          <a:xfrm>
            <a:off x="658368" y="1389888"/>
            <a:ext cx="10874959" cy="310896"/>
          </a:xfrm>
          <a:prstGeom prst="rect">
            <a:avLst/>
          </a:prstGeom>
          <a:noFill/>
        </p:spPr>
        <p:txBody>
          <a:bodyPr wrap="square" lIns="0" rIns="0" tIns="0" bIns="0" anchor="t">
            <a:spAutoFit/>
          </a:bodyPr>
          <a:lstStyle/>
          <a:p>
            <a:pPr algn="l">
              <a:lnSpc>
                <a:spcPct val="120000"/>
              </a:lnSpc>
            </a:pPr>
            <a:r>
              <a:rPr sz="1400" b="0" i="0">
                <a:solidFill>
                  <a:srgbClr val="4A5568"/>
                </a:solidFill>
                <a:latin typeface="Calibri"/>
              </a:rPr>
              <a:t>“Offline-first” here does not mean “caches data for offline viewing”. It means the local database is the source of truth and the network is optional.</a:t>
            </a:r>
          </a:p>
        </p:txBody>
      </p:sp>
      <p:sp>
        <p:nvSpPr>
          <p:cNvPr id="9" name="Rounded Rectangle 8"/>
          <p:cNvSpPr/>
          <p:nvPr/>
        </p:nvSpPr>
        <p:spPr>
          <a:xfrm>
            <a:off x="658368" y="1956816"/>
            <a:ext cx="5120640" cy="2286000"/>
          </a:xfrm>
          <a:prstGeom prst="roundRect">
            <a:avLst>
              <a:gd name="adj" fmla="val 8000"/>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96112" y="2139696"/>
            <a:ext cx="1170432" cy="27432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OFFLINE</a:t>
            </a:r>
          </a:p>
        </p:txBody>
      </p:sp>
      <p:sp>
        <p:nvSpPr>
          <p:cNvPr id="11" name="Rounded Rectangle 10"/>
          <p:cNvSpPr/>
          <p:nvPr/>
        </p:nvSpPr>
        <p:spPr>
          <a:xfrm>
            <a:off x="896112" y="2523744"/>
            <a:ext cx="4645152"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Student ticks a topic</a:t>
            </a:r>
          </a:p>
        </p:txBody>
      </p:sp>
      <p:sp>
        <p:nvSpPr>
          <p:cNvPr id="12" name="Down Arrow 11"/>
          <p:cNvSpPr/>
          <p:nvPr/>
        </p:nvSpPr>
        <p:spPr>
          <a:xfrm>
            <a:off x="3145536" y="2990088"/>
            <a:ext cx="128016" cy="91440"/>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3090672"/>
            <a:ext cx="4645152"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Write to local SQLite   ·   syncStatus = 'pending'</a:t>
            </a:r>
          </a:p>
        </p:txBody>
      </p:sp>
      <p:sp>
        <p:nvSpPr>
          <p:cNvPr id="14" name="Down Arrow 13"/>
          <p:cNvSpPr/>
          <p:nvPr/>
        </p:nvSpPr>
        <p:spPr>
          <a:xfrm>
            <a:off x="3145536" y="3557016"/>
            <a:ext cx="128016" cy="91440"/>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6112" y="3657600"/>
            <a:ext cx="4645152"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Progress updates immediately</a:t>
            </a:r>
          </a:p>
        </p:txBody>
      </p:sp>
      <p:sp>
        <p:nvSpPr>
          <p:cNvPr id="16" name="Rounded Rectangle 15"/>
          <p:cNvSpPr/>
          <p:nvPr/>
        </p:nvSpPr>
        <p:spPr>
          <a:xfrm>
            <a:off x="6016752" y="1956816"/>
            <a:ext cx="5516575" cy="2286000"/>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254496" y="2139696"/>
            <a:ext cx="2286000" cy="27432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FFFFFF"/>
                </a:solidFill>
                <a:latin typeface="Calibri"/>
              </a:rPr>
              <a:t>CONNECTIVITY RETURNS</a:t>
            </a:r>
          </a:p>
        </p:txBody>
      </p:sp>
      <p:sp>
        <p:nvSpPr>
          <p:cNvPr id="18" name="Rounded Rectangle 17"/>
          <p:cNvSpPr/>
          <p:nvPr/>
        </p:nvSpPr>
        <p:spPr>
          <a:xfrm>
            <a:off x="6254496" y="2523744"/>
            <a:ext cx="5041087"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PULL rows changed since watermark</a:t>
            </a:r>
          </a:p>
        </p:txBody>
      </p:sp>
      <p:sp>
        <p:nvSpPr>
          <p:cNvPr id="19" name="Down Arrow 18"/>
          <p:cNvSpPr/>
          <p:nvPr/>
        </p:nvSpPr>
        <p:spPr>
          <a:xfrm>
            <a:off x="8503920" y="2990088"/>
            <a:ext cx="128016" cy="91440"/>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54496" y="3090672"/>
            <a:ext cx="5041087"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MERGE conflicts deterministically</a:t>
            </a:r>
          </a:p>
        </p:txBody>
      </p:sp>
      <p:sp>
        <p:nvSpPr>
          <p:cNvPr id="21" name="Down Arrow 20"/>
          <p:cNvSpPr/>
          <p:nvPr/>
        </p:nvSpPr>
        <p:spPr>
          <a:xfrm>
            <a:off x="8503920" y="3557016"/>
            <a:ext cx="128016" cy="91440"/>
          </a:xfrm>
          <a:prstGeom prst="down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54496" y="3657600"/>
            <a:ext cx="5041087" cy="45720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50" b="1">
                <a:solidFill>
                  <a:srgbClr val="0B0F14"/>
                </a:solidFill>
                <a:latin typeface="Calibri"/>
              </a:rPr>
              <a:t>PUSH rows marked pending</a:t>
            </a:r>
          </a:p>
        </p:txBody>
      </p:sp>
      <p:sp>
        <p:nvSpPr>
          <p:cNvPr id="23" name="Rounded Rectangle 22"/>
          <p:cNvSpPr/>
          <p:nvPr/>
        </p:nvSpPr>
        <p:spPr>
          <a:xfrm>
            <a:off x="658368" y="4462272"/>
            <a:ext cx="3478682" cy="126187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59536" y="4681728"/>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5" y="4636008"/>
            <a:ext cx="2911754"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Client-generated UUIDv7 ids</a:t>
            </a:r>
          </a:p>
        </p:txBody>
      </p:sp>
      <p:sp>
        <p:nvSpPr>
          <p:cNvPr id="26" name="TextBox 25"/>
          <p:cNvSpPr txBox="1"/>
          <p:nvPr/>
        </p:nvSpPr>
        <p:spPr>
          <a:xfrm>
            <a:off x="877824" y="5029200"/>
            <a:ext cx="3039770" cy="530351"/>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A row created offline has its final identity at once — so it arrives as a conflict, not a duplicate.</a:t>
            </a:r>
          </a:p>
        </p:txBody>
      </p:sp>
      <p:sp>
        <p:nvSpPr>
          <p:cNvPr id="27" name="Rounded Rectangle 26"/>
          <p:cNvSpPr/>
          <p:nvPr/>
        </p:nvSpPr>
        <p:spPr>
          <a:xfrm>
            <a:off x="4356506" y="4462272"/>
            <a:ext cx="3478682" cy="126187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4557674" y="4681728"/>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40554" y="4636008"/>
            <a:ext cx="2911754"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Tombstones, never hard deletes</a:t>
            </a:r>
          </a:p>
        </p:txBody>
      </p:sp>
      <p:sp>
        <p:nvSpPr>
          <p:cNvPr id="30" name="TextBox 29"/>
          <p:cNvSpPr txBox="1"/>
          <p:nvPr/>
        </p:nvSpPr>
        <p:spPr>
          <a:xfrm>
            <a:off x="4575962" y="5029200"/>
            <a:ext cx="3039770" cy="530351"/>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A deleted row is marked, not removed. Otherwise the next pull cannot tell “deleted here” from “not yet seen” and resurrects it.</a:t>
            </a:r>
          </a:p>
        </p:txBody>
      </p:sp>
      <p:sp>
        <p:nvSpPr>
          <p:cNvPr id="31" name="Rounded Rectangle 30"/>
          <p:cNvSpPr/>
          <p:nvPr/>
        </p:nvSpPr>
        <p:spPr>
          <a:xfrm>
            <a:off x="8054644" y="4462272"/>
            <a:ext cx="3478682" cy="126187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255812" y="4681728"/>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38692" y="4636008"/>
            <a:ext cx="2911754"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Server-side watermark</a:t>
            </a:r>
          </a:p>
        </p:txBody>
      </p:sp>
      <p:sp>
        <p:nvSpPr>
          <p:cNvPr id="34" name="TextBox 33"/>
          <p:cNvSpPr txBox="1"/>
          <p:nvPr/>
        </p:nvSpPr>
        <p:spPr>
          <a:xfrm>
            <a:off x="8274100" y="5029200"/>
            <a:ext cx="3039770" cy="530351"/>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The next pull resumes from the server's clock. A fast device clock would otherwise bookmark the future and skip rows forever.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DETERMINISTIC, AND THE SAME ON EVERY DEVICE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Synchronisation and Conflict Resolution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15</a:t>
            </a:r>
          </a:p>
        </p:txBody>
      </p:sp>
      <p:sp>
        <p:nvSpPr>
          <p:cNvPr id="8" name="Rounded Rectangle 7"/>
          <p:cNvSpPr/>
          <p:nvPr/>
        </p:nvSpPr>
        <p:spPr>
          <a:xfrm>
            <a:off x="658368" y="1389888"/>
            <a:ext cx="2139696" cy="713232"/>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PULL</a:t>
            </a:r>
          </a:p>
          <a:p>
            <a:pPr algn="ctr">
              <a:spcBef>
                <a:spcPts val="200"/>
              </a:spcBef>
            </a:pPr>
            <a:r>
              <a:rPr sz="950">
                <a:solidFill>
                  <a:srgbClr val="FFFFFF"/>
                </a:solidFill>
                <a:latin typeface="Calibri"/>
              </a:rPr>
              <a:t>remote rows since watermark</a:t>
            </a:r>
          </a:p>
        </p:txBody>
      </p:sp>
      <p:sp>
        <p:nvSpPr>
          <p:cNvPr id="9" name="Right Arrow 8"/>
          <p:cNvSpPr/>
          <p:nvPr/>
        </p:nvSpPr>
        <p:spPr>
          <a:xfrm>
            <a:off x="2834639" y="1664208"/>
            <a:ext cx="182880" cy="164592"/>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54096" y="1389888"/>
            <a:ext cx="2139696" cy="713232"/>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MERGE</a:t>
            </a:r>
          </a:p>
          <a:p>
            <a:pPr algn="ctr">
              <a:spcBef>
                <a:spcPts val="200"/>
              </a:spcBef>
            </a:pPr>
            <a:r>
              <a:rPr sz="950">
                <a:solidFill>
                  <a:srgbClr val="FFFFFF"/>
                </a:solidFill>
                <a:latin typeface="Calibri"/>
              </a:rPr>
              <a:t>resolve conflicts</a:t>
            </a:r>
          </a:p>
        </p:txBody>
      </p:sp>
      <p:sp>
        <p:nvSpPr>
          <p:cNvPr id="11" name="Right Arrow 10"/>
          <p:cNvSpPr/>
          <p:nvPr/>
        </p:nvSpPr>
        <p:spPr>
          <a:xfrm>
            <a:off x="5230368" y="1664208"/>
            <a:ext cx="182880" cy="164592"/>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49824" y="1389888"/>
            <a:ext cx="2139696" cy="713232"/>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PUSH</a:t>
            </a:r>
          </a:p>
          <a:p>
            <a:pPr algn="ctr">
              <a:spcBef>
                <a:spcPts val="200"/>
              </a:spcBef>
            </a:pPr>
            <a:r>
              <a:rPr sz="950">
                <a:solidFill>
                  <a:srgbClr val="FFFFFF"/>
                </a:solidFill>
                <a:latin typeface="Calibri"/>
              </a:rPr>
              <a:t>send agreed version</a:t>
            </a:r>
          </a:p>
        </p:txBody>
      </p:sp>
      <p:sp>
        <p:nvSpPr>
          <p:cNvPr id="13" name="TextBox 12"/>
          <p:cNvSpPr txBox="1"/>
          <p:nvPr/>
        </p:nvSpPr>
        <p:spPr>
          <a:xfrm>
            <a:off x="658368" y="2249424"/>
            <a:ext cx="6949440" cy="457200"/>
          </a:xfrm>
          <a:prstGeom prst="rect">
            <a:avLst/>
          </a:prstGeom>
          <a:noFill/>
        </p:spPr>
        <p:txBody>
          <a:bodyPr wrap="square" lIns="0" rIns="0" tIns="0" bIns="0" anchor="t">
            <a:spAutoFit/>
          </a:bodyPr>
          <a:lstStyle/>
          <a:p>
            <a:pPr algn="l">
              <a:lnSpc>
                <a:spcPct val="120000"/>
              </a:lnSpc>
            </a:pPr>
            <a:r>
              <a:rPr sz="1100" b="0" i="1">
                <a:solidFill>
                  <a:srgbClr val="6B7684"/>
                </a:solidFill>
                <a:latin typeface="Calibri"/>
              </a:rPr>
              <a:t>Pulling before pushing is deliberate: pushing first would overwrite the server with a local row that has not been reconciled, destroying changes made elsewhere.</a:t>
            </a:r>
          </a:p>
        </p:txBody>
      </p:sp>
      <p:sp>
        <p:nvSpPr>
          <p:cNvPr id="14" name="Rounded Rectangle 13"/>
          <p:cNvSpPr/>
          <p:nvPr/>
        </p:nvSpPr>
        <p:spPr>
          <a:xfrm>
            <a:off x="658368" y="2871216"/>
            <a:ext cx="5318607" cy="98755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59536" y="3072384"/>
            <a:ext cx="329184" cy="329184"/>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Calibri"/>
              </a:rPr>
              <a:t>1</a:t>
            </a:r>
          </a:p>
        </p:txBody>
      </p:sp>
      <p:sp>
        <p:nvSpPr>
          <p:cNvPr id="16" name="TextBox 15"/>
          <p:cNvSpPr txBox="1"/>
          <p:nvPr/>
        </p:nvSpPr>
        <p:spPr>
          <a:xfrm>
            <a:off x="1298448" y="3054096"/>
            <a:ext cx="4495647"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A tombstone wins</a:t>
            </a:r>
          </a:p>
        </p:txBody>
      </p:sp>
      <p:sp>
        <p:nvSpPr>
          <p:cNvPr id="17" name="TextBox 16"/>
          <p:cNvSpPr txBox="1"/>
          <p:nvPr/>
        </p:nvSpPr>
        <p:spPr>
          <a:xfrm>
            <a:off x="1298448" y="3346704"/>
            <a:ext cx="4495647" cy="420624"/>
          </a:xfrm>
          <a:prstGeom prst="rect">
            <a:avLst/>
          </a:prstGeom>
          <a:noFill/>
        </p:spPr>
        <p:txBody>
          <a:bodyPr wrap="square" lIns="0" rIns="0" tIns="0" bIns="0" anchor="t">
            <a:spAutoFit/>
          </a:bodyPr>
          <a:lstStyle/>
          <a:p>
            <a:pPr algn="l">
              <a:lnSpc>
                <a:spcPct val="116000"/>
              </a:lnSpc>
            </a:pPr>
            <a:r>
              <a:rPr sz="1050" b="0" i="0">
                <a:solidFill>
                  <a:srgbClr val="4A5568"/>
                </a:solidFill>
                <a:latin typeface="Calibri"/>
              </a:rPr>
              <a:t>Deletion is sticky. Resurrecting something a student deleted is worse than losing an edit to it.</a:t>
            </a:r>
          </a:p>
        </p:txBody>
      </p:sp>
      <p:sp>
        <p:nvSpPr>
          <p:cNvPr id="18" name="Rounded Rectangle 17"/>
          <p:cNvSpPr/>
          <p:nvPr/>
        </p:nvSpPr>
        <p:spPr>
          <a:xfrm>
            <a:off x="6214719" y="2871216"/>
            <a:ext cx="5318607" cy="98755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15887" y="3072384"/>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Calibri"/>
              </a:rPr>
              <a:t>2</a:t>
            </a:r>
          </a:p>
        </p:txBody>
      </p:sp>
      <p:sp>
        <p:nvSpPr>
          <p:cNvPr id="20" name="TextBox 19"/>
          <p:cNvSpPr txBox="1"/>
          <p:nvPr/>
        </p:nvSpPr>
        <p:spPr>
          <a:xfrm>
            <a:off x="6854799" y="3054096"/>
            <a:ext cx="4495647"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Completion resolves on its own timestamp</a:t>
            </a:r>
          </a:p>
        </p:txBody>
      </p:sp>
      <p:sp>
        <p:nvSpPr>
          <p:cNvPr id="21" name="TextBox 20"/>
          <p:cNvSpPr txBox="1"/>
          <p:nvPr/>
        </p:nvSpPr>
        <p:spPr>
          <a:xfrm>
            <a:off x="6854799" y="3346704"/>
            <a:ext cx="4495647" cy="420624"/>
          </a:xfrm>
          <a:prstGeom prst="rect">
            <a:avLst/>
          </a:prstGeom>
          <a:noFill/>
        </p:spPr>
        <p:txBody>
          <a:bodyPr wrap="square" lIns="0" rIns="0" tIns="0" bIns="0" anchor="t">
            <a:spAutoFit/>
          </a:bodyPr>
          <a:lstStyle/>
          <a:p>
            <a:pPr algn="l">
              <a:lnSpc>
                <a:spcPct val="116000"/>
              </a:lnSpc>
            </a:pPr>
            <a:r>
              <a:rPr sz="1050" b="0" i="0">
                <a:solidFill>
                  <a:srgbClr val="4A5568"/>
                </a:solidFill>
                <a:latin typeface="Calibri"/>
              </a:rPr>
              <a:t>So renaming a topic on one device cannot revert a tick made on another.</a:t>
            </a:r>
          </a:p>
        </p:txBody>
      </p:sp>
      <p:sp>
        <p:nvSpPr>
          <p:cNvPr id="22" name="Rounded Rectangle 21"/>
          <p:cNvSpPr/>
          <p:nvPr/>
        </p:nvSpPr>
        <p:spPr>
          <a:xfrm>
            <a:off x="658368" y="4005072"/>
            <a:ext cx="5318607" cy="98755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59536" y="4206240"/>
            <a:ext cx="329184" cy="329184"/>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Calibri"/>
              </a:rPr>
              <a:t>3</a:t>
            </a:r>
          </a:p>
        </p:txBody>
      </p:sp>
      <p:sp>
        <p:nvSpPr>
          <p:cNvPr id="24" name="TextBox 23"/>
          <p:cNvSpPr txBox="1"/>
          <p:nvPr/>
        </p:nvSpPr>
        <p:spPr>
          <a:xfrm>
            <a:off x="1298448" y="4187952"/>
            <a:ext cx="4495647"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A tie on completion resolves to completed</a:t>
            </a:r>
          </a:p>
        </p:txBody>
      </p:sp>
      <p:sp>
        <p:nvSpPr>
          <p:cNvPr id="25" name="TextBox 24"/>
          <p:cNvSpPr txBox="1"/>
          <p:nvPr/>
        </p:nvSpPr>
        <p:spPr>
          <a:xfrm>
            <a:off x="1298448" y="4480560"/>
            <a:ext cx="4495647" cy="420624"/>
          </a:xfrm>
          <a:prstGeom prst="rect">
            <a:avLst/>
          </a:prstGeom>
          <a:noFill/>
        </p:spPr>
        <p:txBody>
          <a:bodyPr wrap="square" lIns="0" rIns="0" tIns="0" bIns="0" anchor="t">
            <a:spAutoFit/>
          </a:bodyPr>
          <a:lstStyle/>
          <a:p>
            <a:pPr algn="l">
              <a:lnSpc>
                <a:spcPct val="116000"/>
              </a:lnSpc>
            </a:pPr>
            <a:r>
              <a:rPr sz="1050" b="0" i="0">
                <a:solidFill>
                  <a:srgbClr val="4A5568"/>
                </a:solidFill>
                <a:latin typeface="Calibri"/>
              </a:rPr>
              <a:t>Silently un-ticking finished work is the failure a student would never forgive.</a:t>
            </a:r>
          </a:p>
        </p:txBody>
      </p:sp>
      <p:sp>
        <p:nvSpPr>
          <p:cNvPr id="26" name="Rounded Rectangle 25"/>
          <p:cNvSpPr/>
          <p:nvPr/>
        </p:nvSpPr>
        <p:spPr>
          <a:xfrm>
            <a:off x="6214719" y="4005072"/>
            <a:ext cx="5318607" cy="98755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15887" y="4206240"/>
            <a:ext cx="329184" cy="329184"/>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Calibri"/>
              </a:rPr>
              <a:t>4</a:t>
            </a:r>
          </a:p>
        </p:txBody>
      </p:sp>
      <p:sp>
        <p:nvSpPr>
          <p:cNvPr id="28" name="TextBox 27"/>
          <p:cNvSpPr txBox="1"/>
          <p:nvPr/>
        </p:nvSpPr>
        <p:spPr>
          <a:xfrm>
            <a:off x="6854799" y="4187952"/>
            <a:ext cx="4495647" cy="256032"/>
          </a:xfrm>
          <a:prstGeom prst="rect">
            <a:avLst/>
          </a:prstGeom>
          <a:noFill/>
        </p:spPr>
        <p:txBody>
          <a:bodyPr wrap="square" lIns="0" rIns="0" tIns="0" bIns="0" anchor="t">
            <a:spAutoFit/>
          </a:bodyPr>
          <a:lstStyle/>
          <a:p>
            <a:pPr algn="l">
              <a:lnSpc>
                <a:spcPct val="100000"/>
              </a:lnSpc>
            </a:pPr>
            <a:r>
              <a:rPr sz="1250" b="1" i="0">
                <a:solidFill>
                  <a:srgbClr val="0B0F14"/>
                </a:solidFill>
                <a:latin typeface="Calibri"/>
              </a:rPr>
              <a:t>Everything else is last-write-wins</a:t>
            </a:r>
          </a:p>
        </p:txBody>
      </p:sp>
      <p:sp>
        <p:nvSpPr>
          <p:cNvPr id="29" name="TextBox 28"/>
          <p:cNvSpPr txBox="1"/>
          <p:nvPr/>
        </p:nvSpPr>
        <p:spPr>
          <a:xfrm>
            <a:off x="6854799" y="4480560"/>
            <a:ext cx="4495647" cy="420624"/>
          </a:xfrm>
          <a:prstGeom prst="rect">
            <a:avLst/>
          </a:prstGeom>
          <a:noFill/>
        </p:spPr>
        <p:txBody>
          <a:bodyPr wrap="square" lIns="0" rIns="0" tIns="0" bIns="0" anchor="t">
            <a:spAutoFit/>
          </a:bodyPr>
          <a:lstStyle/>
          <a:p>
            <a:pPr algn="l">
              <a:lnSpc>
                <a:spcPct val="116000"/>
              </a:lnSpc>
            </a:pPr>
            <a:r>
              <a:rPr sz="1050" b="0" i="0">
                <a:solidFill>
                  <a:srgbClr val="4A5568"/>
                </a:solidFill>
                <a:latin typeface="Calibri"/>
              </a:rPr>
              <a:t>On updatedAt, with the local copy winning an exact tie so a device never churns its own rows.</a:t>
            </a:r>
          </a:p>
        </p:txBody>
      </p:sp>
      <p:sp>
        <p:nvSpPr>
          <p:cNvPr id="30" name="Rounded Rectangle 29"/>
          <p:cNvSpPr/>
          <p:nvPr/>
        </p:nvSpPr>
        <p:spPr>
          <a:xfrm>
            <a:off x="658368" y="5212080"/>
            <a:ext cx="10874959" cy="603504"/>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32688" y="5367528"/>
            <a:ext cx="10326319" cy="329184"/>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Eight tables synchronise. Preferences deliberately do not — a theme choice belongs to a device, not to an account.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THE CLIENT NEVER HOLDS THE GEMINI KEY</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AI Integration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16</a:t>
            </a:r>
          </a:p>
        </p:txBody>
      </p:sp>
      <p:sp>
        <p:nvSpPr>
          <p:cNvPr id="8" name="Rounded Rectangle 7"/>
          <p:cNvSpPr/>
          <p:nvPr/>
        </p:nvSpPr>
        <p:spPr>
          <a:xfrm>
            <a:off x="658368" y="1389888"/>
            <a:ext cx="3127248" cy="91440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50" b="1">
                <a:solidFill>
                  <a:srgbClr val="FFFFFF"/>
                </a:solidFill>
                <a:latin typeface="Calibri"/>
              </a:rPr>
              <a:t>PrepPilot Client</a:t>
            </a:r>
          </a:p>
          <a:p>
            <a:pPr algn="ctr">
              <a:spcBef>
                <a:spcPts val="200"/>
              </a:spcBef>
            </a:pPr>
            <a:r>
              <a:rPr sz="1000">
                <a:solidFill>
                  <a:srgbClr val="FFFFFF"/>
                </a:solidFill>
                <a:latin typeface="Calibri"/>
              </a:rPr>
              <a:t>React Native</a:t>
            </a:r>
          </a:p>
        </p:txBody>
      </p:sp>
      <p:sp>
        <p:nvSpPr>
          <p:cNvPr id="9" name="Right Arrow 8"/>
          <p:cNvSpPr/>
          <p:nvPr/>
        </p:nvSpPr>
        <p:spPr>
          <a:xfrm>
            <a:off x="3895344" y="1737360"/>
            <a:ext cx="438912"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43983" y="1389888"/>
            <a:ext cx="3127248" cy="914400"/>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50" b="1">
                <a:solidFill>
                  <a:srgbClr val="FFFFFF"/>
                </a:solidFill>
                <a:latin typeface="Calibri"/>
              </a:rPr>
              <a:t>Supabase Edge Function</a:t>
            </a:r>
          </a:p>
          <a:p>
            <a:pPr algn="ctr">
              <a:spcBef>
                <a:spcPts val="200"/>
              </a:spcBef>
            </a:pPr>
            <a:r>
              <a:rPr sz="1000">
                <a:solidFill>
                  <a:srgbClr val="FFFFFF"/>
                </a:solidFill>
                <a:latin typeface="Calibri"/>
              </a:rPr>
              <a:t>ask-gemini · Deno</a:t>
            </a:r>
          </a:p>
        </p:txBody>
      </p:sp>
      <p:sp>
        <p:nvSpPr>
          <p:cNvPr id="11" name="Right Arrow 10"/>
          <p:cNvSpPr/>
          <p:nvPr/>
        </p:nvSpPr>
        <p:spPr>
          <a:xfrm>
            <a:off x="7680959" y="1737360"/>
            <a:ext cx="438912"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0" y="1389888"/>
            <a:ext cx="3127248" cy="9144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50" b="1">
                <a:solidFill>
                  <a:srgbClr val="FFFFFF"/>
                </a:solidFill>
                <a:latin typeface="Calibri"/>
              </a:rPr>
              <a:t>Google Gemini API</a:t>
            </a:r>
          </a:p>
          <a:p>
            <a:pPr algn="ctr">
              <a:spcBef>
                <a:spcPts val="200"/>
              </a:spcBef>
            </a:pPr>
            <a:r>
              <a:rPr sz="1000">
                <a:solidFill>
                  <a:srgbClr val="FFFFFF"/>
                </a:solidFill>
                <a:latin typeface="Calibri"/>
              </a:rPr>
              <a:t>gemini-3.6-flash</a:t>
            </a:r>
          </a:p>
        </p:txBody>
      </p:sp>
      <p:sp>
        <p:nvSpPr>
          <p:cNvPr id="13" name="TextBox 12"/>
          <p:cNvSpPr txBox="1"/>
          <p:nvPr/>
        </p:nvSpPr>
        <p:spPr>
          <a:xfrm>
            <a:off x="3840479" y="2377440"/>
            <a:ext cx="749808" cy="274320"/>
          </a:xfrm>
          <a:prstGeom prst="rect">
            <a:avLst/>
          </a:prstGeom>
          <a:noFill/>
        </p:spPr>
        <p:txBody>
          <a:bodyPr wrap="square" lIns="0" rIns="0" tIns="0" bIns="0" anchor="t">
            <a:spAutoFit/>
          </a:bodyPr>
          <a:lstStyle/>
          <a:p>
            <a:pPr algn="ctr">
              <a:lnSpc>
                <a:spcPct val="100000"/>
              </a:lnSpc>
            </a:pPr>
            <a:r>
              <a:rPr sz="900" b="1" i="0">
                <a:solidFill>
                  <a:srgbClr val="6B7684"/>
                </a:solidFill>
                <a:latin typeface="Calibri"/>
              </a:rPr>
              <a:t>JWT</a:t>
            </a:r>
          </a:p>
        </p:txBody>
      </p:sp>
      <p:sp>
        <p:nvSpPr>
          <p:cNvPr id="14" name="TextBox 13"/>
          <p:cNvSpPr txBox="1"/>
          <p:nvPr/>
        </p:nvSpPr>
        <p:spPr>
          <a:xfrm>
            <a:off x="7626096" y="2377440"/>
            <a:ext cx="731520" cy="274320"/>
          </a:xfrm>
          <a:prstGeom prst="rect">
            <a:avLst/>
          </a:prstGeom>
          <a:noFill/>
        </p:spPr>
        <p:txBody>
          <a:bodyPr wrap="square" lIns="0" rIns="0" tIns="0" bIns="0" anchor="t">
            <a:spAutoFit/>
          </a:bodyPr>
          <a:lstStyle/>
          <a:p>
            <a:pPr algn="ctr">
              <a:lnSpc>
                <a:spcPct val="100000"/>
              </a:lnSpc>
            </a:pPr>
            <a:r>
              <a:rPr sz="900" b="1" i="0">
                <a:solidFill>
                  <a:srgbClr val="6B7684"/>
                </a:solidFill>
                <a:latin typeface="Calibri"/>
              </a:rPr>
              <a:t>API key</a:t>
            </a:r>
          </a:p>
        </p:txBody>
      </p:sp>
      <p:sp>
        <p:nvSpPr>
          <p:cNvPr id="15" name="Rounded Rectangle 14"/>
          <p:cNvSpPr/>
          <p:nvPr/>
        </p:nvSpPr>
        <p:spPr>
          <a:xfrm>
            <a:off x="658368" y="2779776"/>
            <a:ext cx="10874959" cy="658368"/>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2962656"/>
            <a:ext cx="10326319" cy="347472"/>
          </a:xfrm>
          <a:prstGeom prst="rect">
            <a:avLst/>
          </a:prstGeom>
          <a:noFill/>
        </p:spPr>
        <p:txBody>
          <a:bodyPr wrap="square" lIns="0" rIns="0" tIns="0" bIns="0" anchor="t">
            <a:spAutoFit/>
          </a:bodyPr>
          <a:lstStyle/>
          <a:p>
            <a:pPr algn="l">
              <a:lnSpc>
                <a:spcPct val="115000"/>
              </a:lnSpc>
            </a:pPr>
            <a:r>
              <a:rPr sz="1250" b="1" i="0">
                <a:solidFill>
                  <a:srgbClr val="065F46"/>
                </a:solidFill>
                <a:latin typeface="Calibri"/>
              </a:rPr>
              <a:t>The Gemini API key is read from a Supabase secret inside the Edge Function and never returned to a client. No key appears anywhere in the app bundle.</a:t>
            </a:r>
          </a:p>
        </p:txBody>
      </p:sp>
      <p:sp>
        <p:nvSpPr>
          <p:cNvPr id="17" name="Rounded Rectangle 16"/>
          <p:cNvSpPr/>
          <p:nvPr/>
        </p:nvSpPr>
        <p:spPr>
          <a:xfrm>
            <a:off x="658368" y="3639312"/>
            <a:ext cx="2567863" cy="138988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59536" y="3858768"/>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5" y="3813048"/>
            <a:ext cx="2000935"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Identity from the JWT</a:t>
            </a:r>
          </a:p>
        </p:txBody>
      </p:sp>
      <p:sp>
        <p:nvSpPr>
          <p:cNvPr id="20" name="TextBox 19"/>
          <p:cNvSpPr txBox="1"/>
          <p:nvPr/>
        </p:nvSpPr>
        <p:spPr>
          <a:xfrm>
            <a:off x="877824" y="4206240"/>
            <a:ext cx="2128951" cy="658368"/>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The caller is read from the token's sub claim, not a header — a header is whatever the caller types.</a:t>
            </a:r>
          </a:p>
        </p:txBody>
      </p:sp>
      <p:sp>
        <p:nvSpPr>
          <p:cNvPr id="21" name="Rounded Rectangle 20"/>
          <p:cNvSpPr/>
          <p:nvPr/>
        </p:nvSpPr>
        <p:spPr>
          <a:xfrm>
            <a:off x="3427399" y="3639312"/>
            <a:ext cx="2567863" cy="138988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628567" y="3858768"/>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11447" y="3813048"/>
            <a:ext cx="2000935"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Rate limited</a:t>
            </a:r>
          </a:p>
        </p:txBody>
      </p:sp>
      <p:sp>
        <p:nvSpPr>
          <p:cNvPr id="24" name="TextBox 23"/>
          <p:cNvSpPr txBox="1"/>
          <p:nvPr/>
        </p:nvSpPr>
        <p:spPr>
          <a:xfrm>
            <a:off x="3646855" y="4206240"/>
            <a:ext cx="2128951" cy="658368"/>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20 requests per hour per account. In-memory and per-instance: it bounds runaway use, it is not a durable quota.</a:t>
            </a:r>
          </a:p>
        </p:txBody>
      </p:sp>
      <p:sp>
        <p:nvSpPr>
          <p:cNvPr id="25" name="Rounded Rectangle 24"/>
          <p:cNvSpPr/>
          <p:nvPr/>
        </p:nvSpPr>
        <p:spPr>
          <a:xfrm>
            <a:off x="6196431" y="3639312"/>
            <a:ext cx="2567863" cy="138988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397599" y="3858768"/>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0479" y="3813048"/>
            <a:ext cx="2000935"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Thinking capped</a:t>
            </a:r>
          </a:p>
        </p:txBody>
      </p:sp>
      <p:sp>
        <p:nvSpPr>
          <p:cNvPr id="28" name="TextBox 27"/>
          <p:cNvSpPr txBox="1"/>
          <p:nvPr/>
        </p:nvSpPr>
        <p:spPr>
          <a:xfrm>
            <a:off x="6415887" y="4206240"/>
            <a:ext cx="2128951" cy="658368"/>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The model's reasoning budget is capped at 512 tokens, so a simple question is not deliberated over.</a:t>
            </a:r>
          </a:p>
        </p:txBody>
      </p:sp>
      <p:sp>
        <p:nvSpPr>
          <p:cNvPr id="29" name="Rounded Rectangle 28"/>
          <p:cNvSpPr/>
          <p:nvPr/>
        </p:nvSpPr>
        <p:spPr>
          <a:xfrm>
            <a:off x="8965463" y="3639312"/>
            <a:ext cx="2567863" cy="138988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9166631" y="3858768"/>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49511" y="3813048"/>
            <a:ext cx="2000935"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Errors not forwarded</a:t>
            </a:r>
          </a:p>
        </p:txBody>
      </p:sp>
      <p:sp>
        <p:nvSpPr>
          <p:cNvPr id="32" name="TextBox 31"/>
          <p:cNvSpPr txBox="1"/>
          <p:nvPr/>
        </p:nvSpPr>
        <p:spPr>
          <a:xfrm>
            <a:off x="9184919" y="4206240"/>
            <a:ext cx="2128951" cy="658368"/>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Upstream error bodies can carry key or quota detail, so they are never passed back to the client.</a:t>
            </a:r>
          </a:p>
        </p:txBody>
      </p:sp>
      <p:sp>
        <p:nvSpPr>
          <p:cNvPr id="33" name="TextBox 32"/>
          <p:cNvSpPr txBox="1"/>
          <p:nvPr/>
        </p:nvSpPr>
        <p:spPr>
          <a:xfrm>
            <a:off x="658368" y="5193792"/>
            <a:ext cx="2743200" cy="256032"/>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THREE MODES</a:t>
            </a:r>
          </a:p>
        </p:txBody>
      </p:sp>
      <p:sp>
        <p:nvSpPr>
          <p:cNvPr id="34" name="TextBox 33"/>
          <p:cNvSpPr txBox="1"/>
          <p:nvPr/>
        </p:nvSpPr>
        <p:spPr>
          <a:xfrm>
            <a:off x="658368" y="5468112"/>
            <a:ext cx="3478682" cy="237744"/>
          </a:xfrm>
          <a:prstGeom prst="rect">
            <a:avLst/>
          </a:prstGeom>
          <a:noFill/>
        </p:spPr>
        <p:txBody>
          <a:bodyPr wrap="square" lIns="0" rIns="0" tIns="0" bIns="0" anchor="t">
            <a:spAutoFit/>
          </a:bodyPr>
          <a:lstStyle/>
          <a:p>
            <a:pPr algn="l">
              <a:lnSpc>
                <a:spcPct val="100000"/>
              </a:lnSpc>
            </a:pPr>
            <a:r>
              <a:rPr sz="1200" b="1" i="0">
                <a:solidFill>
                  <a:srgbClr val="0B0F14"/>
                </a:solidFill>
                <a:latin typeface="Consolas"/>
              </a:rPr>
              <a:t>ask</a:t>
            </a:r>
          </a:p>
        </p:txBody>
      </p:sp>
      <p:sp>
        <p:nvSpPr>
          <p:cNvPr id="35" name="TextBox 34"/>
          <p:cNvSpPr txBox="1"/>
          <p:nvPr/>
        </p:nvSpPr>
        <p:spPr>
          <a:xfrm>
            <a:off x="658368" y="5724144"/>
            <a:ext cx="3478682" cy="365760"/>
          </a:xfrm>
          <a:prstGeom prst="rect">
            <a:avLst/>
          </a:prstGeom>
          <a:noFill/>
        </p:spPr>
        <p:txBody>
          <a:bodyPr wrap="square" lIns="0" rIns="0" tIns="0" bIns="0" anchor="t">
            <a:spAutoFit/>
          </a:bodyPr>
          <a:lstStyle/>
          <a:p>
            <a:pPr algn="l">
              <a:lnSpc>
                <a:spcPct val="114000"/>
              </a:lnSpc>
            </a:pPr>
            <a:r>
              <a:rPr sz="950" b="0" i="0">
                <a:solidFill>
                  <a:srgbClr val="6B7684"/>
                </a:solidFill>
                <a:latin typeface="Calibri"/>
              </a:rPr>
              <a:t>Answers a question, given the student's subject names</a:t>
            </a:r>
          </a:p>
        </p:txBody>
      </p:sp>
      <p:sp>
        <p:nvSpPr>
          <p:cNvPr id="36" name="TextBox 35"/>
          <p:cNvSpPr txBox="1"/>
          <p:nvPr/>
        </p:nvSpPr>
        <p:spPr>
          <a:xfrm>
            <a:off x="4356506" y="5468112"/>
            <a:ext cx="3478682" cy="237744"/>
          </a:xfrm>
          <a:prstGeom prst="rect">
            <a:avLst/>
          </a:prstGeom>
          <a:noFill/>
        </p:spPr>
        <p:txBody>
          <a:bodyPr wrap="square" lIns="0" rIns="0" tIns="0" bIns="0" anchor="t">
            <a:spAutoFit/>
          </a:bodyPr>
          <a:lstStyle/>
          <a:p>
            <a:pPr algn="l">
              <a:lnSpc>
                <a:spcPct val="100000"/>
              </a:lnSpc>
            </a:pPr>
            <a:r>
              <a:rPr sz="1200" b="1" i="0">
                <a:solidFill>
                  <a:srgbClr val="0B0F14"/>
                </a:solidFill>
                <a:latin typeface="Consolas"/>
              </a:rPr>
              <a:t>summarize</a:t>
            </a:r>
          </a:p>
        </p:txBody>
      </p:sp>
      <p:sp>
        <p:nvSpPr>
          <p:cNvPr id="37" name="TextBox 36"/>
          <p:cNvSpPr txBox="1"/>
          <p:nvPr/>
        </p:nvSpPr>
        <p:spPr>
          <a:xfrm>
            <a:off x="4356506" y="5724144"/>
            <a:ext cx="3478682" cy="365760"/>
          </a:xfrm>
          <a:prstGeom prst="rect">
            <a:avLst/>
          </a:prstGeom>
          <a:noFill/>
        </p:spPr>
        <p:txBody>
          <a:bodyPr wrap="square" lIns="0" rIns="0" tIns="0" bIns="0" anchor="t">
            <a:spAutoFit/>
          </a:bodyPr>
          <a:lstStyle/>
          <a:p>
            <a:pPr algn="l">
              <a:lnSpc>
                <a:spcPct val="114000"/>
              </a:lnSpc>
            </a:pPr>
            <a:r>
              <a:rPr sz="950" b="0" i="0">
                <a:solidFill>
                  <a:srgbClr val="6B7684"/>
                </a:solidFill>
                <a:latin typeface="Calibri"/>
              </a:rPr>
              <a:t>Summarises one topic in at most six sentences</a:t>
            </a:r>
          </a:p>
        </p:txBody>
      </p:sp>
      <p:sp>
        <p:nvSpPr>
          <p:cNvPr id="38" name="TextBox 37"/>
          <p:cNvSpPr txBox="1"/>
          <p:nvPr/>
        </p:nvSpPr>
        <p:spPr>
          <a:xfrm>
            <a:off x="8054644" y="5468112"/>
            <a:ext cx="3478682" cy="237744"/>
          </a:xfrm>
          <a:prstGeom prst="rect">
            <a:avLst/>
          </a:prstGeom>
          <a:noFill/>
        </p:spPr>
        <p:txBody>
          <a:bodyPr wrap="square" lIns="0" rIns="0" tIns="0" bIns="0" anchor="t">
            <a:spAutoFit/>
          </a:bodyPr>
          <a:lstStyle/>
          <a:p>
            <a:pPr algn="l">
              <a:lnSpc>
                <a:spcPct val="100000"/>
              </a:lnSpc>
            </a:pPr>
            <a:r>
              <a:rPr sz="1200" b="1" i="0">
                <a:solidFill>
                  <a:srgbClr val="0B0F14"/>
                </a:solidFill>
                <a:latin typeface="Consolas"/>
              </a:rPr>
              <a:t>quiz</a:t>
            </a:r>
          </a:p>
        </p:txBody>
      </p:sp>
      <p:sp>
        <p:nvSpPr>
          <p:cNvPr id="39" name="TextBox 38"/>
          <p:cNvSpPr txBox="1"/>
          <p:nvPr/>
        </p:nvSpPr>
        <p:spPr>
          <a:xfrm>
            <a:off x="8054644" y="5724144"/>
            <a:ext cx="3478682" cy="365760"/>
          </a:xfrm>
          <a:prstGeom prst="rect">
            <a:avLst/>
          </a:prstGeom>
          <a:noFill/>
        </p:spPr>
        <p:txBody>
          <a:bodyPr wrap="square" lIns="0" rIns="0" tIns="0" bIns="0" anchor="t">
            <a:spAutoFit/>
          </a:bodyPr>
          <a:lstStyle/>
          <a:p>
            <a:pPr algn="l">
              <a:lnSpc>
                <a:spcPct val="114000"/>
              </a:lnSpc>
            </a:pPr>
            <a:r>
              <a:rPr sz="950" b="0" i="0">
                <a:solidFill>
                  <a:srgbClr val="6B7684"/>
                </a:solidFill>
                <a:latin typeface="Calibri"/>
              </a:rPr>
              <a:t>Generates exactly three multiple-choice questions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THE ASSISTANT MAY PROPOSE. IT CANNOT APPLY.</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AI Safety</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17</a:t>
            </a:r>
          </a:p>
        </p:txBody>
      </p:sp>
      <p:sp>
        <p:nvSpPr>
          <p:cNvPr id="8" name="Rounded Rectangle 7"/>
          <p:cNvSpPr/>
          <p:nvPr/>
        </p:nvSpPr>
        <p:spPr>
          <a:xfrm>
            <a:off x="658368" y="1389888"/>
            <a:ext cx="2403271" cy="914400"/>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AI Proposal</a:t>
            </a:r>
          </a:p>
          <a:p>
            <a:pPr algn="ctr">
              <a:spcBef>
                <a:spcPts val="200"/>
              </a:spcBef>
            </a:pPr>
            <a:r>
              <a:rPr sz="900">
                <a:solidFill>
                  <a:srgbClr val="FFFFFF"/>
                </a:solidFill>
                <a:latin typeface="Calibri"/>
              </a:rPr>
              <a:t>parsed into an inert object</a:t>
            </a:r>
          </a:p>
        </p:txBody>
      </p:sp>
      <p:sp>
        <p:nvSpPr>
          <p:cNvPr id="9" name="Right Arrow 8"/>
          <p:cNvSpPr/>
          <p:nvPr/>
        </p:nvSpPr>
        <p:spPr>
          <a:xfrm>
            <a:off x="3134791" y="1700784"/>
            <a:ext cx="274320"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2263" y="1389888"/>
            <a:ext cx="2403271" cy="91440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User Review</a:t>
            </a:r>
          </a:p>
          <a:p>
            <a:pPr algn="ctr">
              <a:spcBef>
                <a:spcPts val="200"/>
              </a:spcBef>
            </a:pPr>
            <a:r>
              <a:rPr sz="900">
                <a:solidFill>
                  <a:srgbClr val="FFFFFF"/>
                </a:solidFill>
                <a:latin typeface="Calibri"/>
              </a:rPr>
              <a:t>student sees what would change</a:t>
            </a:r>
          </a:p>
        </p:txBody>
      </p:sp>
      <p:sp>
        <p:nvSpPr>
          <p:cNvPr id="11" name="Right Arrow 10"/>
          <p:cNvSpPr/>
          <p:nvPr/>
        </p:nvSpPr>
        <p:spPr>
          <a:xfrm>
            <a:off x="5958687" y="1700784"/>
            <a:ext cx="274320"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6159" y="1389888"/>
            <a:ext cx="2403271" cy="9144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Confirmation</a:t>
            </a:r>
          </a:p>
          <a:p>
            <a:pPr algn="ctr">
              <a:spcBef>
                <a:spcPts val="200"/>
              </a:spcBef>
            </a:pPr>
            <a:r>
              <a:rPr sz="900">
                <a:solidFill>
                  <a:srgbClr val="FFFFFF"/>
                </a:solidFill>
                <a:latin typeface="Calibri"/>
              </a:rPr>
              <a:t>explicit, never implied</a:t>
            </a:r>
          </a:p>
        </p:txBody>
      </p:sp>
      <p:sp>
        <p:nvSpPr>
          <p:cNvPr id="13" name="Right Arrow 12"/>
          <p:cNvSpPr/>
          <p:nvPr/>
        </p:nvSpPr>
        <p:spPr>
          <a:xfrm>
            <a:off x="8782583" y="1700784"/>
            <a:ext cx="274320"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30055" y="1389888"/>
            <a:ext cx="2403271" cy="9144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300" b="1">
                <a:solidFill>
                  <a:srgbClr val="FFFFFF"/>
                </a:solidFill>
                <a:latin typeface="Calibri"/>
              </a:rPr>
              <a:t>Apply</a:t>
            </a:r>
          </a:p>
          <a:p>
            <a:pPr algn="ctr">
              <a:spcBef>
                <a:spcPts val="200"/>
              </a:spcBef>
            </a:pPr>
            <a:r>
              <a:rPr sz="900">
                <a:solidFill>
                  <a:srgbClr val="FFFFFF"/>
                </a:solidFill>
                <a:latin typeface="Calibri"/>
              </a:rPr>
              <a:t>only now does storage change</a:t>
            </a:r>
          </a:p>
        </p:txBody>
      </p:sp>
      <p:sp>
        <p:nvSpPr>
          <p:cNvPr id="15" name="Rounded Rectangle 14"/>
          <p:cNvSpPr/>
          <p:nvPr/>
        </p:nvSpPr>
        <p:spPr>
          <a:xfrm>
            <a:off x="658368" y="2523744"/>
            <a:ext cx="5577840" cy="2121408"/>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2743200"/>
            <a:ext cx="5029200" cy="256032"/>
          </a:xfrm>
          <a:prstGeom prst="rect">
            <a:avLst/>
          </a:prstGeom>
          <a:noFill/>
        </p:spPr>
        <p:txBody>
          <a:bodyPr wrap="square" lIns="0" rIns="0" tIns="0" bIns="0" anchor="t">
            <a:spAutoFit/>
          </a:bodyPr>
          <a:lstStyle/>
          <a:p>
            <a:pPr algn="l">
              <a:lnSpc>
                <a:spcPct val="100000"/>
              </a:lnSpc>
            </a:pPr>
            <a:r>
              <a:rPr sz="950" b="1" i="0">
                <a:solidFill>
                  <a:srgbClr val="06B6D4"/>
                </a:solidFill>
                <a:latin typeface="Calibri"/>
              </a:rPr>
              <a:t>THE PROPOSAL GRAMMAR</a:t>
            </a:r>
          </a:p>
        </p:txBody>
      </p:sp>
      <p:sp>
        <p:nvSpPr>
          <p:cNvPr id="17" name="TextBox 16"/>
          <p:cNvSpPr txBox="1"/>
          <p:nvPr/>
        </p:nvSpPr>
        <p:spPr>
          <a:xfrm>
            <a:off x="932688" y="3090672"/>
            <a:ext cx="5029200" cy="310896"/>
          </a:xfrm>
          <a:prstGeom prst="rect">
            <a:avLst/>
          </a:prstGeom>
          <a:noFill/>
        </p:spPr>
        <p:txBody>
          <a:bodyPr wrap="square" lIns="0" rIns="0" tIns="0" bIns="0" anchor="t">
            <a:spAutoFit/>
          </a:bodyPr>
          <a:lstStyle/>
          <a:p>
            <a:pPr algn="l">
              <a:lnSpc>
                <a:spcPct val="100000"/>
              </a:lnSpc>
            </a:pPr>
            <a:r>
              <a:rPr sz="1200" b="0" i="0">
                <a:solidFill>
                  <a:srgbClr val="9BA7B4"/>
                </a:solidFill>
                <a:latin typeface="Calibri"/>
              </a:rPr>
              <a:t>Exactly two verbs exist:</a:t>
            </a:r>
          </a:p>
        </p:txBody>
      </p:sp>
      <p:sp>
        <p:nvSpPr>
          <p:cNvPr id="18" name="TextBox 17"/>
          <p:cNvSpPr txBox="1"/>
          <p:nvPr/>
        </p:nvSpPr>
        <p:spPr>
          <a:xfrm>
            <a:off x="1115568" y="3438144"/>
            <a:ext cx="2743200" cy="274320"/>
          </a:xfrm>
          <a:prstGeom prst="rect">
            <a:avLst/>
          </a:prstGeom>
          <a:noFill/>
        </p:spPr>
        <p:txBody>
          <a:bodyPr wrap="square" lIns="0" rIns="0" tIns="0" bIns="0" anchor="t">
            <a:spAutoFit/>
          </a:bodyPr>
          <a:lstStyle/>
          <a:p>
            <a:pPr algn="l">
              <a:lnSpc>
                <a:spcPct val="100000"/>
              </a:lnSpc>
            </a:pPr>
            <a:r>
              <a:rPr sz="1300" b="1" i="0">
                <a:solidFill>
                  <a:srgbClr val="FFFFFF"/>
                </a:solidFill>
                <a:latin typeface="Consolas"/>
              </a:rPr>
              <a:t>•  addChapters</a:t>
            </a:r>
          </a:p>
        </p:txBody>
      </p:sp>
      <p:sp>
        <p:nvSpPr>
          <p:cNvPr id="19" name="TextBox 18"/>
          <p:cNvSpPr txBox="1"/>
          <p:nvPr/>
        </p:nvSpPr>
        <p:spPr>
          <a:xfrm>
            <a:off x="1115568" y="3749039"/>
            <a:ext cx="2743200" cy="274320"/>
          </a:xfrm>
          <a:prstGeom prst="rect">
            <a:avLst/>
          </a:prstGeom>
          <a:noFill/>
        </p:spPr>
        <p:txBody>
          <a:bodyPr wrap="square" lIns="0" rIns="0" tIns="0" bIns="0" anchor="t">
            <a:spAutoFit/>
          </a:bodyPr>
          <a:lstStyle/>
          <a:p>
            <a:pPr algn="l">
              <a:lnSpc>
                <a:spcPct val="100000"/>
              </a:lnSpc>
            </a:pPr>
            <a:r>
              <a:rPr sz="1300" b="1" i="0">
                <a:solidFill>
                  <a:srgbClr val="FFFFFF"/>
                </a:solidFill>
                <a:latin typeface="Consolas"/>
              </a:rPr>
              <a:t>•  addTopics</a:t>
            </a:r>
          </a:p>
        </p:txBody>
      </p:sp>
      <p:sp>
        <p:nvSpPr>
          <p:cNvPr id="20" name="TextBox 19"/>
          <p:cNvSpPr txBox="1"/>
          <p:nvPr/>
        </p:nvSpPr>
        <p:spPr>
          <a:xfrm>
            <a:off x="932688" y="4133087"/>
            <a:ext cx="5029200" cy="402336"/>
          </a:xfrm>
          <a:prstGeom prst="rect">
            <a:avLst/>
          </a:prstGeom>
          <a:noFill/>
        </p:spPr>
        <p:txBody>
          <a:bodyPr wrap="square" lIns="0" rIns="0" tIns="0" bIns="0" anchor="t">
            <a:spAutoFit/>
          </a:bodyPr>
          <a:lstStyle/>
          <a:p>
            <a:pPr algn="l">
              <a:lnSpc>
                <a:spcPct val="118000"/>
              </a:lnSpc>
            </a:pPr>
            <a:r>
              <a:rPr sz="1100" b="0" i="0">
                <a:solidFill>
                  <a:srgbClr val="9BA7B4"/>
                </a:solidFill>
                <a:latin typeface="Calibri"/>
              </a:rPr>
              <a:t>There is no verb for deleting, completing, renaming or reordering. Such a request cannot be represented — so it cannot be applied.</a:t>
            </a:r>
          </a:p>
        </p:txBody>
      </p:sp>
      <p:sp>
        <p:nvSpPr>
          <p:cNvPr id="21" name="Rounded Rectangle 20"/>
          <p:cNvSpPr/>
          <p:nvPr/>
        </p:nvSpPr>
        <p:spPr>
          <a:xfrm>
            <a:off x="6473952" y="2523744"/>
            <a:ext cx="5059375"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675120" y="2743200"/>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697479"/>
            <a:ext cx="449244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Structural, not a prompt instruction</a:t>
            </a:r>
          </a:p>
        </p:txBody>
      </p:sp>
      <p:sp>
        <p:nvSpPr>
          <p:cNvPr id="24" name="TextBox 23"/>
          <p:cNvSpPr txBox="1"/>
          <p:nvPr/>
        </p:nvSpPr>
        <p:spPr>
          <a:xfrm>
            <a:off x="6693408" y="3090672"/>
            <a:ext cx="4620463" cy="-54864"/>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Safety comes from the program's shape, not from asking the model nicely.</a:t>
            </a:r>
          </a:p>
        </p:txBody>
      </p:sp>
      <p:sp>
        <p:nvSpPr>
          <p:cNvPr id="25" name="Rounded Rectangle 24"/>
          <p:cNvSpPr/>
          <p:nvPr/>
        </p:nvSpPr>
        <p:spPr>
          <a:xfrm>
            <a:off x="6473952" y="3246120"/>
            <a:ext cx="5059375"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675120" y="3465576"/>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419856"/>
            <a:ext cx="449244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Model output is untrusted input</a:t>
            </a:r>
          </a:p>
        </p:txBody>
      </p:sp>
      <p:sp>
        <p:nvSpPr>
          <p:cNvPr id="28" name="TextBox 27"/>
          <p:cNvSpPr txBox="1"/>
          <p:nvPr/>
        </p:nvSpPr>
        <p:spPr>
          <a:xfrm>
            <a:off x="6693408" y="3813048"/>
            <a:ext cx="4620463" cy="-54864"/>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Names returned by the model are validated exactly as typed user input is.</a:t>
            </a:r>
          </a:p>
        </p:txBody>
      </p:sp>
      <p:sp>
        <p:nvSpPr>
          <p:cNvPr id="29" name="Rounded Rectangle 28"/>
          <p:cNvSpPr/>
          <p:nvPr/>
        </p:nvSpPr>
        <p:spPr>
          <a:xfrm>
            <a:off x="6473952" y="3968496"/>
            <a:ext cx="5059375"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675120" y="4187952"/>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0" y="4142232"/>
            <a:ext cx="449244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Large proposals are flagged</a:t>
            </a:r>
          </a:p>
        </p:txBody>
      </p:sp>
      <p:sp>
        <p:nvSpPr>
          <p:cNvPr id="32" name="TextBox 31"/>
          <p:cNvSpPr txBox="1"/>
          <p:nvPr/>
        </p:nvSpPr>
        <p:spPr>
          <a:xfrm>
            <a:off x="6693408" y="4535424"/>
            <a:ext cx="4620463" cy="-54864"/>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Anything over 200 topics is marked too large to review meaningfully.</a:t>
            </a:r>
          </a:p>
        </p:txBody>
      </p:sp>
      <p:sp>
        <p:nvSpPr>
          <p:cNvPr id="33" name="Rounded Rectangle 32"/>
          <p:cNvSpPr/>
          <p:nvPr/>
        </p:nvSpPr>
        <p:spPr>
          <a:xfrm>
            <a:off x="658368" y="4864608"/>
            <a:ext cx="10874959" cy="603504"/>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32688" y="5020056"/>
            <a:ext cx="10326319" cy="329184"/>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The AI is also the one feature that requires connectivity — and the interface says so rather than failing silently.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LAYERED CLIENT, MANAGED CLOUD BACKEND</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System Architecture</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18</a:t>
            </a:r>
          </a:p>
        </p:txBody>
      </p:sp>
      <p:sp>
        <p:nvSpPr>
          <p:cNvPr id="8" name="Rounded Rectangle 7"/>
          <p:cNvSpPr/>
          <p:nvPr/>
        </p:nvSpPr>
        <p:spPr>
          <a:xfrm>
            <a:off x="658368" y="1389888"/>
            <a:ext cx="5943600" cy="356616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554480"/>
            <a:ext cx="4572000" cy="256032"/>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MOBILE CLIENT — REACT NATIVE / EXPO</a:t>
            </a:r>
          </a:p>
        </p:txBody>
      </p:sp>
      <p:sp>
        <p:nvSpPr>
          <p:cNvPr id="10" name="Rounded Rectangle 9"/>
          <p:cNvSpPr/>
          <p:nvPr/>
        </p:nvSpPr>
        <p:spPr>
          <a:xfrm>
            <a:off x="896112" y="1901952"/>
            <a:ext cx="5468112"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Presentation</a:t>
            </a:r>
          </a:p>
          <a:p>
            <a:pPr algn="ctr">
              <a:spcBef>
                <a:spcPts val="200"/>
              </a:spcBef>
            </a:pPr>
            <a:r>
              <a:rPr sz="850">
                <a:solidFill>
                  <a:srgbClr val="0B0F14"/>
                </a:solidFill>
                <a:latin typeface="Calibri"/>
              </a:rPr>
              <a:t>Expo Router screens · design-system components</a:t>
            </a:r>
          </a:p>
        </p:txBody>
      </p:sp>
      <p:sp>
        <p:nvSpPr>
          <p:cNvPr id="11" name="Rectangle 10"/>
          <p:cNvSpPr/>
          <p:nvPr/>
        </p:nvSpPr>
        <p:spPr>
          <a:xfrm>
            <a:off x="896112" y="1901952"/>
            <a:ext cx="50292" cy="4937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 y="2505456"/>
            <a:ext cx="5468112"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State</a:t>
            </a:r>
          </a:p>
          <a:p>
            <a:pPr algn="ctr">
              <a:spcBef>
                <a:spcPts val="200"/>
              </a:spcBef>
            </a:pPr>
            <a:r>
              <a:rPr sz="850">
                <a:solidFill>
                  <a:srgbClr val="0B0F14"/>
                </a:solidFill>
                <a:latin typeface="Calibri"/>
              </a:rPr>
              <a:t>Zustand stores, one per feature</a:t>
            </a:r>
          </a:p>
        </p:txBody>
      </p:sp>
      <p:sp>
        <p:nvSpPr>
          <p:cNvPr id="13" name="Rectangle 12"/>
          <p:cNvSpPr/>
          <p:nvPr/>
        </p:nvSpPr>
        <p:spPr>
          <a:xfrm>
            <a:off x="896112" y="2505456"/>
            <a:ext cx="50292" cy="493776"/>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 y="3108960"/>
            <a:ext cx="5468112"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Domain — packages/shared</a:t>
            </a:r>
          </a:p>
          <a:p>
            <a:pPr algn="ctr">
              <a:spcBef>
                <a:spcPts val="200"/>
              </a:spcBef>
            </a:pPr>
            <a:r>
              <a:rPr sz="850">
                <a:solidFill>
                  <a:srgbClr val="0B0F14"/>
                </a:solidFill>
                <a:latin typeface="Calibri"/>
              </a:rPr>
              <a:t>progress · timer · scheduling · merge · AI parsing</a:t>
            </a:r>
          </a:p>
        </p:txBody>
      </p:sp>
      <p:sp>
        <p:nvSpPr>
          <p:cNvPr id="15" name="Rectangle 14"/>
          <p:cNvSpPr/>
          <p:nvPr/>
        </p:nvSpPr>
        <p:spPr>
          <a:xfrm>
            <a:off x="896112" y="3108960"/>
            <a:ext cx="50292" cy="4937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6112" y="3712464"/>
            <a:ext cx="5468112"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Repository</a:t>
            </a:r>
          </a:p>
          <a:p>
            <a:pPr algn="ctr">
              <a:spcBef>
                <a:spcPts val="200"/>
              </a:spcBef>
            </a:pPr>
            <a:r>
              <a:rPr sz="850">
                <a:solidFill>
                  <a:srgbClr val="0B0F14"/>
                </a:solidFill>
                <a:latin typeface="Calibri"/>
              </a:rPr>
              <a:t>typed data access</a:t>
            </a:r>
          </a:p>
        </p:txBody>
      </p:sp>
      <p:sp>
        <p:nvSpPr>
          <p:cNvPr id="17" name="Rectangle 16"/>
          <p:cNvSpPr/>
          <p:nvPr/>
        </p:nvSpPr>
        <p:spPr>
          <a:xfrm>
            <a:off x="896112" y="3712464"/>
            <a:ext cx="50292"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112" y="4315968"/>
            <a:ext cx="5468112"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SQLite via Drizzle ORM</a:t>
            </a:r>
          </a:p>
          <a:p>
            <a:pPr algn="ctr">
              <a:spcBef>
                <a:spcPts val="200"/>
              </a:spcBef>
            </a:pPr>
            <a:r>
              <a:rPr sz="850">
                <a:solidFill>
                  <a:srgbClr val="0B0F14"/>
                </a:solidFill>
                <a:latin typeface="Calibri"/>
              </a:rPr>
              <a:t>expo-sqlite on device · sql.js WASM in browser</a:t>
            </a:r>
          </a:p>
        </p:txBody>
      </p:sp>
      <p:sp>
        <p:nvSpPr>
          <p:cNvPr id="19" name="Rectangle 18"/>
          <p:cNvSpPr/>
          <p:nvPr/>
        </p:nvSpPr>
        <p:spPr>
          <a:xfrm>
            <a:off x="896112" y="4315968"/>
            <a:ext cx="50292" cy="4937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931152" y="1389888"/>
            <a:ext cx="4602175" cy="2395728"/>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68896" y="1554480"/>
            <a:ext cx="3657600" cy="256032"/>
          </a:xfrm>
          <a:prstGeom prst="rect">
            <a:avLst/>
          </a:prstGeom>
          <a:noFill/>
        </p:spPr>
        <p:txBody>
          <a:bodyPr wrap="square" lIns="0" rIns="0" tIns="0" bIns="0" anchor="t">
            <a:spAutoFit/>
          </a:bodyPr>
          <a:lstStyle/>
          <a:p>
            <a:pPr algn="l">
              <a:lnSpc>
                <a:spcPct val="100000"/>
              </a:lnSpc>
            </a:pPr>
            <a:r>
              <a:rPr sz="950" b="1" i="0">
                <a:solidFill>
                  <a:srgbClr val="065F46"/>
                </a:solidFill>
                <a:latin typeface="Calibri"/>
              </a:rPr>
              <a:t>SUPABASE — BACKEND PLATFORM</a:t>
            </a:r>
          </a:p>
        </p:txBody>
      </p:sp>
      <p:sp>
        <p:nvSpPr>
          <p:cNvPr id="22" name="Rounded Rectangle 21"/>
          <p:cNvSpPr/>
          <p:nvPr/>
        </p:nvSpPr>
        <p:spPr>
          <a:xfrm>
            <a:off x="7168896" y="1920240"/>
            <a:ext cx="4126687"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Supabase Auth</a:t>
            </a:r>
          </a:p>
          <a:p>
            <a:pPr algn="ctr">
              <a:spcBef>
                <a:spcPts val="200"/>
              </a:spcBef>
            </a:pPr>
            <a:r>
              <a:rPr sz="850">
                <a:solidFill>
                  <a:srgbClr val="0B0F14"/>
                </a:solidFill>
                <a:latin typeface="Calibri"/>
              </a:rPr>
              <a:t>email · Google · phone OTP</a:t>
            </a:r>
          </a:p>
        </p:txBody>
      </p:sp>
      <p:sp>
        <p:nvSpPr>
          <p:cNvPr id="23" name="Rounded Rectangle 22"/>
          <p:cNvSpPr/>
          <p:nvPr/>
        </p:nvSpPr>
        <p:spPr>
          <a:xfrm>
            <a:off x="7168896" y="2523744"/>
            <a:ext cx="4126687"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PostgreSQL</a:t>
            </a:r>
          </a:p>
          <a:p>
            <a:pPr algn="ctr">
              <a:spcBef>
                <a:spcPts val="200"/>
              </a:spcBef>
            </a:pPr>
            <a:r>
              <a:rPr sz="850">
                <a:solidFill>
                  <a:srgbClr val="0B0F14"/>
                </a:solidFill>
                <a:latin typeface="Calibri"/>
              </a:rPr>
              <a:t>Row Level Security on every table</a:t>
            </a:r>
          </a:p>
        </p:txBody>
      </p:sp>
      <p:sp>
        <p:nvSpPr>
          <p:cNvPr id="24" name="Rounded Rectangle 23"/>
          <p:cNvSpPr/>
          <p:nvPr/>
        </p:nvSpPr>
        <p:spPr>
          <a:xfrm>
            <a:off x="7168896" y="3127248"/>
            <a:ext cx="4126687" cy="49377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1">
                <a:solidFill>
                  <a:srgbClr val="0B0F14"/>
                </a:solidFill>
                <a:latin typeface="Calibri"/>
              </a:rPr>
              <a:t>Edge Functions</a:t>
            </a:r>
          </a:p>
          <a:p>
            <a:pPr algn="ctr">
              <a:spcBef>
                <a:spcPts val="200"/>
              </a:spcBef>
            </a:pPr>
            <a:r>
              <a:rPr sz="850">
                <a:solidFill>
                  <a:srgbClr val="0B0F14"/>
                </a:solidFill>
                <a:latin typeface="Calibri"/>
              </a:rPr>
              <a:t>ask-gemini · delete-account (Deno)</a:t>
            </a:r>
          </a:p>
        </p:txBody>
      </p:sp>
      <p:sp>
        <p:nvSpPr>
          <p:cNvPr id="25" name="Rounded Rectangle 24"/>
          <p:cNvSpPr/>
          <p:nvPr/>
        </p:nvSpPr>
        <p:spPr>
          <a:xfrm>
            <a:off x="6931152" y="4005072"/>
            <a:ext cx="4602175" cy="603504"/>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Google Gemini API</a:t>
            </a:r>
          </a:p>
          <a:p>
            <a:pPr algn="ctr">
              <a:spcBef>
                <a:spcPts val="200"/>
              </a:spcBef>
            </a:pPr>
            <a:r>
              <a:rPr sz="900">
                <a:solidFill>
                  <a:srgbClr val="FFFFFF"/>
                </a:solidFill>
                <a:latin typeface="Calibri"/>
              </a:rPr>
              <a:t>gemini-3.6-flash</a:t>
            </a:r>
          </a:p>
        </p:txBody>
      </p:sp>
      <p:sp>
        <p:nvSpPr>
          <p:cNvPr id="26" name="Left-Right Arrow 25"/>
          <p:cNvSpPr/>
          <p:nvPr/>
        </p:nvSpPr>
        <p:spPr>
          <a:xfrm>
            <a:off x="6547104" y="4352544"/>
            <a:ext cx="329184" cy="164592"/>
          </a:xfrm>
          <a:prstGeom prst="lef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4078224"/>
            <a:ext cx="1463040" cy="219456"/>
          </a:xfrm>
          <a:prstGeom prst="rect">
            <a:avLst/>
          </a:prstGeom>
          <a:noFill/>
        </p:spPr>
        <p:txBody>
          <a:bodyPr wrap="square" lIns="0" rIns="0" tIns="0" bIns="0" anchor="t">
            <a:spAutoFit/>
          </a:bodyPr>
          <a:lstStyle/>
          <a:p>
            <a:pPr algn="ctr">
              <a:lnSpc>
                <a:spcPct val="100000"/>
              </a:lnSpc>
            </a:pPr>
            <a:r>
              <a:rPr sz="850" b="0" i="0">
                <a:solidFill>
                  <a:srgbClr val="6B7684"/>
                </a:solidFill>
                <a:latin typeface="Calibri"/>
              </a:rPr>
              <a:t>sync engine</a:t>
            </a:r>
          </a:p>
        </p:txBody>
      </p:sp>
      <p:sp>
        <p:nvSpPr>
          <p:cNvPr id="28" name="TextBox 27"/>
          <p:cNvSpPr txBox="1"/>
          <p:nvPr/>
        </p:nvSpPr>
        <p:spPr>
          <a:xfrm>
            <a:off x="658368" y="5102352"/>
            <a:ext cx="10874959" cy="365760"/>
          </a:xfrm>
          <a:prstGeom prst="rect">
            <a:avLst/>
          </a:prstGeom>
          <a:noFill/>
        </p:spPr>
        <p:txBody>
          <a:bodyPr wrap="square" lIns="0" rIns="0" tIns="0" bIns="0" anchor="t">
            <a:spAutoFit/>
          </a:bodyPr>
          <a:lstStyle/>
          <a:p>
            <a:pPr algn="l">
              <a:lnSpc>
                <a:spcPct val="118000"/>
              </a:lnSpc>
            </a:pPr>
            <a:r>
              <a:rPr sz="1100" b="0" i="1">
                <a:solidFill>
                  <a:srgbClr val="6B7684"/>
                </a:solidFill>
                <a:latin typeface="Calibri"/>
              </a:rPr>
              <a:t>The domain layer holds no React Native imports, so the app, the browser build and the test suite compute progress with the same code — they cannot disagree about a percentage.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NINE LOCAL TABLES, EIGHT SYNCHRONISED</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Database and Data Model</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19</a:t>
            </a:r>
          </a:p>
        </p:txBody>
      </p:sp>
      <p:sp>
        <p:nvSpPr>
          <p:cNvPr id="8" name="Rounded Rectangle 7"/>
          <p:cNvSpPr/>
          <p:nvPr/>
        </p:nvSpPr>
        <p:spPr>
          <a:xfrm>
            <a:off x="658368" y="1389888"/>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499616"/>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trackers</a:t>
            </a:r>
          </a:p>
        </p:txBody>
      </p:sp>
      <p:sp>
        <p:nvSpPr>
          <p:cNvPr id="10" name="TextBox 9"/>
          <p:cNvSpPr txBox="1"/>
          <p:nvPr/>
        </p:nvSpPr>
        <p:spPr>
          <a:xfrm>
            <a:off x="822959" y="1755648"/>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one exam or course</a:t>
            </a:r>
          </a:p>
        </p:txBody>
      </p:sp>
      <p:sp>
        <p:nvSpPr>
          <p:cNvPr id="11" name="Oval 10"/>
          <p:cNvSpPr/>
          <p:nvPr/>
        </p:nvSpPr>
        <p:spPr>
          <a:xfrm>
            <a:off x="2578607" y="1517904"/>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99232" y="1389888"/>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63824" y="1499616"/>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subjects</a:t>
            </a:r>
          </a:p>
        </p:txBody>
      </p:sp>
      <p:sp>
        <p:nvSpPr>
          <p:cNvPr id="14" name="TextBox 13"/>
          <p:cNvSpPr txBox="1"/>
          <p:nvPr/>
        </p:nvSpPr>
        <p:spPr>
          <a:xfrm>
            <a:off x="3163824" y="1755648"/>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top level</a:t>
            </a:r>
          </a:p>
        </p:txBody>
      </p:sp>
      <p:sp>
        <p:nvSpPr>
          <p:cNvPr id="15" name="Oval 14"/>
          <p:cNvSpPr/>
          <p:nvPr/>
        </p:nvSpPr>
        <p:spPr>
          <a:xfrm>
            <a:off x="4919472" y="1517904"/>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40096" y="1389888"/>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504688" y="1499616"/>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chapters</a:t>
            </a:r>
          </a:p>
        </p:txBody>
      </p:sp>
      <p:sp>
        <p:nvSpPr>
          <p:cNvPr id="18" name="TextBox 17"/>
          <p:cNvSpPr txBox="1"/>
          <p:nvPr/>
        </p:nvSpPr>
        <p:spPr>
          <a:xfrm>
            <a:off x="5504688" y="1755648"/>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second level</a:t>
            </a:r>
          </a:p>
        </p:txBody>
      </p:sp>
      <p:sp>
        <p:nvSpPr>
          <p:cNvPr id="19" name="Oval 18"/>
          <p:cNvSpPr/>
          <p:nvPr/>
        </p:nvSpPr>
        <p:spPr>
          <a:xfrm>
            <a:off x="7260335" y="1517904"/>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2176272"/>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59" y="2286000"/>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topics</a:t>
            </a:r>
          </a:p>
        </p:txBody>
      </p:sp>
      <p:sp>
        <p:nvSpPr>
          <p:cNvPr id="22" name="TextBox 21"/>
          <p:cNvSpPr txBox="1"/>
          <p:nvPr/>
        </p:nvSpPr>
        <p:spPr>
          <a:xfrm>
            <a:off x="822959" y="2542032"/>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primary completion unit</a:t>
            </a:r>
          </a:p>
        </p:txBody>
      </p:sp>
      <p:sp>
        <p:nvSpPr>
          <p:cNvPr id="23" name="Oval 22"/>
          <p:cNvSpPr/>
          <p:nvPr/>
        </p:nvSpPr>
        <p:spPr>
          <a:xfrm>
            <a:off x="2578607" y="2304288"/>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99232" y="2176272"/>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163824" y="2286000"/>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subtopics</a:t>
            </a:r>
          </a:p>
        </p:txBody>
      </p:sp>
      <p:sp>
        <p:nvSpPr>
          <p:cNvPr id="26" name="TextBox 25"/>
          <p:cNvSpPr txBox="1"/>
          <p:nvPr/>
        </p:nvSpPr>
        <p:spPr>
          <a:xfrm>
            <a:off x="3163824" y="2542032"/>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optional fourth level</a:t>
            </a:r>
          </a:p>
        </p:txBody>
      </p:sp>
      <p:sp>
        <p:nvSpPr>
          <p:cNvPr id="27" name="Oval 26"/>
          <p:cNvSpPr/>
          <p:nvPr/>
        </p:nvSpPr>
        <p:spPr>
          <a:xfrm>
            <a:off x="4919472" y="2304288"/>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40096" y="2176272"/>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504688" y="2286000"/>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flashcards</a:t>
            </a:r>
          </a:p>
        </p:txBody>
      </p:sp>
      <p:sp>
        <p:nvSpPr>
          <p:cNvPr id="30" name="TextBox 29"/>
          <p:cNvSpPr txBox="1"/>
          <p:nvPr/>
        </p:nvSpPr>
        <p:spPr>
          <a:xfrm>
            <a:off x="5504688" y="2542032"/>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revision + schedule</a:t>
            </a:r>
          </a:p>
        </p:txBody>
      </p:sp>
      <p:sp>
        <p:nvSpPr>
          <p:cNvPr id="31" name="Oval 30"/>
          <p:cNvSpPr/>
          <p:nvPr/>
        </p:nvSpPr>
        <p:spPr>
          <a:xfrm>
            <a:off x="7260335" y="2304288"/>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2962656"/>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59" y="3072384"/>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study_sessions</a:t>
            </a:r>
          </a:p>
        </p:txBody>
      </p:sp>
      <p:sp>
        <p:nvSpPr>
          <p:cNvPr id="34" name="TextBox 33"/>
          <p:cNvSpPr txBox="1"/>
          <p:nvPr/>
        </p:nvSpPr>
        <p:spPr>
          <a:xfrm>
            <a:off x="822959" y="3328416"/>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recorded study</a:t>
            </a:r>
          </a:p>
        </p:txBody>
      </p:sp>
      <p:sp>
        <p:nvSpPr>
          <p:cNvPr id="35" name="Oval 34"/>
          <p:cNvSpPr/>
          <p:nvPr/>
        </p:nvSpPr>
        <p:spPr>
          <a:xfrm>
            <a:off x="2578607" y="3090672"/>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99232" y="2962656"/>
            <a:ext cx="2176272" cy="67665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163824" y="3072384"/>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reminders</a:t>
            </a:r>
          </a:p>
        </p:txBody>
      </p:sp>
      <p:sp>
        <p:nvSpPr>
          <p:cNvPr id="38" name="TextBox 37"/>
          <p:cNvSpPr txBox="1"/>
          <p:nvPr/>
        </p:nvSpPr>
        <p:spPr>
          <a:xfrm>
            <a:off x="3163824" y="3328416"/>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student-created</a:t>
            </a:r>
          </a:p>
        </p:txBody>
      </p:sp>
      <p:sp>
        <p:nvSpPr>
          <p:cNvPr id="39" name="Oval 38"/>
          <p:cNvSpPr/>
          <p:nvPr/>
        </p:nvSpPr>
        <p:spPr>
          <a:xfrm>
            <a:off x="4919472" y="3090672"/>
            <a:ext cx="91440" cy="914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340096" y="2962656"/>
            <a:ext cx="2176272" cy="676656"/>
          </a:xfrm>
          <a:prstGeom prst="roundRect">
            <a:avLst>
              <a:gd name="adj" fmla="val 8000"/>
            </a:avLst>
          </a:prstGeom>
          <a:solidFill>
            <a:srgbClr val="F0F3F8"/>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504688" y="3072384"/>
            <a:ext cx="1847088" cy="237744"/>
          </a:xfrm>
          <a:prstGeom prst="rect">
            <a:avLst/>
          </a:prstGeom>
          <a:noFill/>
        </p:spPr>
        <p:txBody>
          <a:bodyPr wrap="square" lIns="0" rIns="0" tIns="0" bIns="0" anchor="t">
            <a:spAutoFit/>
          </a:bodyPr>
          <a:lstStyle/>
          <a:p>
            <a:pPr algn="l">
              <a:lnSpc>
                <a:spcPct val="100000"/>
              </a:lnSpc>
            </a:pPr>
            <a:r>
              <a:rPr sz="1100" b="1" i="0">
                <a:solidFill>
                  <a:srgbClr val="0B0F14"/>
                </a:solidFill>
                <a:latin typeface="Consolas"/>
              </a:rPr>
              <a:t>preferences</a:t>
            </a:r>
          </a:p>
        </p:txBody>
      </p:sp>
      <p:sp>
        <p:nvSpPr>
          <p:cNvPr id="42" name="TextBox 41"/>
          <p:cNvSpPr txBox="1"/>
          <p:nvPr/>
        </p:nvSpPr>
        <p:spPr>
          <a:xfrm>
            <a:off x="5504688" y="3328416"/>
            <a:ext cx="1847088" cy="219456"/>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device-local settings</a:t>
            </a:r>
          </a:p>
        </p:txBody>
      </p:sp>
      <p:sp>
        <p:nvSpPr>
          <p:cNvPr id="43" name="Oval 42"/>
          <p:cNvSpPr/>
          <p:nvPr/>
        </p:nvSpPr>
        <p:spPr>
          <a:xfrm>
            <a:off x="7260335" y="3090672"/>
            <a:ext cx="91440" cy="91440"/>
          </a:xfrm>
          <a:prstGeom prst="ellipse">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3840480"/>
            <a:ext cx="6858000" cy="237744"/>
          </a:xfrm>
          <a:prstGeom prst="rect">
            <a:avLst/>
          </a:prstGeom>
          <a:noFill/>
        </p:spPr>
        <p:txBody>
          <a:bodyPr wrap="square" lIns="0" rIns="0" tIns="0" bIns="0" anchor="t">
            <a:spAutoFit/>
          </a:bodyPr>
          <a:lstStyle/>
          <a:p>
            <a:pPr algn="l">
              <a:lnSpc>
                <a:spcPct val="100000"/>
              </a:lnSpc>
            </a:pPr>
            <a:r>
              <a:rPr sz="900" b="0" i="0">
                <a:solidFill>
                  <a:srgbClr val="6B7684"/>
                </a:solidFill>
                <a:latin typeface="Calibri"/>
              </a:rPr>
              <a:t>●  synchronised          ●  device-local</a:t>
            </a:r>
          </a:p>
        </p:txBody>
      </p:sp>
      <p:sp>
        <p:nvSpPr>
          <p:cNvPr id="45" name="Rounded Rectangle 44"/>
          <p:cNvSpPr/>
          <p:nvPr/>
        </p:nvSpPr>
        <p:spPr>
          <a:xfrm>
            <a:off x="7845552" y="1389888"/>
            <a:ext cx="368777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8046720" y="1609344"/>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0" y="1563624"/>
            <a:ext cx="3120847" cy="292608"/>
          </a:xfrm>
          <a:prstGeom prst="rect">
            <a:avLst/>
          </a:prstGeom>
          <a:noFill/>
        </p:spPr>
        <p:txBody>
          <a:bodyPr wrap="square" lIns="0" rIns="0" tIns="0" bIns="0" anchor="t">
            <a:spAutoFit/>
          </a:bodyPr>
          <a:lstStyle/>
          <a:p>
            <a:pPr algn="l">
              <a:lnSpc>
                <a:spcPct val="100000"/>
              </a:lnSpc>
            </a:pPr>
            <a:r>
              <a:rPr sz="1100" b="1" i="0">
                <a:solidFill>
                  <a:srgbClr val="0B0F14"/>
                </a:solidFill>
                <a:latin typeface="Calibri"/>
              </a:rPr>
              <a:t>UUIDv7 primary keys</a:t>
            </a:r>
          </a:p>
        </p:txBody>
      </p:sp>
      <p:sp>
        <p:nvSpPr>
          <p:cNvPr id="48" name="TextBox 47"/>
          <p:cNvSpPr txBox="1"/>
          <p:nvPr/>
        </p:nvSpPr>
        <p:spPr>
          <a:xfrm>
            <a:off x="8065008" y="1956816"/>
            <a:ext cx="3248863" cy="-73152"/>
          </a:xfrm>
          <a:prstGeom prst="rect">
            <a:avLst/>
          </a:prstGeom>
          <a:noFill/>
        </p:spPr>
        <p:txBody>
          <a:bodyPr wrap="square" lIns="0" rIns="0" tIns="0" bIns="0">
            <a:spAutoFit/>
          </a:bodyPr>
          <a:lstStyle/>
          <a:p>
            <a:pPr>
              <a:lnSpc>
                <a:spcPct val="118000"/>
              </a:lnSpc>
              <a:spcAft>
                <a:spcPts val="400"/>
              </a:spcAft>
            </a:pPr>
            <a:r>
              <a:rPr sz="900" b="0">
                <a:solidFill>
                  <a:srgbClr val="4A5568"/>
                </a:solidFill>
                <a:latin typeface="Calibri"/>
              </a:rPr>
              <a:t>client-generated</a:t>
            </a:r>
          </a:p>
        </p:txBody>
      </p:sp>
      <p:sp>
        <p:nvSpPr>
          <p:cNvPr id="49" name="Rounded Rectangle 48"/>
          <p:cNvSpPr/>
          <p:nvPr/>
        </p:nvSpPr>
        <p:spPr>
          <a:xfrm>
            <a:off x="7845552" y="2121408"/>
            <a:ext cx="368777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8046720" y="2340864"/>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2295144"/>
            <a:ext cx="3120847" cy="292608"/>
          </a:xfrm>
          <a:prstGeom prst="rect">
            <a:avLst/>
          </a:prstGeom>
          <a:noFill/>
        </p:spPr>
        <p:txBody>
          <a:bodyPr wrap="square" lIns="0" rIns="0" tIns="0" bIns="0" anchor="t">
            <a:spAutoFit/>
          </a:bodyPr>
          <a:lstStyle/>
          <a:p>
            <a:pPr algn="l">
              <a:lnSpc>
                <a:spcPct val="100000"/>
              </a:lnSpc>
            </a:pPr>
            <a:r>
              <a:rPr sz="1100" b="1" i="0">
                <a:solidFill>
                  <a:srgbClr val="0B0F14"/>
                </a:solidFill>
                <a:latin typeface="Calibri"/>
              </a:rPr>
              <a:t>userId on every row</a:t>
            </a:r>
          </a:p>
        </p:txBody>
      </p:sp>
      <p:sp>
        <p:nvSpPr>
          <p:cNvPr id="52" name="TextBox 51"/>
          <p:cNvSpPr txBox="1"/>
          <p:nvPr/>
        </p:nvSpPr>
        <p:spPr>
          <a:xfrm>
            <a:off x="8065008" y="2688336"/>
            <a:ext cx="3248863" cy="-73152"/>
          </a:xfrm>
          <a:prstGeom prst="rect">
            <a:avLst/>
          </a:prstGeom>
          <a:noFill/>
        </p:spPr>
        <p:txBody>
          <a:bodyPr wrap="square" lIns="0" rIns="0" tIns="0" bIns="0">
            <a:spAutoFit/>
          </a:bodyPr>
          <a:lstStyle/>
          <a:p>
            <a:pPr>
              <a:lnSpc>
                <a:spcPct val="118000"/>
              </a:lnSpc>
              <a:spcAft>
                <a:spcPts val="400"/>
              </a:spcAft>
            </a:pPr>
            <a:r>
              <a:rPr sz="900" b="0">
                <a:solidFill>
                  <a:srgbClr val="4A5568"/>
                </a:solidFill>
                <a:latin typeface="Calibri"/>
              </a:rPr>
              <a:t>one predicate scopes a query; RLS mirrors it</a:t>
            </a:r>
          </a:p>
        </p:txBody>
      </p:sp>
      <p:sp>
        <p:nvSpPr>
          <p:cNvPr id="53" name="Rounded Rectangle 52"/>
          <p:cNvSpPr/>
          <p:nvPr/>
        </p:nvSpPr>
        <p:spPr>
          <a:xfrm>
            <a:off x="7845552" y="2852928"/>
            <a:ext cx="368777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8046720" y="3072384"/>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0" y="3026664"/>
            <a:ext cx="3120847" cy="292608"/>
          </a:xfrm>
          <a:prstGeom prst="rect">
            <a:avLst/>
          </a:prstGeom>
          <a:noFill/>
        </p:spPr>
        <p:txBody>
          <a:bodyPr wrap="square" lIns="0" rIns="0" tIns="0" bIns="0" anchor="t">
            <a:spAutoFit/>
          </a:bodyPr>
          <a:lstStyle/>
          <a:p>
            <a:pPr algn="l">
              <a:lnSpc>
                <a:spcPct val="100000"/>
              </a:lnSpc>
            </a:pPr>
            <a:r>
              <a:rPr sz="1100" b="1" i="0">
                <a:solidFill>
                  <a:srgbClr val="0B0F14"/>
                </a:solidFill>
                <a:latin typeface="Calibri"/>
              </a:rPr>
              <a:t>deletedAt tombstone</a:t>
            </a:r>
          </a:p>
        </p:txBody>
      </p:sp>
      <p:sp>
        <p:nvSpPr>
          <p:cNvPr id="56" name="TextBox 55"/>
          <p:cNvSpPr txBox="1"/>
          <p:nvPr/>
        </p:nvSpPr>
        <p:spPr>
          <a:xfrm>
            <a:off x="8065008" y="3419856"/>
            <a:ext cx="3248863" cy="-73152"/>
          </a:xfrm>
          <a:prstGeom prst="rect">
            <a:avLst/>
          </a:prstGeom>
          <a:noFill/>
        </p:spPr>
        <p:txBody>
          <a:bodyPr wrap="square" lIns="0" rIns="0" tIns="0" bIns="0">
            <a:spAutoFit/>
          </a:bodyPr>
          <a:lstStyle/>
          <a:p>
            <a:pPr>
              <a:lnSpc>
                <a:spcPct val="118000"/>
              </a:lnSpc>
              <a:spcAft>
                <a:spcPts val="400"/>
              </a:spcAft>
            </a:pPr>
            <a:r>
              <a:rPr sz="900" b="0">
                <a:solidFill>
                  <a:srgbClr val="4A5568"/>
                </a:solidFill>
                <a:latin typeface="Calibri"/>
              </a:rPr>
              <a:t>deletions survive sync</a:t>
            </a:r>
          </a:p>
        </p:txBody>
      </p:sp>
      <p:sp>
        <p:nvSpPr>
          <p:cNvPr id="57" name="Rounded Rectangle 56"/>
          <p:cNvSpPr/>
          <p:nvPr/>
        </p:nvSpPr>
        <p:spPr>
          <a:xfrm>
            <a:off x="7845552" y="3584448"/>
            <a:ext cx="368777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8046720" y="3803904"/>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29600" y="3758184"/>
            <a:ext cx="3120847" cy="292608"/>
          </a:xfrm>
          <a:prstGeom prst="rect">
            <a:avLst/>
          </a:prstGeom>
          <a:noFill/>
        </p:spPr>
        <p:txBody>
          <a:bodyPr wrap="square" lIns="0" rIns="0" tIns="0" bIns="0" anchor="t">
            <a:spAutoFit/>
          </a:bodyPr>
          <a:lstStyle/>
          <a:p>
            <a:pPr algn="l">
              <a:lnSpc>
                <a:spcPct val="100000"/>
              </a:lnSpc>
            </a:pPr>
            <a:r>
              <a:rPr sz="1100" b="1" i="0">
                <a:solidFill>
                  <a:srgbClr val="0B0F14"/>
                </a:solidFill>
                <a:latin typeface="Calibri"/>
              </a:rPr>
              <a:t>completedChangedAt</a:t>
            </a:r>
          </a:p>
        </p:txBody>
      </p:sp>
      <p:sp>
        <p:nvSpPr>
          <p:cNvPr id="60" name="TextBox 59"/>
          <p:cNvSpPr txBox="1"/>
          <p:nvPr/>
        </p:nvSpPr>
        <p:spPr>
          <a:xfrm>
            <a:off x="8065008" y="4151376"/>
            <a:ext cx="3248863" cy="-73152"/>
          </a:xfrm>
          <a:prstGeom prst="rect">
            <a:avLst/>
          </a:prstGeom>
          <a:noFill/>
        </p:spPr>
        <p:txBody>
          <a:bodyPr wrap="square" lIns="0" rIns="0" tIns="0" bIns="0">
            <a:spAutoFit/>
          </a:bodyPr>
          <a:lstStyle/>
          <a:p>
            <a:pPr>
              <a:lnSpc>
                <a:spcPct val="118000"/>
              </a:lnSpc>
              <a:spcAft>
                <a:spcPts val="400"/>
              </a:spcAft>
            </a:pPr>
            <a:r>
              <a:rPr sz="900" b="0">
                <a:solidFill>
                  <a:srgbClr val="4A5568"/>
                </a:solidFill>
                <a:latin typeface="Calibri"/>
              </a:rPr>
              <a:t>completion resolves independently of a rename</a:t>
            </a:r>
          </a:p>
        </p:txBody>
      </p:sp>
      <p:sp>
        <p:nvSpPr>
          <p:cNvPr id="61" name="Rounded Rectangle 60"/>
          <p:cNvSpPr/>
          <p:nvPr/>
        </p:nvSpPr>
        <p:spPr>
          <a:xfrm>
            <a:off x="658368" y="4242816"/>
            <a:ext cx="10874959" cy="1060704"/>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32688" y="4407408"/>
            <a:ext cx="10326319"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SOFT REFERENCES — A DELIBERATE DECISION</a:t>
            </a:r>
          </a:p>
        </p:txBody>
      </p:sp>
      <p:sp>
        <p:nvSpPr>
          <p:cNvPr id="63" name="TextBox 62"/>
          <p:cNvSpPr txBox="1"/>
          <p:nvPr/>
        </p:nvSpPr>
        <p:spPr>
          <a:xfrm>
            <a:off x="932688" y="4700016"/>
            <a:ext cx="10326319" cy="530352"/>
          </a:xfrm>
          <a:prstGeom prst="rect">
            <a:avLst/>
          </a:prstGeom>
          <a:noFill/>
        </p:spPr>
        <p:txBody>
          <a:bodyPr wrap="square" lIns="0" rIns="0" tIns="0" bIns="0" anchor="t">
            <a:spAutoFit/>
          </a:bodyPr>
          <a:lstStyle/>
          <a:p>
            <a:pPr algn="l">
              <a:lnSpc>
                <a:spcPct val="120000"/>
              </a:lnSpc>
            </a:pPr>
            <a:r>
              <a:rPr sz="1150" b="0" i="0">
                <a:solidFill>
                  <a:srgbClr val="4A5568"/>
                </a:solidFill>
                <a:latin typeface="Calibri"/>
              </a:rPr>
              <a:t>Study sessions and flashcards carry no foreign key to the syllabus — only plain ids plus a snapshot of the names. Deleting a subject must not shrink “total time studied”: the student really did spend that time. Nor should deleting a topic destroy the cards written for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22 BUNDLED SYLLABI, IMPORTABLE OFFLINE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Syllabus Templates and Multi-Course Support</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20</a:t>
            </a:r>
          </a:p>
        </p:txBody>
      </p:sp>
      <p:sp>
        <p:nvSpPr>
          <p:cNvPr id="8" name="Rounded Rectangle 7"/>
          <p:cNvSpPr/>
          <p:nvPr/>
        </p:nvSpPr>
        <p:spPr>
          <a:xfrm>
            <a:off x="658368" y="1389888"/>
            <a:ext cx="685800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22959" y="1536192"/>
            <a:ext cx="658368" cy="566928"/>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900" b="1">
                <a:solidFill>
                  <a:srgbClr val="FFFFFF"/>
                </a:solidFill>
                <a:latin typeface="Calibri"/>
              </a:rPr>
              <a:t>3</a:t>
            </a:r>
          </a:p>
        </p:txBody>
      </p:sp>
      <p:sp>
        <p:nvSpPr>
          <p:cNvPr id="10" name="TextBox 9"/>
          <p:cNvSpPr txBox="1"/>
          <p:nvPr/>
        </p:nvSpPr>
        <p:spPr>
          <a:xfrm>
            <a:off x="1627632" y="1545336"/>
            <a:ext cx="5669280"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Generated from source syllabi</a:t>
            </a:r>
          </a:p>
        </p:txBody>
      </p:sp>
      <p:sp>
        <p:nvSpPr>
          <p:cNvPr id="11" name="TextBox 10"/>
          <p:cNvSpPr txBox="1"/>
          <p:nvPr/>
        </p:nvSpPr>
        <p:spPr>
          <a:xfrm>
            <a:off x="1627632" y="1828800"/>
            <a:ext cx="5669280" cy="365760"/>
          </a:xfrm>
          <a:prstGeom prst="rect">
            <a:avLst/>
          </a:prstGeom>
          <a:noFill/>
        </p:spPr>
        <p:txBody>
          <a:bodyPr wrap="square" lIns="0" rIns="0" tIns="0" bIns="0" anchor="t">
            <a:spAutoFit/>
          </a:bodyPr>
          <a:lstStyle/>
          <a:p>
            <a:pPr algn="l">
              <a:lnSpc>
                <a:spcPct val="114000"/>
              </a:lnSpc>
            </a:pPr>
            <a:r>
              <a:rPr sz="950" b="0" i="0">
                <a:solidFill>
                  <a:srgbClr val="4A5568"/>
                </a:solidFill>
                <a:latin typeface="Calibri"/>
              </a:rPr>
              <a:t>JEE Main 2026 · JEE Advanced 2026 · NEET UG 2026</a:t>
            </a:r>
          </a:p>
        </p:txBody>
      </p:sp>
      <p:sp>
        <p:nvSpPr>
          <p:cNvPr id="12" name="Rounded Rectangle 11"/>
          <p:cNvSpPr/>
          <p:nvPr/>
        </p:nvSpPr>
        <p:spPr>
          <a:xfrm>
            <a:off x="658368" y="2359152"/>
            <a:ext cx="685800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22959" y="2505456"/>
            <a:ext cx="658368" cy="566928"/>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900" b="1">
                <a:solidFill>
                  <a:srgbClr val="FFFFFF"/>
                </a:solidFill>
                <a:latin typeface="Calibri"/>
              </a:rPr>
              <a:t>10</a:t>
            </a:r>
          </a:p>
        </p:txBody>
      </p:sp>
      <p:sp>
        <p:nvSpPr>
          <p:cNvPr id="14" name="TextBox 13"/>
          <p:cNvSpPr txBox="1"/>
          <p:nvPr/>
        </p:nvSpPr>
        <p:spPr>
          <a:xfrm>
            <a:off x="1627632" y="2514600"/>
            <a:ext cx="5669280"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CBSE, hand-written</a:t>
            </a:r>
          </a:p>
        </p:txBody>
      </p:sp>
      <p:sp>
        <p:nvSpPr>
          <p:cNvPr id="15" name="TextBox 14"/>
          <p:cNvSpPr txBox="1"/>
          <p:nvPr/>
        </p:nvSpPr>
        <p:spPr>
          <a:xfrm>
            <a:off x="1627632" y="2798064"/>
            <a:ext cx="5669280" cy="365760"/>
          </a:xfrm>
          <a:prstGeom prst="rect">
            <a:avLst/>
          </a:prstGeom>
          <a:noFill/>
        </p:spPr>
        <p:txBody>
          <a:bodyPr wrap="square" lIns="0" rIns="0" tIns="0" bIns="0" anchor="t">
            <a:spAutoFit/>
          </a:bodyPr>
          <a:lstStyle/>
          <a:p>
            <a:pPr algn="l">
              <a:lnSpc>
                <a:spcPct val="114000"/>
              </a:lnSpc>
            </a:pPr>
            <a:r>
              <a:rPr sz="950" b="0" i="0">
                <a:solidFill>
                  <a:srgbClr val="4A5568"/>
                </a:solidFill>
                <a:latin typeface="Calibri"/>
              </a:rPr>
              <a:t>Classes 9 &amp; 10 · Classes 11 &amp; 12 in PCM, PCMB, Commerce, Humanities</a:t>
            </a:r>
          </a:p>
        </p:txBody>
      </p:sp>
      <p:sp>
        <p:nvSpPr>
          <p:cNvPr id="16" name="Rounded Rectangle 15"/>
          <p:cNvSpPr/>
          <p:nvPr/>
        </p:nvSpPr>
        <p:spPr>
          <a:xfrm>
            <a:off x="658368" y="3328416"/>
            <a:ext cx="685800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2959" y="3474720"/>
            <a:ext cx="658368" cy="566928"/>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900" b="1">
                <a:solidFill>
                  <a:srgbClr val="FFFFFF"/>
                </a:solidFill>
                <a:latin typeface="Calibri"/>
              </a:rPr>
              <a:t>9</a:t>
            </a:r>
          </a:p>
        </p:txBody>
      </p:sp>
      <p:sp>
        <p:nvSpPr>
          <p:cNvPr id="18" name="TextBox 17"/>
          <p:cNvSpPr txBox="1"/>
          <p:nvPr/>
        </p:nvSpPr>
        <p:spPr>
          <a:xfrm>
            <a:off x="1627632" y="3483864"/>
            <a:ext cx="5669280"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Competitive &amp; professional</a:t>
            </a:r>
          </a:p>
        </p:txBody>
      </p:sp>
      <p:sp>
        <p:nvSpPr>
          <p:cNvPr id="19" name="TextBox 18"/>
          <p:cNvSpPr txBox="1"/>
          <p:nvPr/>
        </p:nvSpPr>
        <p:spPr>
          <a:xfrm>
            <a:off x="1627632" y="3767328"/>
            <a:ext cx="5669280" cy="365760"/>
          </a:xfrm>
          <a:prstGeom prst="rect">
            <a:avLst/>
          </a:prstGeom>
          <a:noFill/>
        </p:spPr>
        <p:txBody>
          <a:bodyPr wrap="square" lIns="0" rIns="0" tIns="0" bIns="0" anchor="t">
            <a:spAutoFit/>
          </a:bodyPr>
          <a:lstStyle/>
          <a:p>
            <a:pPr algn="l">
              <a:lnSpc>
                <a:spcPct val="114000"/>
              </a:lnSpc>
            </a:pPr>
            <a:r>
              <a:rPr sz="950" b="0" i="0">
                <a:solidFill>
                  <a:srgbClr val="4A5568"/>
                </a:solidFill>
                <a:latin typeface="Calibri"/>
              </a:rPr>
              <a:t>UPSC CSE · SSC CGL · GATE CS/IT · NEET PG · CA Foundation / Inter / Final · MBBS · DevOps</a:t>
            </a:r>
          </a:p>
        </p:txBody>
      </p:sp>
      <p:sp>
        <p:nvSpPr>
          <p:cNvPr id="20" name="Rounded Rectangle 19"/>
          <p:cNvSpPr/>
          <p:nvPr/>
        </p:nvSpPr>
        <p:spPr>
          <a:xfrm>
            <a:off x="658368" y="4389120"/>
            <a:ext cx="3291840" cy="117043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59536" y="4608576"/>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5" y="4562856"/>
            <a:ext cx="2724912"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Bundled, not fetched</a:t>
            </a:r>
          </a:p>
        </p:txBody>
      </p:sp>
      <p:sp>
        <p:nvSpPr>
          <p:cNvPr id="23" name="TextBox 22"/>
          <p:cNvSpPr txBox="1"/>
          <p:nvPr/>
        </p:nvSpPr>
        <p:spPr>
          <a:xfrm>
            <a:off x="877824" y="4956048"/>
            <a:ext cx="2852928" cy="438912"/>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Templates ship inside the app, so importing one works with no connectivity. Each shows its source and a verified flag.</a:t>
            </a:r>
          </a:p>
        </p:txBody>
      </p:sp>
      <p:sp>
        <p:nvSpPr>
          <p:cNvPr id="24" name="Rounded Rectangle 23"/>
          <p:cNvSpPr/>
          <p:nvPr/>
        </p:nvSpPr>
        <p:spPr>
          <a:xfrm>
            <a:off x="4224528" y="4389120"/>
            <a:ext cx="3291840" cy="117043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4425696" y="4608576"/>
            <a:ext cx="50292" cy="23774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08576" y="4562856"/>
            <a:ext cx="2724912"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Importing copies</a:t>
            </a:r>
          </a:p>
        </p:txBody>
      </p:sp>
      <p:sp>
        <p:nvSpPr>
          <p:cNvPr id="27" name="TextBox 26"/>
          <p:cNvSpPr txBox="1"/>
          <p:nvPr/>
        </p:nvSpPr>
        <p:spPr>
          <a:xfrm>
            <a:off x="4443984" y="4956048"/>
            <a:ext cx="2852928" cy="438912"/>
          </a:xfrm>
          <a:prstGeom prst="rect">
            <a:avLst/>
          </a:prstGeom>
          <a:noFill/>
        </p:spPr>
        <p:txBody>
          <a:bodyPr wrap="square" lIns="0" rIns="0" tIns="0" bIns="0">
            <a:spAutoFit/>
          </a:bodyPr>
          <a:lstStyle/>
          <a:p>
            <a:pPr>
              <a:lnSpc>
                <a:spcPct val="118000"/>
              </a:lnSpc>
              <a:spcAft>
                <a:spcPts val="400"/>
              </a:spcAft>
            </a:pPr>
            <a:r>
              <a:rPr sz="1050" b="0">
                <a:solidFill>
                  <a:srgbClr val="4A5568"/>
                </a:solidFill>
                <a:latin typeface="Calibri"/>
              </a:rPr>
              <a:t>The template id is a label, not a live link. The student's copy is theirs and free to diverge.</a:t>
            </a:r>
          </a:p>
        </p:txBody>
      </p:sp>
      <p:pic>
        <p:nvPicPr>
          <p:cNvPr id="28" name="Picture 27" descr="templates.png"/>
          <p:cNvPicPr>
            <a:picLocks noChangeAspect="1"/>
          </p:cNvPicPr>
          <p:nvPr/>
        </p:nvPicPr>
        <p:blipFill>
          <a:blip r:embed="rId3"/>
          <a:stretch>
            <a:fillRect/>
          </a:stretch>
        </p:blipFill>
        <p:spPr>
          <a:xfrm>
            <a:off x="8138160" y="1316736"/>
            <a:ext cx="1943148" cy="44805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ISOLATION ENFORCED AT THE DATABASE</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Authentication and Security</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21</a:t>
            </a:r>
          </a:p>
        </p:txBody>
      </p:sp>
      <p:sp>
        <p:nvSpPr>
          <p:cNvPr id="8" name="Rounded Rectangle 7"/>
          <p:cNvSpPr/>
          <p:nvPr/>
        </p:nvSpPr>
        <p:spPr>
          <a:xfrm>
            <a:off x="658368" y="1389888"/>
            <a:ext cx="2567863"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1517904"/>
            <a:ext cx="2202103"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Email + password</a:t>
            </a:r>
          </a:p>
        </p:txBody>
      </p:sp>
      <p:sp>
        <p:nvSpPr>
          <p:cNvPr id="10" name="TextBox 9"/>
          <p:cNvSpPr txBox="1"/>
          <p:nvPr/>
        </p:nvSpPr>
        <p:spPr>
          <a:xfrm>
            <a:off x="859536" y="1810512"/>
            <a:ext cx="2202103" cy="237744"/>
          </a:xfrm>
          <a:prstGeom prst="rect">
            <a:avLst/>
          </a:prstGeom>
          <a:noFill/>
        </p:spPr>
        <p:txBody>
          <a:bodyPr wrap="square" lIns="0" rIns="0" tIns="0" bIns="0" anchor="t">
            <a:spAutoFit/>
          </a:bodyPr>
          <a:lstStyle/>
          <a:p>
            <a:pPr algn="l">
              <a:lnSpc>
                <a:spcPct val="100000"/>
              </a:lnSpc>
            </a:pPr>
            <a:r>
              <a:rPr sz="950" b="1" i="0">
                <a:solidFill>
                  <a:srgbClr val="10B981"/>
                </a:solidFill>
                <a:latin typeface="Calibri"/>
              </a:rPr>
              <a:t>Implemented</a:t>
            </a:r>
          </a:p>
        </p:txBody>
      </p:sp>
      <p:sp>
        <p:nvSpPr>
          <p:cNvPr id="11" name="Rounded Rectangle 10"/>
          <p:cNvSpPr/>
          <p:nvPr/>
        </p:nvSpPr>
        <p:spPr>
          <a:xfrm>
            <a:off x="3427399" y="1389888"/>
            <a:ext cx="2567863"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28567" y="1517904"/>
            <a:ext cx="2202103"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Google OAuth</a:t>
            </a:r>
          </a:p>
        </p:txBody>
      </p:sp>
      <p:sp>
        <p:nvSpPr>
          <p:cNvPr id="13" name="TextBox 12"/>
          <p:cNvSpPr txBox="1"/>
          <p:nvPr/>
        </p:nvSpPr>
        <p:spPr>
          <a:xfrm>
            <a:off x="3628567" y="1810512"/>
            <a:ext cx="2202103" cy="237744"/>
          </a:xfrm>
          <a:prstGeom prst="rect">
            <a:avLst/>
          </a:prstGeom>
          <a:noFill/>
        </p:spPr>
        <p:txBody>
          <a:bodyPr wrap="square" lIns="0" rIns="0" tIns="0" bIns="0" anchor="t">
            <a:spAutoFit/>
          </a:bodyPr>
          <a:lstStyle/>
          <a:p>
            <a:pPr algn="l">
              <a:lnSpc>
                <a:spcPct val="100000"/>
              </a:lnSpc>
            </a:pPr>
            <a:r>
              <a:rPr sz="950" b="1" i="0">
                <a:solidFill>
                  <a:srgbClr val="10B981"/>
                </a:solidFill>
                <a:latin typeface="Calibri"/>
              </a:rPr>
              <a:t>PKCE via system browser</a:t>
            </a:r>
          </a:p>
        </p:txBody>
      </p:sp>
      <p:sp>
        <p:nvSpPr>
          <p:cNvPr id="14" name="Rounded Rectangle 13"/>
          <p:cNvSpPr/>
          <p:nvPr/>
        </p:nvSpPr>
        <p:spPr>
          <a:xfrm>
            <a:off x="6196431" y="1389888"/>
            <a:ext cx="2567863"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97599" y="1517904"/>
            <a:ext cx="2202103"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Phone OTP</a:t>
            </a:r>
          </a:p>
        </p:txBody>
      </p:sp>
      <p:sp>
        <p:nvSpPr>
          <p:cNvPr id="16" name="TextBox 15"/>
          <p:cNvSpPr txBox="1"/>
          <p:nvPr/>
        </p:nvSpPr>
        <p:spPr>
          <a:xfrm>
            <a:off x="6397599" y="1810512"/>
            <a:ext cx="2202103" cy="237744"/>
          </a:xfrm>
          <a:prstGeom prst="rect">
            <a:avLst/>
          </a:prstGeom>
          <a:noFill/>
        </p:spPr>
        <p:txBody>
          <a:bodyPr wrap="square" lIns="0" rIns="0" tIns="0" bIns="0" anchor="t">
            <a:spAutoFit/>
          </a:bodyPr>
          <a:lstStyle/>
          <a:p>
            <a:pPr algn="l">
              <a:lnSpc>
                <a:spcPct val="100000"/>
              </a:lnSpc>
            </a:pPr>
            <a:r>
              <a:rPr sz="950" b="1" i="0">
                <a:solidFill>
                  <a:srgbClr val="F59E0B"/>
                </a:solidFill>
                <a:latin typeface="Calibri"/>
              </a:rPr>
              <a:t>Behind a feature flag</a:t>
            </a:r>
          </a:p>
        </p:txBody>
      </p:sp>
      <p:sp>
        <p:nvSpPr>
          <p:cNvPr id="17" name="Rounded Rectangle 16"/>
          <p:cNvSpPr/>
          <p:nvPr/>
        </p:nvSpPr>
        <p:spPr>
          <a:xfrm>
            <a:off x="8965463" y="1389888"/>
            <a:ext cx="2567863" cy="786384"/>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66631" y="1517904"/>
            <a:ext cx="2202103"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Guest mode</a:t>
            </a:r>
          </a:p>
        </p:txBody>
      </p:sp>
      <p:sp>
        <p:nvSpPr>
          <p:cNvPr id="19" name="TextBox 18"/>
          <p:cNvSpPr txBox="1"/>
          <p:nvPr/>
        </p:nvSpPr>
        <p:spPr>
          <a:xfrm>
            <a:off x="9166631" y="1810512"/>
            <a:ext cx="2202103"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Local only; no AI</a:t>
            </a:r>
          </a:p>
        </p:txBody>
      </p:sp>
      <p:sp>
        <p:nvSpPr>
          <p:cNvPr id="20" name="Rounded Rectangle 19"/>
          <p:cNvSpPr/>
          <p:nvPr/>
        </p:nvSpPr>
        <p:spPr>
          <a:xfrm>
            <a:off x="658368" y="2395728"/>
            <a:ext cx="5669280" cy="2212848"/>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2578608"/>
            <a:ext cx="5120640" cy="256032"/>
          </a:xfrm>
          <a:prstGeom prst="rect">
            <a:avLst/>
          </a:prstGeom>
          <a:noFill/>
        </p:spPr>
        <p:txBody>
          <a:bodyPr wrap="square" lIns="0" rIns="0" tIns="0" bIns="0" anchor="t">
            <a:spAutoFit/>
          </a:bodyPr>
          <a:lstStyle/>
          <a:p>
            <a:pPr algn="l">
              <a:lnSpc>
                <a:spcPct val="100000"/>
              </a:lnSpc>
            </a:pPr>
            <a:r>
              <a:rPr sz="950" b="1" i="0">
                <a:solidFill>
                  <a:srgbClr val="06B6D4"/>
                </a:solidFill>
                <a:latin typeface="Calibri"/>
              </a:rPr>
              <a:t>ROW LEVEL SECURITY</a:t>
            </a:r>
          </a:p>
        </p:txBody>
      </p:sp>
      <p:sp>
        <p:nvSpPr>
          <p:cNvPr id="22" name="Oval 21"/>
          <p:cNvSpPr/>
          <p:nvPr/>
        </p:nvSpPr>
        <p:spPr>
          <a:xfrm>
            <a:off x="932688" y="2999232"/>
            <a:ext cx="82296" cy="822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2907792"/>
            <a:ext cx="4937760" cy="457200"/>
          </a:xfrm>
          <a:prstGeom prst="rect">
            <a:avLst/>
          </a:prstGeom>
          <a:noFill/>
        </p:spPr>
        <p:txBody>
          <a:bodyPr wrap="square" lIns="0" rIns="0" tIns="0" bIns="0" anchor="t">
            <a:spAutoFit/>
          </a:bodyPr>
          <a:lstStyle/>
          <a:p>
            <a:pPr algn="l">
              <a:lnSpc>
                <a:spcPct val="118000"/>
              </a:lnSpc>
            </a:pPr>
            <a:r>
              <a:rPr sz="1100" b="0" i="0">
                <a:solidFill>
                  <a:srgbClr val="FFFFFF"/>
                </a:solidFill>
                <a:latin typeface="Calibri"/>
              </a:rPr>
              <a:t>Enabled AND forced on every table — forcing applies policies to the owner too</a:t>
            </a:r>
          </a:p>
        </p:txBody>
      </p:sp>
      <p:sp>
        <p:nvSpPr>
          <p:cNvPr id="24" name="Oval 23"/>
          <p:cNvSpPr/>
          <p:nvPr/>
        </p:nvSpPr>
        <p:spPr>
          <a:xfrm>
            <a:off x="932688" y="3511296"/>
            <a:ext cx="82296" cy="822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33856" y="3419856"/>
            <a:ext cx="4937760" cy="457200"/>
          </a:xfrm>
          <a:prstGeom prst="rect">
            <a:avLst/>
          </a:prstGeom>
          <a:noFill/>
        </p:spPr>
        <p:txBody>
          <a:bodyPr wrap="square" lIns="0" rIns="0" tIns="0" bIns="0" anchor="t">
            <a:spAutoFit/>
          </a:bodyPr>
          <a:lstStyle/>
          <a:p>
            <a:pPr algn="l">
              <a:lnSpc>
                <a:spcPct val="118000"/>
              </a:lnSpc>
            </a:pPr>
            <a:r>
              <a:rPr sz="1100" b="0" i="0">
                <a:solidFill>
                  <a:srgbClr val="FFFFFF"/>
                </a:solidFill>
                <a:latin typeface="Calibri"/>
              </a:rPr>
              <a:t>Policies for select, insert and update, each scoped to auth.uid()</a:t>
            </a:r>
          </a:p>
        </p:txBody>
      </p:sp>
      <p:sp>
        <p:nvSpPr>
          <p:cNvPr id="26" name="Oval 25"/>
          <p:cNvSpPr/>
          <p:nvPr/>
        </p:nvSpPr>
        <p:spPr>
          <a:xfrm>
            <a:off x="932688" y="4023360"/>
            <a:ext cx="82296" cy="822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33856" y="3931920"/>
            <a:ext cx="4937760" cy="457200"/>
          </a:xfrm>
          <a:prstGeom prst="rect">
            <a:avLst/>
          </a:prstGeom>
          <a:noFill/>
        </p:spPr>
        <p:txBody>
          <a:bodyPr wrap="square" lIns="0" rIns="0" tIns="0" bIns="0" anchor="t">
            <a:spAutoFit/>
          </a:bodyPr>
          <a:lstStyle/>
          <a:p>
            <a:pPr algn="l">
              <a:lnSpc>
                <a:spcPct val="118000"/>
              </a:lnSpc>
            </a:pPr>
            <a:r>
              <a:rPr sz="1100" b="0" i="0">
                <a:solidFill>
                  <a:srgbClr val="FFFFFF"/>
                </a:solidFill>
                <a:latin typeface="Calibri"/>
              </a:rPr>
              <a:t>No delete policy anywhere — deletion is by tombstone, enforced at the database</a:t>
            </a:r>
          </a:p>
        </p:txBody>
      </p:sp>
      <p:sp>
        <p:nvSpPr>
          <p:cNvPr id="28" name="Rounded Rectangle 27"/>
          <p:cNvSpPr/>
          <p:nvPr/>
        </p:nvSpPr>
        <p:spPr>
          <a:xfrm>
            <a:off x="6565392" y="2395728"/>
            <a:ext cx="496793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766559" y="2615184"/>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0" y="2569464"/>
            <a:ext cx="440100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Supabase anon key</a:t>
            </a:r>
          </a:p>
        </p:txBody>
      </p:sp>
      <p:sp>
        <p:nvSpPr>
          <p:cNvPr id="31" name="TextBox 30"/>
          <p:cNvSpPr txBox="1"/>
          <p:nvPr/>
        </p:nvSpPr>
        <p:spPr>
          <a:xfrm>
            <a:off x="6784848" y="2962656"/>
            <a:ext cx="4529023" cy="-73152"/>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In the bundle — correct. It is publishable and bounded entirely by RLS.</a:t>
            </a:r>
          </a:p>
        </p:txBody>
      </p:sp>
      <p:sp>
        <p:nvSpPr>
          <p:cNvPr id="32" name="Rounded Rectangle 31"/>
          <p:cNvSpPr/>
          <p:nvPr/>
        </p:nvSpPr>
        <p:spPr>
          <a:xfrm>
            <a:off x="6565392" y="3145536"/>
            <a:ext cx="496793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766559" y="3364991"/>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3319272"/>
            <a:ext cx="440100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Service-role key</a:t>
            </a:r>
          </a:p>
        </p:txBody>
      </p:sp>
      <p:sp>
        <p:nvSpPr>
          <p:cNvPr id="35" name="TextBox 34"/>
          <p:cNvSpPr txBox="1"/>
          <p:nvPr/>
        </p:nvSpPr>
        <p:spPr>
          <a:xfrm>
            <a:off x="6784848" y="3712463"/>
            <a:ext cx="4529023" cy="-73152"/>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Server-side only, inside the delete-account Edge Function.</a:t>
            </a:r>
          </a:p>
        </p:txBody>
      </p:sp>
      <p:sp>
        <p:nvSpPr>
          <p:cNvPr id="36" name="Rounded Rectangle 35"/>
          <p:cNvSpPr/>
          <p:nvPr/>
        </p:nvSpPr>
        <p:spPr>
          <a:xfrm>
            <a:off x="6565392" y="3895344"/>
            <a:ext cx="4967935" cy="65836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766559" y="4114800"/>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0" y="4069080"/>
            <a:ext cx="4401007" cy="292608"/>
          </a:xfrm>
          <a:prstGeom prst="rect">
            <a:avLst/>
          </a:prstGeom>
          <a:noFill/>
        </p:spPr>
        <p:txBody>
          <a:bodyPr wrap="square" lIns="0" rIns="0" tIns="0" bIns="0" anchor="t">
            <a:spAutoFit/>
          </a:bodyPr>
          <a:lstStyle/>
          <a:p>
            <a:pPr algn="l">
              <a:lnSpc>
                <a:spcPct val="100000"/>
              </a:lnSpc>
            </a:pPr>
            <a:r>
              <a:rPr sz="1150" b="1" i="0">
                <a:solidFill>
                  <a:srgbClr val="0B0F14"/>
                </a:solidFill>
                <a:latin typeface="Calibri"/>
              </a:rPr>
              <a:t>Gemini API key</a:t>
            </a:r>
          </a:p>
        </p:txBody>
      </p:sp>
      <p:sp>
        <p:nvSpPr>
          <p:cNvPr id="39" name="TextBox 38"/>
          <p:cNvSpPr txBox="1"/>
          <p:nvPr/>
        </p:nvSpPr>
        <p:spPr>
          <a:xfrm>
            <a:off x="6784848" y="4462272"/>
            <a:ext cx="4529023" cy="-73152"/>
          </a:xfrm>
          <a:prstGeom prst="rect">
            <a:avLst/>
          </a:prstGeom>
          <a:noFill/>
        </p:spPr>
        <p:txBody>
          <a:bodyPr wrap="square" lIns="0" rIns="0" tIns="0" bIns="0">
            <a:spAutoFit/>
          </a:bodyPr>
          <a:lstStyle/>
          <a:p>
            <a:pPr>
              <a:lnSpc>
                <a:spcPct val="118000"/>
              </a:lnSpc>
              <a:spcAft>
                <a:spcPts val="400"/>
              </a:spcAft>
            </a:pPr>
            <a:r>
              <a:rPr sz="950" b="0">
                <a:solidFill>
                  <a:srgbClr val="4A5568"/>
                </a:solidFill>
                <a:latin typeface="Calibri"/>
              </a:rPr>
              <a:t>Server-side only, read from a Supabase secret.</a:t>
            </a:r>
          </a:p>
        </p:txBody>
      </p:sp>
      <p:sp>
        <p:nvSpPr>
          <p:cNvPr id="40" name="Rounded Rectangle 39"/>
          <p:cNvSpPr/>
          <p:nvPr/>
        </p:nvSpPr>
        <p:spPr>
          <a:xfrm>
            <a:off x="658368" y="4791456"/>
            <a:ext cx="10874959" cy="640080"/>
          </a:xfrm>
          <a:prstGeom prst="roundRect">
            <a:avLst>
              <a:gd name="adj" fmla="val 8000"/>
            </a:avLst>
          </a:prstGeom>
          <a:solidFill>
            <a:srgbClr val="FEF2F2"/>
          </a:solidFill>
          <a:ln w="1270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32688" y="4965192"/>
            <a:ext cx="10326319" cy="329184"/>
          </a:xfrm>
          <a:prstGeom prst="rect">
            <a:avLst/>
          </a:prstGeom>
          <a:noFill/>
        </p:spPr>
        <p:txBody>
          <a:bodyPr wrap="square" lIns="0" rIns="0" tIns="0" bIns="0" anchor="t">
            <a:spAutoFit/>
          </a:bodyPr>
          <a:lstStyle/>
          <a:p>
            <a:pPr algn="l">
              <a:lnSpc>
                <a:spcPct val="100000"/>
              </a:lnSpc>
            </a:pPr>
            <a:r>
              <a:rPr sz="1150" b="0" i="0">
                <a:solidFill>
                  <a:srgbClr val="991B1B"/>
                </a:solidFill>
                <a:latin typeface="Calibri"/>
              </a:rPr>
              <a:t>Known limitation: the local SQLite database is not encrypted, and the AI rate limit is in-memory per instance rather than a durable quota.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AS BUILT, WITH VERSIONS</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Technology Stack</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22</a:t>
            </a:r>
          </a:p>
        </p:txBody>
      </p:sp>
      <p:sp>
        <p:nvSpPr>
          <p:cNvPr id="8" name="Rounded Rectangle 7"/>
          <p:cNvSpPr/>
          <p:nvPr/>
        </p:nvSpPr>
        <p:spPr>
          <a:xfrm>
            <a:off x="658368" y="1389888"/>
            <a:ext cx="2554147" cy="320040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389888"/>
            <a:ext cx="2554147" cy="5029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609344"/>
            <a:ext cx="2151811"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Language &amp; Frontend</a:t>
            </a:r>
          </a:p>
        </p:txBody>
      </p:sp>
      <p:sp>
        <p:nvSpPr>
          <p:cNvPr id="11" name="TextBox 10"/>
          <p:cNvSpPr txBox="1"/>
          <p:nvPr/>
        </p:nvSpPr>
        <p:spPr>
          <a:xfrm>
            <a:off x="859536" y="1993392"/>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TypeScript</a:t>
            </a:r>
          </a:p>
        </p:txBody>
      </p:sp>
      <p:sp>
        <p:nvSpPr>
          <p:cNvPr id="12" name="TextBox 11"/>
          <p:cNvSpPr txBox="1"/>
          <p:nvPr/>
        </p:nvSpPr>
        <p:spPr>
          <a:xfrm>
            <a:off x="859536" y="2176272"/>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strict, everywhere</a:t>
            </a:r>
          </a:p>
        </p:txBody>
      </p:sp>
      <p:sp>
        <p:nvSpPr>
          <p:cNvPr id="13" name="TextBox 12"/>
          <p:cNvSpPr txBox="1"/>
          <p:nvPr/>
        </p:nvSpPr>
        <p:spPr>
          <a:xfrm>
            <a:off x="859536" y="2414016"/>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React Native 0.86</a:t>
            </a:r>
          </a:p>
        </p:txBody>
      </p:sp>
      <p:sp>
        <p:nvSpPr>
          <p:cNvPr id="14" name="TextBox 13"/>
          <p:cNvSpPr txBox="1"/>
          <p:nvPr/>
        </p:nvSpPr>
        <p:spPr>
          <a:xfrm>
            <a:off x="859536" y="2596896"/>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Android primary</a:t>
            </a:r>
          </a:p>
        </p:txBody>
      </p:sp>
      <p:sp>
        <p:nvSpPr>
          <p:cNvPr id="15" name="TextBox 14"/>
          <p:cNvSpPr txBox="1"/>
          <p:nvPr/>
        </p:nvSpPr>
        <p:spPr>
          <a:xfrm>
            <a:off x="859536" y="2834640"/>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Expo SDK 57</a:t>
            </a:r>
          </a:p>
        </p:txBody>
      </p:sp>
      <p:sp>
        <p:nvSpPr>
          <p:cNvPr id="16" name="TextBox 15"/>
          <p:cNvSpPr txBox="1"/>
          <p:nvPr/>
        </p:nvSpPr>
        <p:spPr>
          <a:xfrm>
            <a:off x="859536" y="3017520"/>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runtime &amp; build</a:t>
            </a:r>
          </a:p>
        </p:txBody>
      </p:sp>
      <p:sp>
        <p:nvSpPr>
          <p:cNvPr id="17" name="TextBox 16"/>
          <p:cNvSpPr txBox="1"/>
          <p:nvPr/>
        </p:nvSpPr>
        <p:spPr>
          <a:xfrm>
            <a:off x="859536" y="3255264"/>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Expo Router</a:t>
            </a:r>
          </a:p>
        </p:txBody>
      </p:sp>
      <p:sp>
        <p:nvSpPr>
          <p:cNvPr id="18" name="TextBox 17"/>
          <p:cNvSpPr txBox="1"/>
          <p:nvPr/>
        </p:nvSpPr>
        <p:spPr>
          <a:xfrm>
            <a:off x="859536" y="3438144"/>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file-based routing</a:t>
            </a:r>
          </a:p>
        </p:txBody>
      </p:sp>
      <p:sp>
        <p:nvSpPr>
          <p:cNvPr id="19" name="TextBox 18"/>
          <p:cNvSpPr txBox="1"/>
          <p:nvPr/>
        </p:nvSpPr>
        <p:spPr>
          <a:xfrm>
            <a:off x="859536" y="3675888"/>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Zustand 5</a:t>
            </a:r>
          </a:p>
        </p:txBody>
      </p:sp>
      <p:sp>
        <p:nvSpPr>
          <p:cNvPr id="20" name="TextBox 19"/>
          <p:cNvSpPr txBox="1"/>
          <p:nvPr/>
        </p:nvSpPr>
        <p:spPr>
          <a:xfrm>
            <a:off x="859536" y="3858768"/>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state management</a:t>
            </a:r>
          </a:p>
        </p:txBody>
      </p:sp>
      <p:sp>
        <p:nvSpPr>
          <p:cNvPr id="21" name="TextBox 20"/>
          <p:cNvSpPr txBox="1"/>
          <p:nvPr/>
        </p:nvSpPr>
        <p:spPr>
          <a:xfrm>
            <a:off x="859536" y="4096512"/>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NativeWind</a:t>
            </a:r>
          </a:p>
        </p:txBody>
      </p:sp>
      <p:sp>
        <p:nvSpPr>
          <p:cNvPr id="22" name="TextBox 21"/>
          <p:cNvSpPr txBox="1"/>
          <p:nvPr/>
        </p:nvSpPr>
        <p:spPr>
          <a:xfrm>
            <a:off x="859536" y="4279392"/>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styling</a:t>
            </a:r>
          </a:p>
        </p:txBody>
      </p:sp>
      <p:sp>
        <p:nvSpPr>
          <p:cNvPr id="23" name="Rounded Rectangle 22"/>
          <p:cNvSpPr/>
          <p:nvPr/>
        </p:nvSpPr>
        <p:spPr>
          <a:xfrm>
            <a:off x="3431971" y="1389888"/>
            <a:ext cx="2554147" cy="320040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431971" y="1389888"/>
            <a:ext cx="2554147"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33139" y="1609344"/>
            <a:ext cx="2151811"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Data Layer</a:t>
            </a:r>
          </a:p>
        </p:txBody>
      </p:sp>
      <p:sp>
        <p:nvSpPr>
          <p:cNvPr id="26" name="TextBox 25"/>
          <p:cNvSpPr txBox="1"/>
          <p:nvPr/>
        </p:nvSpPr>
        <p:spPr>
          <a:xfrm>
            <a:off x="3633139" y="1993392"/>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SQLite</a:t>
            </a:r>
          </a:p>
        </p:txBody>
      </p:sp>
      <p:sp>
        <p:nvSpPr>
          <p:cNvPr id="27" name="TextBox 26"/>
          <p:cNvSpPr txBox="1"/>
          <p:nvPr/>
        </p:nvSpPr>
        <p:spPr>
          <a:xfrm>
            <a:off x="3633139" y="2176272"/>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expo-sqlite on device</a:t>
            </a:r>
          </a:p>
        </p:txBody>
      </p:sp>
      <p:sp>
        <p:nvSpPr>
          <p:cNvPr id="28" name="TextBox 27"/>
          <p:cNvSpPr txBox="1"/>
          <p:nvPr/>
        </p:nvSpPr>
        <p:spPr>
          <a:xfrm>
            <a:off x="3633139" y="2414016"/>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sql.js (WASM)</a:t>
            </a:r>
          </a:p>
        </p:txBody>
      </p:sp>
      <p:sp>
        <p:nvSpPr>
          <p:cNvPr id="29" name="TextBox 28"/>
          <p:cNvSpPr txBox="1"/>
          <p:nvPr/>
        </p:nvSpPr>
        <p:spPr>
          <a:xfrm>
            <a:off x="3633139" y="2596896"/>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in the browser</a:t>
            </a:r>
          </a:p>
        </p:txBody>
      </p:sp>
      <p:sp>
        <p:nvSpPr>
          <p:cNvPr id="30" name="TextBox 29"/>
          <p:cNvSpPr txBox="1"/>
          <p:nvPr/>
        </p:nvSpPr>
        <p:spPr>
          <a:xfrm>
            <a:off x="3633139" y="2834640"/>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Drizzle ORM 0.45</a:t>
            </a:r>
          </a:p>
        </p:txBody>
      </p:sp>
      <p:sp>
        <p:nvSpPr>
          <p:cNvPr id="31" name="TextBox 30"/>
          <p:cNvSpPr txBox="1"/>
          <p:nvPr/>
        </p:nvSpPr>
        <p:spPr>
          <a:xfrm>
            <a:off x="3633139" y="3017520"/>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typed schema &amp; queries</a:t>
            </a:r>
          </a:p>
        </p:txBody>
      </p:sp>
      <p:sp>
        <p:nvSpPr>
          <p:cNvPr id="32" name="TextBox 31"/>
          <p:cNvSpPr txBox="1"/>
          <p:nvPr/>
        </p:nvSpPr>
        <p:spPr>
          <a:xfrm>
            <a:off x="3633139" y="3255264"/>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PostgreSQL</a:t>
            </a:r>
          </a:p>
        </p:txBody>
      </p:sp>
      <p:sp>
        <p:nvSpPr>
          <p:cNvPr id="33" name="TextBox 32"/>
          <p:cNvSpPr txBox="1"/>
          <p:nvPr/>
        </p:nvSpPr>
        <p:spPr>
          <a:xfrm>
            <a:off x="3633139" y="3438144"/>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cloud, with RLS</a:t>
            </a:r>
          </a:p>
        </p:txBody>
      </p:sp>
      <p:sp>
        <p:nvSpPr>
          <p:cNvPr id="34" name="Rounded Rectangle 33"/>
          <p:cNvSpPr/>
          <p:nvPr/>
        </p:nvSpPr>
        <p:spPr>
          <a:xfrm>
            <a:off x="6205575" y="1389888"/>
            <a:ext cx="2554147" cy="320040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05575" y="1389888"/>
            <a:ext cx="2554147"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743" y="1609344"/>
            <a:ext cx="2151811"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Backend &amp; AI</a:t>
            </a:r>
          </a:p>
        </p:txBody>
      </p:sp>
      <p:sp>
        <p:nvSpPr>
          <p:cNvPr id="37" name="TextBox 36"/>
          <p:cNvSpPr txBox="1"/>
          <p:nvPr/>
        </p:nvSpPr>
        <p:spPr>
          <a:xfrm>
            <a:off x="6406743" y="1993392"/>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Supabase</a:t>
            </a:r>
          </a:p>
        </p:txBody>
      </p:sp>
      <p:sp>
        <p:nvSpPr>
          <p:cNvPr id="38" name="TextBox 37"/>
          <p:cNvSpPr txBox="1"/>
          <p:nvPr/>
        </p:nvSpPr>
        <p:spPr>
          <a:xfrm>
            <a:off x="6406743" y="2176272"/>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the backend platform</a:t>
            </a:r>
          </a:p>
        </p:txBody>
      </p:sp>
      <p:sp>
        <p:nvSpPr>
          <p:cNvPr id="39" name="TextBox 38"/>
          <p:cNvSpPr txBox="1"/>
          <p:nvPr/>
        </p:nvSpPr>
        <p:spPr>
          <a:xfrm>
            <a:off x="6406743" y="2414016"/>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Supabase Auth</a:t>
            </a:r>
          </a:p>
        </p:txBody>
      </p:sp>
      <p:sp>
        <p:nvSpPr>
          <p:cNvPr id="40" name="TextBox 39"/>
          <p:cNvSpPr txBox="1"/>
          <p:nvPr/>
        </p:nvSpPr>
        <p:spPr>
          <a:xfrm>
            <a:off x="6406743" y="2596896"/>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authentication</a:t>
            </a:r>
          </a:p>
        </p:txBody>
      </p:sp>
      <p:sp>
        <p:nvSpPr>
          <p:cNvPr id="41" name="TextBox 40"/>
          <p:cNvSpPr txBox="1"/>
          <p:nvPr/>
        </p:nvSpPr>
        <p:spPr>
          <a:xfrm>
            <a:off x="6406743" y="2834640"/>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Edge Functions</a:t>
            </a:r>
          </a:p>
        </p:txBody>
      </p:sp>
      <p:sp>
        <p:nvSpPr>
          <p:cNvPr id="42" name="TextBox 41"/>
          <p:cNvSpPr txBox="1"/>
          <p:nvPr/>
        </p:nvSpPr>
        <p:spPr>
          <a:xfrm>
            <a:off x="6406743" y="3017520"/>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Deno runtime</a:t>
            </a:r>
          </a:p>
        </p:txBody>
      </p:sp>
      <p:sp>
        <p:nvSpPr>
          <p:cNvPr id="43" name="TextBox 42"/>
          <p:cNvSpPr txBox="1"/>
          <p:nvPr/>
        </p:nvSpPr>
        <p:spPr>
          <a:xfrm>
            <a:off x="6406743" y="3255264"/>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Google Gemini</a:t>
            </a:r>
          </a:p>
        </p:txBody>
      </p:sp>
      <p:sp>
        <p:nvSpPr>
          <p:cNvPr id="44" name="TextBox 43"/>
          <p:cNvSpPr txBox="1"/>
          <p:nvPr/>
        </p:nvSpPr>
        <p:spPr>
          <a:xfrm>
            <a:off x="6406743" y="3438144"/>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gemini-3.6-flash</a:t>
            </a:r>
          </a:p>
        </p:txBody>
      </p:sp>
      <p:sp>
        <p:nvSpPr>
          <p:cNvPr id="45" name="Rounded Rectangle 44"/>
          <p:cNvSpPr/>
          <p:nvPr/>
        </p:nvSpPr>
        <p:spPr>
          <a:xfrm>
            <a:off x="8979179" y="1389888"/>
            <a:ext cx="2554147" cy="3200400"/>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979179" y="1389888"/>
            <a:ext cx="2554147"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80347" y="1609344"/>
            <a:ext cx="2151811" cy="256032"/>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Build &amp; Tooling</a:t>
            </a:r>
          </a:p>
        </p:txBody>
      </p:sp>
      <p:sp>
        <p:nvSpPr>
          <p:cNvPr id="48" name="TextBox 47"/>
          <p:cNvSpPr txBox="1"/>
          <p:nvPr/>
        </p:nvSpPr>
        <p:spPr>
          <a:xfrm>
            <a:off x="9180347" y="1993392"/>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EAS Build</a:t>
            </a:r>
          </a:p>
        </p:txBody>
      </p:sp>
      <p:sp>
        <p:nvSpPr>
          <p:cNvPr id="49" name="TextBox 48"/>
          <p:cNvSpPr txBox="1"/>
          <p:nvPr/>
        </p:nvSpPr>
        <p:spPr>
          <a:xfrm>
            <a:off x="9180347" y="2176272"/>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Android APK</a:t>
            </a:r>
          </a:p>
        </p:txBody>
      </p:sp>
      <p:sp>
        <p:nvSpPr>
          <p:cNvPr id="50" name="TextBox 49"/>
          <p:cNvSpPr txBox="1"/>
          <p:nvPr/>
        </p:nvSpPr>
        <p:spPr>
          <a:xfrm>
            <a:off x="9180347" y="2414016"/>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GitHub Actions</a:t>
            </a:r>
          </a:p>
        </p:txBody>
      </p:sp>
      <p:sp>
        <p:nvSpPr>
          <p:cNvPr id="51" name="TextBox 50"/>
          <p:cNvSpPr txBox="1"/>
          <p:nvPr/>
        </p:nvSpPr>
        <p:spPr>
          <a:xfrm>
            <a:off x="9180347" y="2596896"/>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CI on every PR</a:t>
            </a:r>
          </a:p>
        </p:txBody>
      </p:sp>
      <p:sp>
        <p:nvSpPr>
          <p:cNvPr id="52" name="TextBox 51"/>
          <p:cNvSpPr txBox="1"/>
          <p:nvPr/>
        </p:nvSpPr>
        <p:spPr>
          <a:xfrm>
            <a:off x="9180347" y="2834640"/>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Jest · Vitest · Deno</a:t>
            </a:r>
          </a:p>
        </p:txBody>
      </p:sp>
      <p:sp>
        <p:nvSpPr>
          <p:cNvPr id="53" name="TextBox 52"/>
          <p:cNvSpPr txBox="1"/>
          <p:nvPr/>
        </p:nvSpPr>
        <p:spPr>
          <a:xfrm>
            <a:off x="9180347" y="3017520"/>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test runners</a:t>
            </a:r>
          </a:p>
        </p:txBody>
      </p:sp>
      <p:sp>
        <p:nvSpPr>
          <p:cNvPr id="54" name="TextBox 53"/>
          <p:cNvSpPr txBox="1"/>
          <p:nvPr/>
        </p:nvSpPr>
        <p:spPr>
          <a:xfrm>
            <a:off x="9180347" y="3255264"/>
            <a:ext cx="2151811" cy="219456"/>
          </a:xfrm>
          <a:prstGeom prst="rect">
            <a:avLst/>
          </a:prstGeom>
          <a:noFill/>
        </p:spPr>
        <p:txBody>
          <a:bodyPr wrap="square" lIns="0" rIns="0" tIns="0" bIns="0" anchor="t">
            <a:spAutoFit/>
          </a:bodyPr>
          <a:lstStyle/>
          <a:p>
            <a:pPr algn="l">
              <a:lnSpc>
                <a:spcPct val="100000"/>
              </a:lnSpc>
            </a:pPr>
            <a:r>
              <a:rPr sz="1050" b="1" i="0">
                <a:solidFill>
                  <a:srgbClr val="4A5568"/>
                </a:solidFill>
                <a:latin typeface="Calibri"/>
              </a:rPr>
              <a:t>Node.js 22 · pnpm</a:t>
            </a:r>
          </a:p>
        </p:txBody>
      </p:sp>
      <p:sp>
        <p:nvSpPr>
          <p:cNvPr id="55" name="TextBox 54"/>
          <p:cNvSpPr txBox="1"/>
          <p:nvPr/>
        </p:nvSpPr>
        <p:spPr>
          <a:xfrm>
            <a:off x="9180347" y="3438144"/>
            <a:ext cx="2151811" cy="201168"/>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toolchain only</a:t>
            </a:r>
          </a:p>
        </p:txBody>
      </p:sp>
      <p:sp>
        <p:nvSpPr>
          <p:cNvPr id="56" name="Rounded Rectangle 55"/>
          <p:cNvSpPr/>
          <p:nvPr/>
        </p:nvSpPr>
        <p:spPr>
          <a:xfrm>
            <a:off x="658368" y="4809744"/>
            <a:ext cx="10874959" cy="713232"/>
          </a:xfrm>
          <a:prstGeom prst="roundRect">
            <a:avLst>
              <a:gd name="adj" fmla="val 8000"/>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32688" y="4956048"/>
            <a:ext cx="10326319" cy="457200"/>
          </a:xfrm>
          <a:prstGeom prst="rect">
            <a:avLst/>
          </a:prstGeom>
          <a:noFill/>
        </p:spPr>
        <p:txBody>
          <a:bodyPr wrap="square" lIns="0" rIns="0" tIns="0" bIns="0" anchor="t">
            <a:spAutoFit/>
          </a:bodyPr>
          <a:lstStyle/>
          <a:p>
            <a:pPr algn="l">
              <a:lnSpc>
                <a:spcPct val="118000"/>
              </a:lnSpc>
            </a:pPr>
            <a:r>
              <a:rPr sz="1150" b="0" i="0">
                <a:solidFill>
                  <a:srgbClr val="78350F"/>
                </a:solidFill>
                <a:latin typeface="Calibri"/>
              </a:rPr>
              <a:t>Terminology: Node.js is our development toolchain — it runs the bundler, the test runners and the formatter. It is not this project's backend; there is no Node server in the repository. Supabase is the backend.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EVIDENCE THAT IT WORKS</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Testing and Validation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23</a:t>
            </a:r>
          </a:p>
        </p:txBody>
      </p:sp>
      <p:sp>
        <p:nvSpPr>
          <p:cNvPr id="8" name="Rounded Rectangle 7"/>
          <p:cNvSpPr/>
          <p:nvPr/>
        </p:nvSpPr>
        <p:spPr>
          <a:xfrm>
            <a:off x="658368" y="1389888"/>
            <a:ext cx="2554147" cy="102412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1536192"/>
            <a:ext cx="2115235" cy="475488"/>
          </a:xfrm>
          <a:prstGeom prst="rect">
            <a:avLst/>
          </a:prstGeom>
          <a:noFill/>
        </p:spPr>
        <p:txBody>
          <a:bodyPr wrap="square" lIns="0" rIns="0" tIns="0" bIns="0" anchor="t">
            <a:spAutoFit/>
          </a:bodyPr>
          <a:lstStyle/>
          <a:p>
            <a:pPr algn="l">
              <a:lnSpc>
                <a:spcPct val="100000"/>
              </a:lnSpc>
            </a:pPr>
            <a:r>
              <a:rPr sz="3000" b="1" i="0">
                <a:solidFill>
                  <a:srgbClr val="3B82F6"/>
                </a:solidFill>
                <a:latin typeface="Calibri"/>
              </a:rPr>
              <a:t>1,799</a:t>
            </a:r>
          </a:p>
        </p:txBody>
      </p:sp>
      <p:sp>
        <p:nvSpPr>
          <p:cNvPr id="10" name="TextBox 9"/>
          <p:cNvSpPr txBox="1"/>
          <p:nvPr/>
        </p:nvSpPr>
        <p:spPr>
          <a:xfrm>
            <a:off x="877824" y="2048256"/>
            <a:ext cx="2115235" cy="256032"/>
          </a:xfrm>
          <a:prstGeom prst="rect">
            <a:avLst/>
          </a:prstGeom>
          <a:noFill/>
        </p:spPr>
        <p:txBody>
          <a:bodyPr wrap="square" lIns="0" rIns="0" tIns="0" bIns="0" anchor="t">
            <a:spAutoFit/>
          </a:bodyPr>
          <a:lstStyle/>
          <a:p>
            <a:pPr algn="l">
              <a:lnSpc>
                <a:spcPct val="100000"/>
              </a:lnSpc>
            </a:pPr>
            <a:r>
              <a:rPr sz="1100" b="0" i="0">
                <a:solidFill>
                  <a:srgbClr val="4A5568"/>
                </a:solidFill>
                <a:latin typeface="Calibri"/>
              </a:rPr>
              <a:t>tests passing</a:t>
            </a:r>
          </a:p>
        </p:txBody>
      </p:sp>
      <p:sp>
        <p:nvSpPr>
          <p:cNvPr id="11" name="Rounded Rectangle 10"/>
          <p:cNvSpPr/>
          <p:nvPr/>
        </p:nvSpPr>
        <p:spPr>
          <a:xfrm>
            <a:off x="3431971" y="1389888"/>
            <a:ext cx="2554147" cy="102412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1427" y="1536192"/>
            <a:ext cx="2115235" cy="475488"/>
          </a:xfrm>
          <a:prstGeom prst="rect">
            <a:avLst/>
          </a:prstGeom>
          <a:noFill/>
        </p:spPr>
        <p:txBody>
          <a:bodyPr wrap="square" lIns="0" rIns="0" tIns="0" bIns="0" anchor="t">
            <a:spAutoFit/>
          </a:bodyPr>
          <a:lstStyle/>
          <a:p>
            <a:pPr algn="l">
              <a:lnSpc>
                <a:spcPct val="100000"/>
              </a:lnSpc>
            </a:pPr>
            <a:r>
              <a:rPr sz="3000" b="1" i="0">
                <a:solidFill>
                  <a:srgbClr val="A855F7"/>
                </a:solidFill>
                <a:latin typeface="Calibri"/>
              </a:rPr>
              <a:t>80</a:t>
            </a:r>
          </a:p>
        </p:txBody>
      </p:sp>
      <p:sp>
        <p:nvSpPr>
          <p:cNvPr id="13" name="TextBox 12"/>
          <p:cNvSpPr txBox="1"/>
          <p:nvPr/>
        </p:nvSpPr>
        <p:spPr>
          <a:xfrm>
            <a:off x="3651427" y="2048256"/>
            <a:ext cx="2115235" cy="256032"/>
          </a:xfrm>
          <a:prstGeom prst="rect">
            <a:avLst/>
          </a:prstGeom>
          <a:noFill/>
        </p:spPr>
        <p:txBody>
          <a:bodyPr wrap="square" lIns="0" rIns="0" tIns="0" bIns="0" anchor="t">
            <a:spAutoFit/>
          </a:bodyPr>
          <a:lstStyle/>
          <a:p>
            <a:pPr algn="l">
              <a:lnSpc>
                <a:spcPct val="100000"/>
              </a:lnSpc>
            </a:pPr>
            <a:r>
              <a:rPr sz="1100" b="0" i="0">
                <a:solidFill>
                  <a:srgbClr val="4A5568"/>
                </a:solidFill>
                <a:latin typeface="Calibri"/>
              </a:rPr>
              <a:t>test suites</a:t>
            </a:r>
          </a:p>
        </p:txBody>
      </p:sp>
      <p:sp>
        <p:nvSpPr>
          <p:cNvPr id="14" name="Rounded Rectangle 13"/>
          <p:cNvSpPr/>
          <p:nvPr/>
        </p:nvSpPr>
        <p:spPr>
          <a:xfrm>
            <a:off x="6205575" y="1389888"/>
            <a:ext cx="2554147" cy="102412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25031" y="1536192"/>
            <a:ext cx="2115235" cy="475488"/>
          </a:xfrm>
          <a:prstGeom prst="rect">
            <a:avLst/>
          </a:prstGeom>
          <a:noFill/>
        </p:spPr>
        <p:txBody>
          <a:bodyPr wrap="square" lIns="0" rIns="0" tIns="0" bIns="0" anchor="t">
            <a:spAutoFit/>
          </a:bodyPr>
          <a:lstStyle/>
          <a:p>
            <a:pPr algn="l">
              <a:lnSpc>
                <a:spcPct val="100000"/>
              </a:lnSpc>
            </a:pPr>
            <a:r>
              <a:rPr sz="3000" b="1" i="0">
                <a:solidFill>
                  <a:srgbClr val="10B981"/>
                </a:solidFill>
                <a:latin typeface="Calibri"/>
              </a:rPr>
              <a:t>6</a:t>
            </a:r>
          </a:p>
        </p:txBody>
      </p:sp>
      <p:sp>
        <p:nvSpPr>
          <p:cNvPr id="16" name="TextBox 15"/>
          <p:cNvSpPr txBox="1"/>
          <p:nvPr/>
        </p:nvSpPr>
        <p:spPr>
          <a:xfrm>
            <a:off x="6425031" y="2048256"/>
            <a:ext cx="2115235" cy="256032"/>
          </a:xfrm>
          <a:prstGeom prst="rect">
            <a:avLst/>
          </a:prstGeom>
          <a:noFill/>
        </p:spPr>
        <p:txBody>
          <a:bodyPr wrap="square" lIns="0" rIns="0" tIns="0" bIns="0" anchor="t">
            <a:spAutoFit/>
          </a:bodyPr>
          <a:lstStyle/>
          <a:p>
            <a:pPr algn="l">
              <a:lnSpc>
                <a:spcPct val="100000"/>
              </a:lnSpc>
            </a:pPr>
            <a:r>
              <a:rPr sz="1100" b="0" i="0">
                <a:solidFill>
                  <a:srgbClr val="4A5568"/>
                </a:solidFill>
                <a:latin typeface="Calibri"/>
              </a:rPr>
              <a:t>CI stages per change</a:t>
            </a:r>
          </a:p>
        </p:txBody>
      </p:sp>
      <p:sp>
        <p:nvSpPr>
          <p:cNvPr id="17" name="Rounded Rectangle 16"/>
          <p:cNvSpPr/>
          <p:nvPr/>
        </p:nvSpPr>
        <p:spPr>
          <a:xfrm>
            <a:off x="8979179" y="1389888"/>
            <a:ext cx="2554147" cy="102412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98635" y="1536192"/>
            <a:ext cx="2115235" cy="475488"/>
          </a:xfrm>
          <a:prstGeom prst="rect">
            <a:avLst/>
          </a:prstGeom>
          <a:noFill/>
        </p:spPr>
        <p:txBody>
          <a:bodyPr wrap="square" lIns="0" rIns="0" tIns="0" bIns="0" anchor="t">
            <a:spAutoFit/>
          </a:bodyPr>
          <a:lstStyle/>
          <a:p>
            <a:pPr algn="l">
              <a:lnSpc>
                <a:spcPct val="100000"/>
              </a:lnSpc>
            </a:pPr>
            <a:r>
              <a:rPr sz="3000" b="1" i="0">
                <a:solidFill>
                  <a:srgbClr val="F59E0B"/>
                </a:solidFill>
                <a:latin typeface="Calibri"/>
              </a:rPr>
              <a:t>2</a:t>
            </a:r>
          </a:p>
        </p:txBody>
      </p:sp>
      <p:sp>
        <p:nvSpPr>
          <p:cNvPr id="19" name="TextBox 18"/>
          <p:cNvSpPr txBox="1"/>
          <p:nvPr/>
        </p:nvSpPr>
        <p:spPr>
          <a:xfrm>
            <a:off x="9198635" y="2048256"/>
            <a:ext cx="2115235" cy="256032"/>
          </a:xfrm>
          <a:prstGeom prst="rect">
            <a:avLst/>
          </a:prstGeom>
          <a:noFill/>
        </p:spPr>
        <p:txBody>
          <a:bodyPr wrap="square" lIns="0" rIns="0" tIns="0" bIns="0" anchor="t">
            <a:spAutoFit/>
          </a:bodyPr>
          <a:lstStyle/>
          <a:p>
            <a:pPr algn="l">
              <a:lnSpc>
                <a:spcPct val="100000"/>
              </a:lnSpc>
            </a:pPr>
            <a:r>
              <a:rPr sz="1100" b="0" i="0">
                <a:solidFill>
                  <a:srgbClr val="4A5568"/>
                </a:solidFill>
                <a:latin typeface="Calibri"/>
              </a:rPr>
              <a:t>bundle builds verified</a:t>
            </a:r>
          </a:p>
        </p:txBody>
      </p:sp>
      <p:sp>
        <p:nvSpPr>
          <p:cNvPr id="20" name="Rounded Rectangle 19"/>
          <p:cNvSpPr/>
          <p:nvPr/>
        </p:nvSpPr>
        <p:spPr>
          <a:xfrm>
            <a:off x="658368" y="2670048"/>
            <a:ext cx="5577840" cy="2194560"/>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2834640"/>
            <a:ext cx="5120640"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TEST BREAKDOWN</a:t>
            </a:r>
          </a:p>
        </p:txBody>
      </p:sp>
      <p:sp>
        <p:nvSpPr>
          <p:cNvPr id="22" name="TextBox 21"/>
          <p:cNvSpPr txBox="1"/>
          <p:nvPr/>
        </p:nvSpPr>
        <p:spPr>
          <a:xfrm>
            <a:off x="950976" y="3200400"/>
            <a:ext cx="2194560" cy="274320"/>
          </a:xfrm>
          <a:prstGeom prst="rect">
            <a:avLst/>
          </a:prstGeom>
          <a:noFill/>
        </p:spPr>
        <p:txBody>
          <a:bodyPr wrap="square" lIns="0" rIns="0" tIns="0" bIns="0" anchor="t">
            <a:spAutoFit/>
          </a:bodyPr>
          <a:lstStyle/>
          <a:p>
            <a:pPr algn="l">
              <a:lnSpc>
                <a:spcPct val="100000"/>
              </a:lnSpc>
            </a:pPr>
            <a:r>
              <a:rPr sz="1150" b="0" i="0">
                <a:solidFill>
                  <a:srgbClr val="0B0F14"/>
                </a:solidFill>
                <a:latin typeface="Consolas"/>
              </a:rPr>
              <a:t>packages/shared</a:t>
            </a:r>
          </a:p>
        </p:txBody>
      </p:sp>
      <p:sp>
        <p:nvSpPr>
          <p:cNvPr id="23" name="TextBox 22"/>
          <p:cNvSpPr txBox="1"/>
          <p:nvPr/>
        </p:nvSpPr>
        <p:spPr>
          <a:xfrm>
            <a:off x="3401568" y="3200400"/>
            <a:ext cx="118872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15 suites</a:t>
            </a:r>
          </a:p>
        </p:txBody>
      </p:sp>
      <p:sp>
        <p:nvSpPr>
          <p:cNvPr id="24" name="TextBox 23"/>
          <p:cNvSpPr txBox="1"/>
          <p:nvPr/>
        </p:nvSpPr>
        <p:spPr>
          <a:xfrm>
            <a:off x="4681728" y="3200400"/>
            <a:ext cx="137160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512 tests</a:t>
            </a:r>
          </a:p>
        </p:txBody>
      </p:sp>
      <p:sp>
        <p:nvSpPr>
          <p:cNvPr id="25" name="TextBox 24"/>
          <p:cNvSpPr txBox="1"/>
          <p:nvPr/>
        </p:nvSpPr>
        <p:spPr>
          <a:xfrm>
            <a:off x="950976" y="3675887"/>
            <a:ext cx="2194560" cy="274320"/>
          </a:xfrm>
          <a:prstGeom prst="rect">
            <a:avLst/>
          </a:prstGeom>
          <a:noFill/>
        </p:spPr>
        <p:txBody>
          <a:bodyPr wrap="square" lIns="0" rIns="0" tIns="0" bIns="0" anchor="t">
            <a:spAutoFit/>
          </a:bodyPr>
          <a:lstStyle/>
          <a:p>
            <a:pPr algn="l">
              <a:lnSpc>
                <a:spcPct val="100000"/>
              </a:lnSpc>
            </a:pPr>
            <a:r>
              <a:rPr sz="1150" b="0" i="0">
                <a:solidFill>
                  <a:srgbClr val="0B0F14"/>
                </a:solidFill>
                <a:latin typeface="Consolas"/>
              </a:rPr>
              <a:t>apps/mobile</a:t>
            </a:r>
          </a:p>
        </p:txBody>
      </p:sp>
      <p:sp>
        <p:nvSpPr>
          <p:cNvPr id="26" name="TextBox 25"/>
          <p:cNvSpPr txBox="1"/>
          <p:nvPr/>
        </p:nvSpPr>
        <p:spPr>
          <a:xfrm>
            <a:off x="3401568" y="3675887"/>
            <a:ext cx="118872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65 suites</a:t>
            </a:r>
          </a:p>
        </p:txBody>
      </p:sp>
      <p:sp>
        <p:nvSpPr>
          <p:cNvPr id="27" name="TextBox 26"/>
          <p:cNvSpPr txBox="1"/>
          <p:nvPr/>
        </p:nvSpPr>
        <p:spPr>
          <a:xfrm>
            <a:off x="4681728" y="3675887"/>
            <a:ext cx="137160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1,287 tests</a:t>
            </a:r>
          </a:p>
        </p:txBody>
      </p:sp>
      <p:sp>
        <p:nvSpPr>
          <p:cNvPr id="28" name="Rounded Rectangle 27"/>
          <p:cNvSpPr/>
          <p:nvPr/>
        </p:nvSpPr>
        <p:spPr>
          <a:xfrm>
            <a:off x="841247" y="4096512"/>
            <a:ext cx="5212080" cy="420624"/>
          </a:xfrm>
          <a:prstGeom prst="roundRect">
            <a:avLst>
              <a:gd name="adj" fmla="val 6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50976" y="4151376"/>
            <a:ext cx="2194560" cy="274320"/>
          </a:xfrm>
          <a:prstGeom prst="rect">
            <a:avLst/>
          </a:prstGeom>
          <a:noFill/>
        </p:spPr>
        <p:txBody>
          <a:bodyPr wrap="square" lIns="0" rIns="0" tIns="0" bIns="0" anchor="t">
            <a:spAutoFit/>
          </a:bodyPr>
          <a:lstStyle/>
          <a:p>
            <a:pPr algn="l">
              <a:lnSpc>
                <a:spcPct val="100000"/>
              </a:lnSpc>
            </a:pPr>
            <a:r>
              <a:rPr sz="1150" b="1" i="0">
                <a:solidFill>
                  <a:srgbClr val="0B0F14"/>
                </a:solidFill>
                <a:latin typeface="Consolas"/>
              </a:rPr>
              <a:t>Total</a:t>
            </a:r>
          </a:p>
        </p:txBody>
      </p:sp>
      <p:sp>
        <p:nvSpPr>
          <p:cNvPr id="30" name="TextBox 29"/>
          <p:cNvSpPr txBox="1"/>
          <p:nvPr/>
        </p:nvSpPr>
        <p:spPr>
          <a:xfrm>
            <a:off x="3401568" y="4151376"/>
            <a:ext cx="1188720" cy="274320"/>
          </a:xfrm>
          <a:prstGeom prst="rect">
            <a:avLst/>
          </a:prstGeom>
          <a:noFill/>
        </p:spPr>
        <p:txBody>
          <a:bodyPr wrap="square" lIns="0" rIns="0" tIns="0" bIns="0" anchor="t">
            <a:spAutoFit/>
          </a:bodyPr>
          <a:lstStyle/>
          <a:p>
            <a:pPr algn="l">
              <a:lnSpc>
                <a:spcPct val="100000"/>
              </a:lnSpc>
            </a:pPr>
            <a:r>
              <a:rPr sz="1150" b="1" i="0">
                <a:solidFill>
                  <a:srgbClr val="4A5568"/>
                </a:solidFill>
                <a:latin typeface="Calibri"/>
              </a:rPr>
              <a:t>80 suites</a:t>
            </a:r>
          </a:p>
        </p:txBody>
      </p:sp>
      <p:sp>
        <p:nvSpPr>
          <p:cNvPr id="31" name="TextBox 30"/>
          <p:cNvSpPr txBox="1"/>
          <p:nvPr/>
        </p:nvSpPr>
        <p:spPr>
          <a:xfrm>
            <a:off x="4681728" y="4151376"/>
            <a:ext cx="1371600" cy="274320"/>
          </a:xfrm>
          <a:prstGeom prst="rect">
            <a:avLst/>
          </a:prstGeom>
          <a:noFill/>
        </p:spPr>
        <p:txBody>
          <a:bodyPr wrap="square" lIns="0" rIns="0" tIns="0" bIns="0" anchor="t">
            <a:spAutoFit/>
          </a:bodyPr>
          <a:lstStyle/>
          <a:p>
            <a:pPr algn="l">
              <a:lnSpc>
                <a:spcPct val="100000"/>
              </a:lnSpc>
            </a:pPr>
            <a:r>
              <a:rPr sz="1150" b="1" i="0">
                <a:solidFill>
                  <a:srgbClr val="10B981"/>
                </a:solidFill>
                <a:latin typeface="Calibri"/>
              </a:rPr>
              <a:t>1,799 tests</a:t>
            </a:r>
          </a:p>
        </p:txBody>
      </p:sp>
      <p:sp>
        <p:nvSpPr>
          <p:cNvPr id="32" name="TextBox 31"/>
          <p:cNvSpPr txBox="1"/>
          <p:nvPr/>
        </p:nvSpPr>
        <p:spPr>
          <a:xfrm>
            <a:off x="914400" y="4572000"/>
            <a:ext cx="5120640" cy="237744"/>
          </a:xfrm>
          <a:prstGeom prst="rect">
            <a:avLst/>
          </a:prstGeom>
          <a:noFill/>
        </p:spPr>
        <p:txBody>
          <a:bodyPr wrap="square" lIns="0" rIns="0" tIns="0" bIns="0" anchor="t">
            <a:spAutoFit/>
          </a:bodyPr>
          <a:lstStyle/>
          <a:p>
            <a:pPr algn="l">
              <a:lnSpc>
                <a:spcPct val="100000"/>
              </a:lnSpc>
            </a:pPr>
            <a:r>
              <a:rPr sz="950" b="0" i="1">
                <a:solidFill>
                  <a:srgbClr val="6B7684"/>
                </a:solidFill>
                <a:latin typeface="Calibri"/>
              </a:rPr>
              <a:t>Measured by running the suite from a clean install.</a:t>
            </a:r>
          </a:p>
        </p:txBody>
      </p:sp>
      <p:sp>
        <p:nvSpPr>
          <p:cNvPr id="33" name="TextBox 32"/>
          <p:cNvSpPr txBox="1"/>
          <p:nvPr/>
        </p:nvSpPr>
        <p:spPr>
          <a:xfrm>
            <a:off x="6473952" y="2688336"/>
            <a:ext cx="4572000"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CI RUNS ON EVERY CHANGE</a:t>
            </a:r>
          </a:p>
        </p:txBody>
      </p:sp>
      <p:sp>
        <p:nvSpPr>
          <p:cNvPr id="34" name="Oval 33"/>
          <p:cNvSpPr/>
          <p:nvPr/>
        </p:nvSpPr>
        <p:spPr>
          <a:xfrm>
            <a:off x="6473952" y="3017520"/>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1</a:t>
            </a:r>
          </a:p>
        </p:txBody>
      </p:sp>
      <p:sp>
        <p:nvSpPr>
          <p:cNvPr id="35" name="TextBox 34"/>
          <p:cNvSpPr txBox="1"/>
          <p:nvPr/>
        </p:nvSpPr>
        <p:spPr>
          <a:xfrm>
            <a:off x="6839712" y="3026663"/>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Formatting check</a:t>
            </a:r>
          </a:p>
        </p:txBody>
      </p:sp>
      <p:sp>
        <p:nvSpPr>
          <p:cNvPr id="36" name="Oval 35"/>
          <p:cNvSpPr/>
          <p:nvPr/>
        </p:nvSpPr>
        <p:spPr>
          <a:xfrm>
            <a:off x="6473952" y="335584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2</a:t>
            </a:r>
          </a:p>
        </p:txBody>
      </p:sp>
      <p:sp>
        <p:nvSpPr>
          <p:cNvPr id="37" name="TextBox 36"/>
          <p:cNvSpPr txBox="1"/>
          <p:nvPr/>
        </p:nvSpPr>
        <p:spPr>
          <a:xfrm>
            <a:off x="6839712" y="3364991"/>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Type-check every package</a:t>
            </a:r>
          </a:p>
        </p:txBody>
      </p:sp>
      <p:sp>
        <p:nvSpPr>
          <p:cNvPr id="38" name="Oval 37"/>
          <p:cNvSpPr/>
          <p:nvPr/>
        </p:nvSpPr>
        <p:spPr>
          <a:xfrm>
            <a:off x="6473952" y="3694175"/>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3</a:t>
            </a:r>
          </a:p>
        </p:txBody>
      </p:sp>
      <p:sp>
        <p:nvSpPr>
          <p:cNvPr id="39" name="TextBox 38"/>
          <p:cNvSpPr txBox="1"/>
          <p:nvPr/>
        </p:nvSpPr>
        <p:spPr>
          <a:xfrm>
            <a:off x="6839712" y="3703320"/>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Full suite with coverage thresholds</a:t>
            </a:r>
          </a:p>
        </p:txBody>
      </p:sp>
      <p:sp>
        <p:nvSpPr>
          <p:cNvPr id="40" name="Oval 39"/>
          <p:cNvSpPr/>
          <p:nvPr/>
        </p:nvSpPr>
        <p:spPr>
          <a:xfrm>
            <a:off x="6473952" y="4032503"/>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4</a:t>
            </a:r>
          </a:p>
        </p:txBody>
      </p:sp>
      <p:sp>
        <p:nvSpPr>
          <p:cNvPr id="41" name="TextBox 40"/>
          <p:cNvSpPr txBox="1"/>
          <p:nvPr/>
        </p:nvSpPr>
        <p:spPr>
          <a:xfrm>
            <a:off x="6839712" y="4041648"/>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Deno tests for the Edge Functions</a:t>
            </a:r>
          </a:p>
        </p:txBody>
      </p:sp>
      <p:sp>
        <p:nvSpPr>
          <p:cNvPr id="42" name="Oval 41"/>
          <p:cNvSpPr/>
          <p:nvPr/>
        </p:nvSpPr>
        <p:spPr>
          <a:xfrm>
            <a:off x="6473952" y="4370831"/>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5</a:t>
            </a:r>
          </a:p>
        </p:txBody>
      </p:sp>
      <p:sp>
        <p:nvSpPr>
          <p:cNvPr id="43" name="TextBox 42"/>
          <p:cNvSpPr txBox="1"/>
          <p:nvPr/>
        </p:nvSpPr>
        <p:spPr>
          <a:xfrm>
            <a:off x="6839712" y="4379976"/>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Android bundle build</a:t>
            </a:r>
          </a:p>
        </p:txBody>
      </p:sp>
      <p:sp>
        <p:nvSpPr>
          <p:cNvPr id="44" name="Oval 43"/>
          <p:cNvSpPr/>
          <p:nvPr/>
        </p:nvSpPr>
        <p:spPr>
          <a:xfrm>
            <a:off x="6473952" y="4709159"/>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Calibri"/>
              </a:rPr>
              <a:t>6</a:t>
            </a:r>
          </a:p>
        </p:txBody>
      </p:sp>
      <p:sp>
        <p:nvSpPr>
          <p:cNvPr id="45" name="TextBox 44"/>
          <p:cNvSpPr txBox="1"/>
          <p:nvPr/>
        </p:nvSpPr>
        <p:spPr>
          <a:xfrm>
            <a:off x="6839712" y="4718304"/>
            <a:ext cx="4206240" cy="274320"/>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Web bundle build</a:t>
            </a:r>
          </a:p>
        </p:txBody>
      </p:sp>
      <p:sp>
        <p:nvSpPr>
          <p:cNvPr id="46" name="Rounded Rectangle 45"/>
          <p:cNvSpPr/>
          <p:nvPr/>
        </p:nvSpPr>
        <p:spPr>
          <a:xfrm>
            <a:off x="658368" y="5047488"/>
            <a:ext cx="10874959" cy="566928"/>
          </a:xfrm>
          <a:prstGeom prst="roundRect">
            <a:avLst>
              <a:gd name="adj" fmla="val 8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32688" y="5184648"/>
            <a:ext cx="10326319" cy="310896"/>
          </a:xfrm>
          <a:prstGeom prst="rect">
            <a:avLst/>
          </a:prstGeom>
          <a:noFill/>
        </p:spPr>
        <p:txBody>
          <a:bodyPr wrap="square" lIns="0" rIns="0" tIns="0" bIns="0" anchor="t">
            <a:spAutoFit/>
          </a:bodyPr>
          <a:lstStyle/>
          <a:p>
            <a:pPr algn="l">
              <a:lnSpc>
                <a:spcPct val="100000"/>
              </a:lnSpc>
            </a:pPr>
            <a:r>
              <a:rPr sz="1150" b="1" i="0">
                <a:solidFill>
                  <a:srgbClr val="065F46"/>
                </a:solidFill>
                <a:latin typeface="Calibri"/>
              </a:rPr>
              <a:t>The Android APK has been built via EAS and tested on a physical device. Supabase and the deployed AI function are live.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CAPTURED FROM THE RUNNING APPLICATION</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Application Screens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24</a:t>
            </a:r>
          </a:p>
        </p:txBody>
      </p:sp>
      <p:pic>
        <p:nvPicPr>
          <p:cNvPr id="8" name="Picture 7" descr="tracker.png"/>
          <p:cNvPicPr>
            <a:picLocks noChangeAspect="1"/>
          </p:cNvPicPr>
          <p:nvPr/>
        </p:nvPicPr>
        <p:blipFill>
          <a:blip r:embed="rId3"/>
          <a:stretch>
            <a:fillRect/>
          </a:stretch>
        </p:blipFill>
        <p:spPr>
          <a:xfrm>
            <a:off x="658368" y="1298448"/>
            <a:ext cx="1572768" cy="3626528"/>
          </a:xfrm>
          <a:prstGeom prst="rect">
            <a:avLst/>
          </a:prstGeom>
        </p:spPr>
      </p:pic>
      <p:sp>
        <p:nvSpPr>
          <p:cNvPr id="9" name="TextBox 8"/>
          <p:cNvSpPr txBox="1"/>
          <p:nvPr/>
        </p:nvSpPr>
        <p:spPr>
          <a:xfrm>
            <a:off x="658368"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Tracker</a:t>
            </a:r>
          </a:p>
        </p:txBody>
      </p:sp>
      <p:pic>
        <p:nvPicPr>
          <p:cNvPr id="10" name="Picture 9" descr="dashboard.png"/>
          <p:cNvPicPr>
            <a:picLocks noChangeAspect="1"/>
          </p:cNvPicPr>
          <p:nvPr/>
        </p:nvPicPr>
        <p:blipFill>
          <a:blip r:embed="rId4"/>
          <a:stretch>
            <a:fillRect/>
          </a:stretch>
        </p:blipFill>
        <p:spPr>
          <a:xfrm>
            <a:off x="2518806" y="1298448"/>
            <a:ext cx="1572768" cy="3626528"/>
          </a:xfrm>
          <a:prstGeom prst="rect">
            <a:avLst/>
          </a:prstGeom>
        </p:spPr>
      </p:pic>
      <p:sp>
        <p:nvSpPr>
          <p:cNvPr id="11" name="TextBox 10"/>
          <p:cNvSpPr txBox="1"/>
          <p:nvPr/>
        </p:nvSpPr>
        <p:spPr>
          <a:xfrm>
            <a:off x="2518806"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Dashboard</a:t>
            </a:r>
          </a:p>
        </p:txBody>
      </p:sp>
      <p:pic>
        <p:nvPicPr>
          <p:cNvPr id="12" name="Picture 11" descr="sessions.png"/>
          <p:cNvPicPr>
            <a:picLocks noChangeAspect="1"/>
          </p:cNvPicPr>
          <p:nvPr/>
        </p:nvPicPr>
        <p:blipFill>
          <a:blip r:embed="rId5"/>
          <a:stretch>
            <a:fillRect/>
          </a:stretch>
        </p:blipFill>
        <p:spPr>
          <a:xfrm>
            <a:off x="4379244" y="1298448"/>
            <a:ext cx="1572768" cy="3626528"/>
          </a:xfrm>
          <a:prstGeom prst="rect">
            <a:avLst/>
          </a:prstGeom>
        </p:spPr>
      </p:pic>
      <p:sp>
        <p:nvSpPr>
          <p:cNvPr id="13" name="TextBox 12"/>
          <p:cNvSpPr txBox="1"/>
          <p:nvPr/>
        </p:nvSpPr>
        <p:spPr>
          <a:xfrm>
            <a:off x="4379244"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Sessions</a:t>
            </a:r>
          </a:p>
        </p:txBody>
      </p:sp>
      <p:pic>
        <p:nvPicPr>
          <p:cNvPr id="14" name="Picture 13" descr="notes.png"/>
          <p:cNvPicPr>
            <a:picLocks noChangeAspect="1"/>
          </p:cNvPicPr>
          <p:nvPr/>
        </p:nvPicPr>
        <p:blipFill>
          <a:blip r:embed="rId6"/>
          <a:stretch>
            <a:fillRect/>
          </a:stretch>
        </p:blipFill>
        <p:spPr>
          <a:xfrm>
            <a:off x="6239682" y="1298448"/>
            <a:ext cx="1572768" cy="3626528"/>
          </a:xfrm>
          <a:prstGeom prst="rect">
            <a:avLst/>
          </a:prstGeom>
        </p:spPr>
      </p:pic>
      <p:sp>
        <p:nvSpPr>
          <p:cNvPr id="15" name="TextBox 14"/>
          <p:cNvSpPr txBox="1"/>
          <p:nvPr/>
        </p:nvSpPr>
        <p:spPr>
          <a:xfrm>
            <a:off x="6239682"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Notes</a:t>
            </a:r>
          </a:p>
        </p:txBody>
      </p:sp>
      <p:pic>
        <p:nvPicPr>
          <p:cNvPr id="16" name="Picture 15" descr="reminders.png"/>
          <p:cNvPicPr>
            <a:picLocks noChangeAspect="1"/>
          </p:cNvPicPr>
          <p:nvPr/>
        </p:nvPicPr>
        <p:blipFill>
          <a:blip r:embed="rId7"/>
          <a:stretch>
            <a:fillRect/>
          </a:stretch>
        </p:blipFill>
        <p:spPr>
          <a:xfrm>
            <a:off x="8100120" y="1298448"/>
            <a:ext cx="1572768" cy="3626528"/>
          </a:xfrm>
          <a:prstGeom prst="rect">
            <a:avLst/>
          </a:prstGeom>
        </p:spPr>
      </p:pic>
      <p:sp>
        <p:nvSpPr>
          <p:cNvPr id="17" name="TextBox 16"/>
          <p:cNvSpPr txBox="1"/>
          <p:nvPr/>
        </p:nvSpPr>
        <p:spPr>
          <a:xfrm>
            <a:off x="8100120"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Reminders</a:t>
            </a:r>
          </a:p>
        </p:txBody>
      </p:sp>
      <p:pic>
        <p:nvPicPr>
          <p:cNvPr id="18" name="Picture 17" descr="settings.png"/>
          <p:cNvPicPr>
            <a:picLocks noChangeAspect="1"/>
          </p:cNvPicPr>
          <p:nvPr/>
        </p:nvPicPr>
        <p:blipFill>
          <a:blip r:embed="rId8"/>
          <a:stretch>
            <a:fillRect/>
          </a:stretch>
        </p:blipFill>
        <p:spPr>
          <a:xfrm>
            <a:off x="9960559" y="1298448"/>
            <a:ext cx="1572768" cy="3626528"/>
          </a:xfrm>
          <a:prstGeom prst="rect">
            <a:avLst/>
          </a:prstGeom>
        </p:spPr>
      </p:pic>
      <p:sp>
        <p:nvSpPr>
          <p:cNvPr id="19" name="TextBox 18"/>
          <p:cNvSpPr txBox="1"/>
          <p:nvPr/>
        </p:nvSpPr>
        <p:spPr>
          <a:xfrm>
            <a:off x="9960559" y="4937760"/>
            <a:ext cx="1572768" cy="237744"/>
          </a:xfrm>
          <a:prstGeom prst="rect">
            <a:avLst/>
          </a:prstGeom>
          <a:noFill/>
        </p:spPr>
        <p:txBody>
          <a:bodyPr wrap="square" lIns="0" rIns="0" tIns="0" bIns="0" anchor="t">
            <a:spAutoFit/>
          </a:bodyPr>
          <a:lstStyle/>
          <a:p>
            <a:pPr algn="ctr">
              <a:lnSpc>
                <a:spcPct val="100000"/>
              </a:lnSpc>
            </a:pPr>
            <a:r>
              <a:rPr sz="1100" b="1" i="0">
                <a:solidFill>
                  <a:srgbClr val="0B0F14"/>
                </a:solidFill>
                <a:latin typeface="Calibri"/>
              </a:rPr>
              <a:t>Settings</a:t>
            </a:r>
          </a:p>
        </p:txBody>
      </p:sp>
      <p:sp>
        <p:nvSpPr>
          <p:cNvPr id="20" name="Rounded Rectangle 19"/>
          <p:cNvSpPr/>
          <p:nvPr/>
        </p:nvSpPr>
        <p:spPr>
          <a:xfrm>
            <a:off x="658368" y="5340096"/>
            <a:ext cx="10874959" cy="658368"/>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495544"/>
            <a:ext cx="10326319" cy="365760"/>
          </a:xfrm>
          <a:prstGeom prst="rect">
            <a:avLst/>
          </a:prstGeom>
          <a:noFill/>
        </p:spPr>
        <p:txBody>
          <a:bodyPr wrap="square" lIns="0" rIns="0" tIns="0" bIns="0" anchor="t">
            <a:spAutoFit/>
          </a:bodyPr>
          <a:lstStyle/>
          <a:p>
            <a:pPr algn="l">
              <a:lnSpc>
                <a:spcPct val="116000"/>
              </a:lnSpc>
            </a:pPr>
            <a:r>
              <a:rPr sz="1100" b="0" i="0">
                <a:solidFill>
                  <a:srgbClr val="4A5568"/>
                </a:solidFill>
                <a:latin typeface="Calibri"/>
              </a:rPr>
              <a:t>These are genuine screenshots of PrepPilot running in its browser build, which uses the same code and the same SQLite schema as the Android app. The demo-session banner has been hidden for legibility.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HOW A STUDENT ACTUALLY USES IT</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Methodology and Working Flow</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25</a:t>
            </a:r>
          </a:p>
        </p:txBody>
      </p:sp>
      <p:sp>
        <p:nvSpPr>
          <p:cNvPr id="8" name="Rounded Rectangle 7"/>
          <p:cNvSpPr/>
          <p:nvPr/>
        </p:nvSpPr>
        <p:spPr>
          <a:xfrm>
            <a:off x="658368" y="1389888"/>
            <a:ext cx="1926275" cy="914400"/>
          </a:xfrm>
          <a:prstGeom prst="roundRect">
            <a:avLst>
              <a:gd name="adj" fmla="val 1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Sign in</a:t>
            </a:r>
          </a:p>
          <a:p>
            <a:pPr algn="ctr">
              <a:spcBef>
                <a:spcPts val="200"/>
              </a:spcBef>
            </a:pPr>
            <a:r>
              <a:rPr sz="850">
                <a:solidFill>
                  <a:srgbClr val="FFFFFF"/>
                </a:solidFill>
                <a:latin typeface="Calibri"/>
              </a:rPr>
              <a:t>email · Google · guest</a:t>
            </a:r>
          </a:p>
        </p:txBody>
      </p:sp>
      <p:sp>
        <p:nvSpPr>
          <p:cNvPr id="9" name="Right Arrow 8"/>
          <p:cNvSpPr/>
          <p:nvPr/>
        </p:nvSpPr>
        <p:spPr>
          <a:xfrm>
            <a:off x="2639507" y="1737360"/>
            <a:ext cx="201168"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95539" y="1389888"/>
            <a:ext cx="1926275" cy="914400"/>
          </a:xfrm>
          <a:prstGeom prst="roundRect">
            <a:avLst>
              <a:gd name="adj" fmla="val 10000"/>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Set up syllabus</a:t>
            </a:r>
          </a:p>
          <a:p>
            <a:pPr algn="ctr">
              <a:spcBef>
                <a:spcPts val="200"/>
              </a:spcBef>
            </a:pPr>
            <a:r>
              <a:rPr sz="850">
                <a:solidFill>
                  <a:srgbClr val="FFFFFF"/>
                </a:solidFill>
                <a:latin typeface="Calibri"/>
              </a:rPr>
              <a:t>import a template or add manually</a:t>
            </a:r>
          </a:p>
        </p:txBody>
      </p:sp>
      <p:sp>
        <p:nvSpPr>
          <p:cNvPr id="11" name="Right Arrow 10"/>
          <p:cNvSpPr/>
          <p:nvPr/>
        </p:nvSpPr>
        <p:spPr>
          <a:xfrm>
            <a:off x="4876678" y="1737360"/>
            <a:ext cx="201168"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2710" y="1389888"/>
            <a:ext cx="1926275" cy="9144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Study</a:t>
            </a:r>
          </a:p>
          <a:p>
            <a:pPr algn="ctr">
              <a:spcBef>
                <a:spcPts val="200"/>
              </a:spcBef>
            </a:pPr>
            <a:r>
              <a:rPr sz="850">
                <a:solidFill>
                  <a:srgbClr val="FFFFFF"/>
                </a:solidFill>
                <a:latin typeface="Calibri"/>
              </a:rPr>
              <a:t>tick topics · run a timer · review cards</a:t>
            </a:r>
          </a:p>
        </p:txBody>
      </p:sp>
      <p:sp>
        <p:nvSpPr>
          <p:cNvPr id="13" name="Right Arrow 12"/>
          <p:cNvSpPr/>
          <p:nvPr/>
        </p:nvSpPr>
        <p:spPr>
          <a:xfrm>
            <a:off x="7113849" y="1737360"/>
            <a:ext cx="201168"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69881" y="1389888"/>
            <a:ext cx="1926275" cy="9144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Write locally</a:t>
            </a:r>
          </a:p>
          <a:p>
            <a:pPr algn="ctr">
              <a:spcBef>
                <a:spcPts val="200"/>
              </a:spcBef>
            </a:pPr>
            <a:r>
              <a:rPr sz="850">
                <a:solidFill>
                  <a:srgbClr val="FFFFFF"/>
                </a:solidFill>
                <a:latin typeface="Calibri"/>
              </a:rPr>
              <a:t>SQLite, syncStatus = pending</a:t>
            </a:r>
          </a:p>
        </p:txBody>
      </p:sp>
      <p:sp>
        <p:nvSpPr>
          <p:cNvPr id="15" name="Right Arrow 14"/>
          <p:cNvSpPr/>
          <p:nvPr/>
        </p:nvSpPr>
        <p:spPr>
          <a:xfrm>
            <a:off x="9351020" y="1737360"/>
            <a:ext cx="201168" cy="219456"/>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07052" y="1389888"/>
            <a:ext cx="1926275" cy="9144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50" b="1">
                <a:solidFill>
                  <a:srgbClr val="FFFFFF"/>
                </a:solidFill>
                <a:latin typeface="Calibri"/>
              </a:rPr>
              <a:t>Sync when online</a:t>
            </a:r>
          </a:p>
          <a:p>
            <a:pPr algn="ctr">
              <a:spcBef>
                <a:spcPts val="200"/>
              </a:spcBef>
            </a:pPr>
            <a:r>
              <a:rPr sz="850">
                <a:solidFill>
                  <a:srgbClr val="FFFFFF"/>
                </a:solidFill>
                <a:latin typeface="Calibri"/>
              </a:rPr>
              <a:t>pull → merge → push</a:t>
            </a:r>
          </a:p>
        </p:txBody>
      </p:sp>
      <p:sp>
        <p:nvSpPr>
          <p:cNvPr id="17" name="Rounded Rectangle 16"/>
          <p:cNvSpPr/>
          <p:nvPr/>
        </p:nvSpPr>
        <p:spPr>
          <a:xfrm>
            <a:off x="658368" y="2615184"/>
            <a:ext cx="5577840" cy="1225296"/>
          </a:xfrm>
          <a:prstGeom prst="roundRect">
            <a:avLst>
              <a:gd name="adj" fmla="val 8000"/>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2779776"/>
            <a:ext cx="5029200" cy="237744"/>
          </a:xfrm>
          <a:prstGeom prst="rect">
            <a:avLst/>
          </a:prstGeom>
          <a:noFill/>
        </p:spPr>
        <p:txBody>
          <a:bodyPr wrap="square" lIns="0" rIns="0" tIns="0" bIns="0" anchor="t">
            <a:spAutoFit/>
          </a:bodyPr>
          <a:lstStyle/>
          <a:p>
            <a:pPr algn="l">
              <a:lnSpc>
                <a:spcPct val="100000"/>
              </a:lnSpc>
            </a:pPr>
            <a:r>
              <a:rPr sz="950" b="1" i="0">
                <a:solidFill>
                  <a:srgbClr val="78350F"/>
                </a:solidFill>
                <a:latin typeface="Calibri"/>
              </a:rPr>
              <a:t>THE CRITICAL PROPERTY</a:t>
            </a:r>
          </a:p>
        </p:txBody>
      </p:sp>
      <p:sp>
        <p:nvSpPr>
          <p:cNvPr id="19" name="TextBox 18"/>
          <p:cNvSpPr txBox="1"/>
          <p:nvPr/>
        </p:nvSpPr>
        <p:spPr>
          <a:xfrm>
            <a:off x="914400" y="3090672"/>
            <a:ext cx="5029200" cy="603504"/>
          </a:xfrm>
          <a:prstGeom prst="rect">
            <a:avLst/>
          </a:prstGeom>
          <a:noFill/>
        </p:spPr>
        <p:txBody>
          <a:bodyPr wrap="square" lIns="0" rIns="0" tIns="0" bIns="0" anchor="t">
            <a:spAutoFit/>
          </a:bodyPr>
          <a:lstStyle/>
          <a:p>
            <a:pPr algn="l">
              <a:lnSpc>
                <a:spcPct val="120000"/>
              </a:lnSpc>
            </a:pPr>
            <a:r>
              <a:rPr sz="1200" b="0" i="0">
                <a:solidFill>
                  <a:srgbClr val="78350F"/>
                </a:solidFill>
                <a:latin typeface="Calibri"/>
              </a:rPr>
              <a:t>The local write completes regardless of network state. Synchronisation is a separate, later concern — so no student action ever waits on connectivity.</a:t>
            </a:r>
          </a:p>
        </p:txBody>
      </p:sp>
      <p:sp>
        <p:nvSpPr>
          <p:cNvPr id="20" name="Rounded Rectangle 19"/>
          <p:cNvSpPr/>
          <p:nvPr/>
        </p:nvSpPr>
        <p:spPr>
          <a:xfrm>
            <a:off x="6473952" y="2615184"/>
            <a:ext cx="5059375" cy="1225296"/>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29984" y="2779776"/>
            <a:ext cx="4572000" cy="237744"/>
          </a:xfrm>
          <a:prstGeom prst="rect">
            <a:avLst/>
          </a:prstGeom>
          <a:noFill/>
        </p:spPr>
        <p:txBody>
          <a:bodyPr wrap="square" lIns="0" rIns="0" tIns="0" bIns="0" anchor="t">
            <a:spAutoFit/>
          </a:bodyPr>
          <a:lstStyle/>
          <a:p>
            <a:pPr algn="l">
              <a:lnSpc>
                <a:spcPct val="100000"/>
              </a:lnSpc>
            </a:pPr>
            <a:r>
              <a:rPr sz="950" b="1" i="0">
                <a:solidFill>
                  <a:srgbClr val="3B82F6"/>
                </a:solidFill>
                <a:latin typeface="Calibri"/>
              </a:rPr>
              <a:t>DEVELOPMENT METHODOLOGY</a:t>
            </a:r>
          </a:p>
        </p:txBody>
      </p:sp>
      <p:sp>
        <p:nvSpPr>
          <p:cNvPr id="22" name="TextBox 21"/>
          <p:cNvSpPr txBox="1"/>
          <p:nvPr/>
        </p:nvSpPr>
        <p:spPr>
          <a:xfrm>
            <a:off x="6729984" y="3090672"/>
            <a:ext cx="4572000" cy="603504"/>
          </a:xfrm>
          <a:prstGeom prst="rect">
            <a:avLst/>
          </a:prstGeom>
          <a:noFill/>
        </p:spPr>
        <p:txBody>
          <a:bodyPr wrap="square" lIns="0" rIns="0" tIns="0" bIns="0" anchor="t">
            <a:spAutoFit/>
          </a:bodyPr>
          <a:lstStyle/>
          <a:p>
            <a:pPr algn="l">
              <a:lnSpc>
                <a:spcPct val="120000"/>
              </a:lnSpc>
            </a:pPr>
            <a:r>
              <a:rPr sz="1200" b="0" i="0">
                <a:solidFill>
                  <a:srgbClr val="4A5568"/>
                </a:solidFill>
                <a:latin typeface="Calibri"/>
              </a:rPr>
              <a:t>Incremental and decision-logged: every architectural choice is recorded in DECISIONS.md with its reasoning and alternatives. CI gates every change.</a:t>
            </a:r>
          </a:p>
        </p:txBody>
      </p:sp>
      <p:sp>
        <p:nvSpPr>
          <p:cNvPr id="23" name="TextBox 22"/>
          <p:cNvSpPr txBox="1"/>
          <p:nvPr/>
        </p:nvSpPr>
        <p:spPr>
          <a:xfrm>
            <a:off x="658368" y="4059936"/>
            <a:ext cx="10874959" cy="274320"/>
          </a:xfrm>
          <a:prstGeom prst="rect">
            <a:avLst/>
          </a:prstGeom>
          <a:noFill/>
        </p:spPr>
        <p:txBody>
          <a:bodyPr wrap="square" lIns="0" rIns="0" tIns="0" bIns="0" anchor="t">
            <a:spAutoFit/>
          </a:bodyPr>
          <a:lstStyle/>
          <a:p>
            <a:pPr algn="l">
              <a:lnSpc>
                <a:spcPct val="100000"/>
              </a:lnSpc>
            </a:pPr>
            <a:r>
              <a:rPr sz="950" b="1" i="0">
                <a:solidFill>
                  <a:srgbClr val="A855F7"/>
                </a:solidFill>
                <a:latin typeface="Calibri"/>
              </a:rPr>
              <a:t>WHAT HAPPENS WHEN THE AI IS ASKED TO CHANGE SOMETHING</a:t>
            </a:r>
          </a:p>
        </p:txBody>
      </p:sp>
      <p:sp>
        <p:nvSpPr>
          <p:cNvPr id="24" name="Rounded Rectangle 23"/>
          <p:cNvSpPr/>
          <p:nvPr/>
        </p:nvSpPr>
        <p:spPr>
          <a:xfrm>
            <a:off x="658368" y="4370832"/>
            <a:ext cx="1955535" cy="5120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0B0F14"/>
                </a:solidFill>
                <a:latin typeface="Calibri"/>
              </a:rPr>
              <a:t>Reply parsed</a:t>
            </a:r>
          </a:p>
        </p:txBody>
      </p:sp>
      <p:sp>
        <p:nvSpPr>
          <p:cNvPr id="25" name="Rectangle 24"/>
          <p:cNvSpPr/>
          <p:nvPr/>
        </p:nvSpPr>
        <p:spPr>
          <a:xfrm>
            <a:off x="658368" y="4370832"/>
            <a:ext cx="1955535"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2668767" y="4553712"/>
            <a:ext cx="164592" cy="146304"/>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88223" y="4370832"/>
            <a:ext cx="1955535" cy="5120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0B0F14"/>
                </a:solidFill>
                <a:latin typeface="Calibri"/>
              </a:rPr>
              <a:t>Proposal shown</a:t>
            </a:r>
          </a:p>
        </p:txBody>
      </p:sp>
      <p:sp>
        <p:nvSpPr>
          <p:cNvPr id="28" name="Rectangle 27"/>
          <p:cNvSpPr/>
          <p:nvPr/>
        </p:nvSpPr>
        <p:spPr>
          <a:xfrm>
            <a:off x="2888223" y="4370832"/>
            <a:ext cx="1955535" cy="4114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4898623" y="4553712"/>
            <a:ext cx="164592" cy="146304"/>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18079" y="4370832"/>
            <a:ext cx="1955535" cy="5120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0B0F14"/>
                </a:solidFill>
                <a:latin typeface="Calibri"/>
              </a:rPr>
              <a:t>Student confirms</a:t>
            </a:r>
          </a:p>
        </p:txBody>
      </p:sp>
      <p:sp>
        <p:nvSpPr>
          <p:cNvPr id="31" name="Rectangle 30"/>
          <p:cNvSpPr/>
          <p:nvPr/>
        </p:nvSpPr>
        <p:spPr>
          <a:xfrm>
            <a:off x="5118079" y="4370832"/>
            <a:ext cx="1955535" cy="411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7128479" y="4553712"/>
            <a:ext cx="164592" cy="146304"/>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47935" y="4370832"/>
            <a:ext cx="1955535" cy="5120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0B0F14"/>
                </a:solidFill>
                <a:latin typeface="Calibri"/>
              </a:rPr>
              <a:t>Applied to syllabus</a:t>
            </a:r>
          </a:p>
        </p:txBody>
      </p:sp>
      <p:sp>
        <p:nvSpPr>
          <p:cNvPr id="34" name="Rectangle 33"/>
          <p:cNvSpPr/>
          <p:nvPr/>
        </p:nvSpPr>
        <p:spPr>
          <a:xfrm>
            <a:off x="7347935" y="4370832"/>
            <a:ext cx="1955535" cy="411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Arrow 34"/>
          <p:cNvSpPr/>
          <p:nvPr/>
        </p:nvSpPr>
        <p:spPr>
          <a:xfrm>
            <a:off x="9358335" y="4553712"/>
            <a:ext cx="164592" cy="146304"/>
          </a:xfrm>
          <a:prstGeom prst="rightArrow">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577791" y="4370832"/>
            <a:ext cx="1955535" cy="5120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0B0F14"/>
                </a:solidFill>
                <a:latin typeface="Calibri"/>
              </a:rPr>
              <a:t>Progress recomputed</a:t>
            </a:r>
          </a:p>
        </p:txBody>
      </p:sp>
      <p:sp>
        <p:nvSpPr>
          <p:cNvPr id="37" name="Rectangle 36"/>
          <p:cNvSpPr/>
          <p:nvPr/>
        </p:nvSpPr>
        <p:spPr>
          <a:xfrm>
            <a:off x="9577791" y="4370832"/>
            <a:ext cx="1955535" cy="4114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STATED PLAINLY, BECAUSE A KNOWN LIMITATION IS A SMALLER PROBLEM</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Limitations</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26</a:t>
            </a:r>
          </a:p>
        </p:txBody>
      </p:sp>
      <p:sp>
        <p:nvSpPr>
          <p:cNvPr id="8" name="Rounded Rectangle 7"/>
          <p:cNvSpPr/>
          <p:nvPr/>
        </p:nvSpPr>
        <p:spPr>
          <a:xfrm>
            <a:off x="658368" y="1389888"/>
            <a:ext cx="3466490" cy="303580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389888"/>
            <a:ext cx="3466490" cy="5029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627632"/>
            <a:ext cx="3027578"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Platform restrictions</a:t>
            </a:r>
          </a:p>
        </p:txBody>
      </p:sp>
      <p:sp>
        <p:nvSpPr>
          <p:cNvPr id="11" name="Oval 10"/>
          <p:cNvSpPr/>
          <p:nvPr/>
        </p:nvSpPr>
        <p:spPr>
          <a:xfrm>
            <a:off x="877824" y="2139696"/>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2039112"/>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Focus Mode cannot block other apps — Android forbids it</a:t>
            </a:r>
          </a:p>
        </p:txBody>
      </p:sp>
      <p:sp>
        <p:nvSpPr>
          <p:cNvPr id="13" name="Oval 12"/>
          <p:cNvSpPr/>
          <p:nvPr/>
        </p:nvSpPr>
        <p:spPr>
          <a:xfrm>
            <a:off x="877824" y="2706624"/>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2606040"/>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Do Not Disturb is not toggled — no Expo module exposes it</a:t>
            </a:r>
          </a:p>
        </p:txBody>
      </p:sp>
      <p:sp>
        <p:nvSpPr>
          <p:cNvPr id="15" name="Oval 14"/>
          <p:cNvSpPr/>
          <p:nvPr/>
        </p:nvSpPr>
        <p:spPr>
          <a:xfrm>
            <a:off x="877824" y="3273552"/>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3172968"/>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Web reminders stop when the browser tab closes</a:t>
            </a:r>
          </a:p>
        </p:txBody>
      </p:sp>
      <p:sp>
        <p:nvSpPr>
          <p:cNvPr id="17" name="Oval 16"/>
          <p:cNvSpPr/>
          <p:nvPr/>
        </p:nvSpPr>
        <p:spPr>
          <a:xfrm>
            <a:off x="877824" y="3840479"/>
            <a:ext cx="73152" cy="7315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0704" y="3739895"/>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Weekday reminders need the app opened to re-arm</a:t>
            </a:r>
          </a:p>
        </p:txBody>
      </p:sp>
      <p:sp>
        <p:nvSpPr>
          <p:cNvPr id="19" name="Rounded Rectangle 18"/>
          <p:cNvSpPr/>
          <p:nvPr/>
        </p:nvSpPr>
        <p:spPr>
          <a:xfrm>
            <a:off x="4362602" y="1389888"/>
            <a:ext cx="3466490" cy="303580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362602" y="1389888"/>
            <a:ext cx="346649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2058" y="1627632"/>
            <a:ext cx="3027578"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Implementation gaps</a:t>
            </a:r>
          </a:p>
        </p:txBody>
      </p:sp>
      <p:sp>
        <p:nvSpPr>
          <p:cNvPr id="22" name="Oval 21"/>
          <p:cNvSpPr/>
          <p:nvPr/>
        </p:nvSpPr>
        <p:spPr>
          <a:xfrm>
            <a:off x="4582058" y="2139696"/>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938" y="2039112"/>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Flashcards use fixed intervals, not adaptive SM-2</a:t>
            </a:r>
          </a:p>
        </p:txBody>
      </p:sp>
      <p:sp>
        <p:nvSpPr>
          <p:cNvPr id="24" name="Oval 23"/>
          <p:cNvSpPr/>
          <p:nvPr/>
        </p:nvSpPr>
        <p:spPr>
          <a:xfrm>
            <a:off x="4582058" y="2706624"/>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64938" y="2606040"/>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Reordering is menu-based, not drag-and-drop</a:t>
            </a:r>
          </a:p>
        </p:txBody>
      </p:sp>
      <p:sp>
        <p:nvSpPr>
          <p:cNvPr id="26" name="Oval 25"/>
          <p:cNvSpPr/>
          <p:nvPr/>
        </p:nvSpPr>
        <p:spPr>
          <a:xfrm>
            <a:off x="4582058" y="3273552"/>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4938" y="3172968"/>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The local database is not encrypted</a:t>
            </a:r>
          </a:p>
        </p:txBody>
      </p:sp>
      <p:sp>
        <p:nvSpPr>
          <p:cNvPr id="28" name="Oval 27"/>
          <p:cNvSpPr/>
          <p:nvPr/>
        </p:nvSpPr>
        <p:spPr>
          <a:xfrm>
            <a:off x="4582058" y="3840479"/>
            <a:ext cx="73152" cy="731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64938" y="3739895"/>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The AI rate limit is in-memory, not durable</a:t>
            </a:r>
          </a:p>
        </p:txBody>
      </p:sp>
      <p:sp>
        <p:nvSpPr>
          <p:cNvPr id="30" name="Rounded Rectangle 29"/>
          <p:cNvSpPr/>
          <p:nvPr/>
        </p:nvSpPr>
        <p:spPr>
          <a:xfrm>
            <a:off x="8066836" y="1389888"/>
            <a:ext cx="3466490" cy="3035808"/>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66836" y="1389888"/>
            <a:ext cx="3466490" cy="502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6292" y="1627632"/>
            <a:ext cx="3027578" cy="256032"/>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Scope and verification</a:t>
            </a:r>
          </a:p>
        </p:txBody>
      </p:sp>
      <p:sp>
        <p:nvSpPr>
          <p:cNvPr id="33" name="Oval 32"/>
          <p:cNvSpPr/>
          <p:nvPr/>
        </p:nvSpPr>
        <p:spPr>
          <a:xfrm>
            <a:off x="8286292" y="2139696"/>
            <a:ext cx="73152" cy="73152"/>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69172" y="2039112"/>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Sign-in is required before first offline use</a:t>
            </a:r>
          </a:p>
        </p:txBody>
      </p:sp>
      <p:sp>
        <p:nvSpPr>
          <p:cNvPr id="35" name="Oval 34"/>
          <p:cNvSpPr/>
          <p:nvPr/>
        </p:nvSpPr>
        <p:spPr>
          <a:xfrm>
            <a:off x="8286292" y="2706624"/>
            <a:ext cx="73152" cy="73152"/>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69172" y="2606040"/>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The AI is the one feature needing connectivity</a:t>
            </a:r>
          </a:p>
        </p:txBody>
      </p:sp>
      <p:sp>
        <p:nvSpPr>
          <p:cNvPr id="37" name="Oval 36"/>
          <p:cNvSpPr/>
          <p:nvPr/>
        </p:nvSpPr>
        <p:spPr>
          <a:xfrm>
            <a:off x="8286292" y="3273552"/>
            <a:ext cx="73152" cy="73152"/>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9172" y="3172968"/>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Device testing is not systematic across Android versions</a:t>
            </a:r>
          </a:p>
        </p:txBody>
      </p:sp>
      <p:sp>
        <p:nvSpPr>
          <p:cNvPr id="39" name="Oval 38"/>
          <p:cNvSpPr/>
          <p:nvPr/>
        </p:nvSpPr>
        <p:spPr>
          <a:xfrm>
            <a:off x="8286292" y="3840479"/>
            <a:ext cx="73152" cy="73152"/>
          </a:xfrm>
          <a:prstGeom prst="ellipse">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69172" y="3739895"/>
            <a:ext cx="2844698" cy="530352"/>
          </a:xfrm>
          <a:prstGeom prst="rect">
            <a:avLst/>
          </a:prstGeom>
          <a:noFill/>
        </p:spPr>
        <p:txBody>
          <a:bodyPr wrap="square" lIns="0" rIns="0" tIns="0" bIns="0" anchor="t">
            <a:spAutoFit/>
          </a:bodyPr>
          <a:lstStyle/>
          <a:p>
            <a:pPr algn="l">
              <a:lnSpc>
                <a:spcPct val="118000"/>
              </a:lnSpc>
            </a:pPr>
            <a:r>
              <a:rPr sz="1050" b="0" i="0">
                <a:solidFill>
                  <a:srgbClr val="4A5568"/>
                </a:solidFill>
                <a:latin typeface="Calibri"/>
              </a:rPr>
              <a:t>iOS is untested — nothing prevents it, nothing verifies it</a:t>
            </a:r>
          </a:p>
        </p:txBody>
      </p:sp>
      <p:sp>
        <p:nvSpPr>
          <p:cNvPr id="41" name="Rounded Rectangle 40"/>
          <p:cNvSpPr/>
          <p:nvPr/>
        </p:nvSpPr>
        <p:spPr>
          <a:xfrm>
            <a:off x="658368" y="4608576"/>
            <a:ext cx="10874959" cy="786384"/>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2688" y="4791456"/>
            <a:ext cx="10326319" cy="457200"/>
          </a:xfrm>
          <a:prstGeom prst="rect">
            <a:avLst/>
          </a:prstGeom>
          <a:noFill/>
        </p:spPr>
        <p:txBody>
          <a:bodyPr wrap="square" lIns="0" rIns="0" tIns="0" bIns="0" anchor="t">
            <a:spAutoFit/>
          </a:bodyPr>
          <a:lstStyle/>
          <a:p>
            <a:pPr algn="l">
              <a:lnSpc>
                <a:spcPct val="118000"/>
              </a:lnSpc>
            </a:pPr>
            <a:r>
              <a:rPr sz="1200" b="0" i="0">
                <a:solidFill>
                  <a:srgbClr val="FFFFFF"/>
                </a:solidFill>
                <a:latin typeface="Calibri"/>
              </a:rPr>
              <a:t>Every one of these is documented in docs/developer/LIMITATIONS.md, and the platform restrictions are stated inside the application itself.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WHAT WE WOULD BUILD NEXT</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Future Scope</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27</a:t>
            </a:r>
          </a:p>
        </p:txBody>
      </p:sp>
      <p:sp>
        <p:nvSpPr>
          <p:cNvPr id="8" name="TextBox 7"/>
          <p:cNvSpPr txBox="1"/>
          <p:nvPr/>
        </p:nvSpPr>
        <p:spPr>
          <a:xfrm>
            <a:off x="658368" y="1389888"/>
            <a:ext cx="5577840" cy="256032"/>
          </a:xfrm>
          <a:prstGeom prst="rect">
            <a:avLst/>
          </a:prstGeom>
          <a:noFill/>
        </p:spPr>
        <p:txBody>
          <a:bodyPr wrap="square" lIns="0" rIns="0" tIns="0" bIns="0" anchor="t">
            <a:spAutoFit/>
          </a:bodyPr>
          <a:lstStyle/>
          <a:p>
            <a:pPr algn="l">
              <a:lnSpc>
                <a:spcPct val="100000"/>
              </a:lnSpc>
            </a:pPr>
            <a:r>
              <a:rPr sz="950" b="1" i="0">
                <a:solidFill>
                  <a:srgbClr val="10B981"/>
                </a:solidFill>
                <a:latin typeface="Calibri"/>
              </a:rPr>
              <a:t>NEAR TERM — GROUNDWORK ALREADY IN PLACE</a:t>
            </a:r>
          </a:p>
        </p:txBody>
      </p:sp>
      <p:sp>
        <p:nvSpPr>
          <p:cNvPr id="9" name="Rounded Rectangle 8"/>
          <p:cNvSpPr/>
          <p:nvPr/>
        </p:nvSpPr>
        <p:spPr>
          <a:xfrm>
            <a:off x="658368" y="1755648"/>
            <a:ext cx="557784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59536" y="1975104"/>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1929384"/>
            <a:ext cx="5010912"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Adaptive review scheduling</a:t>
            </a:r>
          </a:p>
        </p:txBody>
      </p:sp>
      <p:sp>
        <p:nvSpPr>
          <p:cNvPr id="12" name="TextBox 11"/>
          <p:cNvSpPr txBox="1"/>
          <p:nvPr/>
        </p:nvSpPr>
        <p:spPr>
          <a:xfrm>
            <a:off x="877824" y="2322576"/>
            <a:ext cx="5138927"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Wire the existing, tested SM-2 implementation to the review screen — the required history is already being recorded.</a:t>
            </a:r>
          </a:p>
        </p:txBody>
      </p:sp>
      <p:sp>
        <p:nvSpPr>
          <p:cNvPr id="13" name="Rounded Rectangle 12"/>
          <p:cNvSpPr/>
          <p:nvPr/>
        </p:nvSpPr>
        <p:spPr>
          <a:xfrm>
            <a:off x="658368" y="2724912"/>
            <a:ext cx="557784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59536" y="2944368"/>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5" y="2898648"/>
            <a:ext cx="5010912"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Drag-and-drop reordering</a:t>
            </a:r>
          </a:p>
        </p:txBody>
      </p:sp>
      <p:sp>
        <p:nvSpPr>
          <p:cNvPr id="16" name="TextBox 15"/>
          <p:cNvSpPr txBox="1"/>
          <p:nvPr/>
        </p:nvSpPr>
        <p:spPr>
          <a:xfrm>
            <a:off x="877824" y="3291840"/>
            <a:ext cx="5138927"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The repositories already support arbitrary reordering; only the gesture layer is missing.</a:t>
            </a:r>
          </a:p>
        </p:txBody>
      </p:sp>
      <p:sp>
        <p:nvSpPr>
          <p:cNvPr id="17" name="Rounded Rectangle 16"/>
          <p:cNvSpPr/>
          <p:nvPr/>
        </p:nvSpPr>
        <p:spPr>
          <a:xfrm>
            <a:off x="658368" y="3694176"/>
            <a:ext cx="5577840"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59536" y="3913632"/>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5" y="3867912"/>
            <a:ext cx="5010912"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Durable AI rate limiting</a:t>
            </a:r>
          </a:p>
        </p:txBody>
      </p:sp>
      <p:sp>
        <p:nvSpPr>
          <p:cNvPr id="20" name="TextBox 19"/>
          <p:cNvSpPr txBox="1"/>
          <p:nvPr/>
        </p:nvSpPr>
        <p:spPr>
          <a:xfrm>
            <a:off x="877824" y="4261104"/>
            <a:ext cx="5138927"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Move the limit into PostgreSQL so it survives instance recycling.</a:t>
            </a:r>
          </a:p>
        </p:txBody>
      </p:sp>
      <p:sp>
        <p:nvSpPr>
          <p:cNvPr id="21" name="TextBox 20"/>
          <p:cNvSpPr txBox="1"/>
          <p:nvPr/>
        </p:nvSpPr>
        <p:spPr>
          <a:xfrm>
            <a:off x="6473952" y="1389888"/>
            <a:ext cx="5059375" cy="256032"/>
          </a:xfrm>
          <a:prstGeom prst="rect">
            <a:avLst/>
          </a:prstGeom>
          <a:noFill/>
        </p:spPr>
        <p:txBody>
          <a:bodyPr wrap="square" lIns="0" rIns="0" tIns="0" bIns="0" anchor="t">
            <a:spAutoFit/>
          </a:bodyPr>
          <a:lstStyle/>
          <a:p>
            <a:pPr algn="l">
              <a:lnSpc>
                <a:spcPct val="100000"/>
              </a:lnSpc>
            </a:pPr>
            <a:r>
              <a:rPr sz="950" b="1" i="0">
                <a:solidFill>
                  <a:srgbClr val="F59E0B"/>
                </a:solidFill>
                <a:latin typeface="Calibri"/>
              </a:rPr>
              <a:t>LONGER TERM</a:t>
            </a:r>
          </a:p>
        </p:txBody>
      </p:sp>
      <p:sp>
        <p:nvSpPr>
          <p:cNvPr id="22" name="Rounded Rectangle 21"/>
          <p:cNvSpPr/>
          <p:nvPr/>
        </p:nvSpPr>
        <p:spPr>
          <a:xfrm>
            <a:off x="6473952" y="1755648"/>
            <a:ext cx="5059375"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675120" y="1975104"/>
            <a:ext cx="50292" cy="23774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1929384"/>
            <a:ext cx="4492447"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Local database encryption</a:t>
            </a:r>
          </a:p>
        </p:txBody>
      </p:sp>
      <p:sp>
        <p:nvSpPr>
          <p:cNvPr id="25" name="TextBox 24"/>
          <p:cNvSpPr txBox="1"/>
          <p:nvPr/>
        </p:nvSpPr>
        <p:spPr>
          <a:xfrm>
            <a:off x="6693408" y="2322576"/>
            <a:ext cx="4620463"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SQLCipher or equivalent, for data at rest.</a:t>
            </a:r>
          </a:p>
        </p:txBody>
      </p:sp>
      <p:sp>
        <p:nvSpPr>
          <p:cNvPr id="26" name="Rounded Rectangle 25"/>
          <p:cNvSpPr/>
          <p:nvPr/>
        </p:nvSpPr>
        <p:spPr>
          <a:xfrm>
            <a:off x="6473952" y="2724912"/>
            <a:ext cx="5059375"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675120" y="2944368"/>
            <a:ext cx="50292" cy="23774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2898648"/>
            <a:ext cx="4492447"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iOS release</a:t>
            </a:r>
          </a:p>
        </p:txBody>
      </p:sp>
      <p:sp>
        <p:nvSpPr>
          <p:cNvPr id="29" name="TextBox 28"/>
          <p:cNvSpPr txBox="1"/>
          <p:nvPr/>
        </p:nvSpPr>
        <p:spPr>
          <a:xfrm>
            <a:off x="6693408" y="3291840"/>
            <a:ext cx="4620463"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The codebase is cross-platform; verification is the missing work.</a:t>
            </a:r>
          </a:p>
        </p:txBody>
      </p:sp>
      <p:sp>
        <p:nvSpPr>
          <p:cNvPr id="30" name="Rounded Rectangle 29"/>
          <p:cNvSpPr/>
          <p:nvPr/>
        </p:nvSpPr>
        <p:spPr>
          <a:xfrm>
            <a:off x="6473952" y="3694176"/>
            <a:ext cx="5059375" cy="859536"/>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675120" y="3913632"/>
            <a:ext cx="50292" cy="237744"/>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3867912"/>
            <a:ext cx="4492447" cy="292608"/>
          </a:xfrm>
          <a:prstGeom prst="rect">
            <a:avLst/>
          </a:prstGeom>
          <a:noFill/>
        </p:spPr>
        <p:txBody>
          <a:bodyPr wrap="square" lIns="0" rIns="0" tIns="0" bIns="0" anchor="t">
            <a:spAutoFit/>
          </a:bodyPr>
          <a:lstStyle/>
          <a:p>
            <a:pPr algn="l">
              <a:lnSpc>
                <a:spcPct val="100000"/>
              </a:lnSpc>
            </a:pPr>
            <a:r>
              <a:rPr sz="1200" b="1" i="0">
                <a:solidFill>
                  <a:srgbClr val="0B0F14"/>
                </a:solidFill>
                <a:latin typeface="Calibri"/>
              </a:rPr>
              <a:t>Systematic device testing</a:t>
            </a:r>
          </a:p>
        </p:txBody>
      </p:sp>
      <p:sp>
        <p:nvSpPr>
          <p:cNvPr id="33" name="TextBox 32"/>
          <p:cNvSpPr txBox="1"/>
          <p:nvPr/>
        </p:nvSpPr>
        <p:spPr>
          <a:xfrm>
            <a:off x="6693408" y="4261104"/>
            <a:ext cx="4620463" cy="128015"/>
          </a:xfrm>
          <a:prstGeom prst="rect">
            <a:avLst/>
          </a:prstGeom>
          <a:noFill/>
        </p:spPr>
        <p:txBody>
          <a:bodyPr wrap="square" lIns="0" rIns="0" tIns="0" bIns="0">
            <a:spAutoFit/>
          </a:bodyPr>
          <a:lstStyle/>
          <a:p>
            <a:pPr>
              <a:lnSpc>
                <a:spcPct val="118000"/>
              </a:lnSpc>
              <a:spcAft>
                <a:spcPts val="400"/>
              </a:spcAft>
            </a:pPr>
            <a:r>
              <a:rPr sz="1000" b="0">
                <a:solidFill>
                  <a:srgbClr val="4A5568"/>
                </a:solidFill>
                <a:latin typeface="Calibri"/>
              </a:rPr>
              <a:t>Especially notification delivery under OEM battery optimisation.</a:t>
            </a:r>
          </a:p>
        </p:txBody>
      </p:sp>
      <p:sp>
        <p:nvSpPr>
          <p:cNvPr id="34" name="Rounded Rectangle 33"/>
          <p:cNvSpPr/>
          <p:nvPr/>
        </p:nvSpPr>
        <p:spPr>
          <a:xfrm>
            <a:off x="658368" y="4791456"/>
            <a:ext cx="10874959" cy="658368"/>
          </a:xfrm>
          <a:prstGeom prst="roundRect">
            <a:avLst>
              <a:gd name="adj" fmla="val 8000"/>
            </a:avLst>
          </a:prstGeom>
          <a:solidFill>
            <a:srgbClr val="F7F9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32688" y="4965192"/>
            <a:ext cx="10326319" cy="347472"/>
          </a:xfrm>
          <a:prstGeom prst="rect">
            <a:avLst/>
          </a:prstGeom>
          <a:noFill/>
        </p:spPr>
        <p:txBody>
          <a:bodyPr wrap="square" lIns="0" rIns="0" tIns="0" bIns="0" anchor="t">
            <a:spAutoFit/>
          </a:bodyPr>
          <a:lstStyle/>
          <a:p>
            <a:pPr algn="l">
              <a:lnSpc>
                <a:spcPct val="100000"/>
              </a:lnSpc>
            </a:pPr>
            <a:r>
              <a:rPr sz="1150" b="0" i="0">
                <a:solidFill>
                  <a:srgbClr val="4A5568"/>
                </a:solidFill>
                <a:latin typeface="Calibri"/>
              </a:rPr>
              <a:t>Further ahead: collaborative study groups, richer productivity analytics, home-screen widgets, and an expanded template library covering more state boards.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9777679" cy="219456"/>
          </a:xfrm>
          <a:prstGeom prst="rect">
            <a:avLst/>
          </a:prstGeom>
          <a:noFill/>
        </p:spPr>
        <p:txBody>
          <a:bodyPr wrap="square" lIns="0" rIns="0" tIns="0" bIns="0" anchor="t">
            <a:spAutoFit/>
          </a:bodyPr>
          <a:lstStyle/>
          <a:p>
            <a:pPr algn="l">
              <a:lnSpc>
                <a:spcPct val="100000"/>
              </a:lnSpc>
            </a:pPr>
            <a:r>
              <a:rPr sz="1050" b="1" i="0">
                <a:solidFill>
                  <a:srgbClr val="3B82F6"/>
                </a:solidFill>
                <a:latin typeface="Calibri"/>
              </a:rPr>
              <a:t>WHAT PREPPILOT DEMONSTRATES</a:t>
            </a:r>
          </a:p>
        </p:txBody>
      </p:sp>
      <p:sp>
        <p:nvSpPr>
          <p:cNvPr id="3" name="TextBox 2"/>
          <p:cNvSpPr txBox="1"/>
          <p:nvPr/>
        </p:nvSpPr>
        <p:spPr>
          <a:xfrm>
            <a:off x="658368" y="640080"/>
            <a:ext cx="9777679" cy="457200"/>
          </a:xfrm>
          <a:prstGeom prst="rect">
            <a:avLst/>
          </a:prstGeom>
          <a:noFill/>
        </p:spPr>
        <p:txBody>
          <a:bodyPr wrap="square" lIns="0" rIns="0" tIns="0" bIns="0" anchor="t">
            <a:spAutoFit/>
          </a:bodyPr>
          <a:lstStyle/>
          <a:p>
            <a:pPr algn="l">
              <a:lnSpc>
                <a:spcPct val="100000"/>
              </a:lnSpc>
            </a:pPr>
            <a:r>
              <a:rPr sz="2700" b="1" i="0">
                <a:solidFill>
                  <a:srgbClr val="1E2A38"/>
                </a:solidFill>
                <a:latin typeface="Calibri"/>
              </a:rPr>
              <a:t>Conclusion</a:t>
            </a:r>
          </a:p>
        </p:txBody>
      </p:sp>
      <p:sp>
        <p:nvSpPr>
          <p:cNvPr id="4" name="Rectangle 3"/>
          <p:cNvSpPr/>
          <p:nvPr/>
        </p:nvSpPr>
        <p:spPr>
          <a:xfrm>
            <a:off x="658368" y="1124712"/>
            <a:ext cx="566928" cy="4114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dya-university-logo.png"/>
          <p:cNvPicPr>
            <a:picLocks noChangeAspect="1"/>
          </p:cNvPicPr>
          <p:nvPr/>
        </p:nvPicPr>
        <p:blipFill>
          <a:blip r:embed="rId2"/>
          <a:stretch>
            <a:fillRect/>
          </a:stretch>
        </p:blipFill>
        <p:spPr>
          <a:xfrm>
            <a:off x="11057839" y="365760"/>
            <a:ext cx="475488" cy="475488"/>
          </a:xfrm>
          <a:prstGeom prst="rect">
            <a:avLst/>
          </a:prstGeom>
        </p:spPr>
      </p:pic>
      <p:sp>
        <p:nvSpPr>
          <p:cNvPr id="6" name="TextBox 5"/>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  ·  Vidya University  ·  Dept. of Computer Science &amp; Engineering</a:t>
            </a:r>
          </a:p>
        </p:txBody>
      </p:sp>
      <p:sp>
        <p:nvSpPr>
          <p:cNvPr id="7" name="TextBox 6"/>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28</a:t>
            </a:r>
          </a:p>
        </p:txBody>
      </p:sp>
      <p:sp>
        <p:nvSpPr>
          <p:cNvPr id="8" name="TextBox 7"/>
          <p:cNvSpPr txBox="1"/>
          <p:nvPr/>
        </p:nvSpPr>
        <p:spPr>
          <a:xfrm>
            <a:off x="658368" y="1389888"/>
            <a:ext cx="10874959" cy="402336"/>
          </a:xfrm>
          <a:prstGeom prst="rect">
            <a:avLst/>
          </a:prstGeom>
          <a:noFill/>
        </p:spPr>
        <p:txBody>
          <a:bodyPr wrap="square" lIns="0" rIns="0" tIns="0" bIns="0" anchor="t">
            <a:spAutoFit/>
          </a:bodyPr>
          <a:lstStyle/>
          <a:p>
            <a:pPr algn="l">
              <a:lnSpc>
                <a:spcPct val="124000"/>
              </a:lnSpc>
            </a:pPr>
            <a:r>
              <a:rPr sz="1700" b="0" i="0">
                <a:solidFill>
                  <a:srgbClr val="0B0F14"/>
                </a:solidFill>
                <a:latin typeface="Calibri"/>
              </a:rPr>
              <a:t>PrepPilot demonstrates that a student-facing application can be both technically rigorous and honest about its own limits.</a:t>
            </a:r>
          </a:p>
        </p:txBody>
      </p:sp>
      <p:sp>
        <p:nvSpPr>
          <p:cNvPr id="9" name="Rounded Rectangle 8"/>
          <p:cNvSpPr/>
          <p:nvPr/>
        </p:nvSpPr>
        <p:spPr>
          <a:xfrm>
            <a:off x="658368" y="2084832"/>
            <a:ext cx="3466490" cy="162763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59536" y="2304288"/>
            <a:ext cx="50292" cy="237744"/>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2258568"/>
            <a:ext cx="2899562"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Offline-first, genuinely</a:t>
            </a:r>
          </a:p>
        </p:txBody>
      </p:sp>
      <p:sp>
        <p:nvSpPr>
          <p:cNvPr id="12" name="TextBox 11"/>
          <p:cNvSpPr txBox="1"/>
          <p:nvPr/>
        </p:nvSpPr>
        <p:spPr>
          <a:xfrm>
            <a:off x="877824" y="2651760"/>
            <a:ext cx="3027578" cy="896112"/>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The local database is authoritative — made workable by client-generated ids, tombstone deletion and a server-side watermark, each addressing a specific failure mode.</a:t>
            </a:r>
          </a:p>
        </p:txBody>
      </p:sp>
      <p:sp>
        <p:nvSpPr>
          <p:cNvPr id="13" name="Rounded Rectangle 12"/>
          <p:cNvSpPr/>
          <p:nvPr/>
        </p:nvSpPr>
        <p:spPr>
          <a:xfrm>
            <a:off x="4362602" y="2084832"/>
            <a:ext cx="3466490" cy="162763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563770" y="2304288"/>
            <a:ext cx="50292" cy="23774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46650" y="2258568"/>
            <a:ext cx="2899562"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Measurement that does not flatter</a:t>
            </a:r>
          </a:p>
        </p:txBody>
      </p:sp>
      <p:sp>
        <p:nvSpPr>
          <p:cNvPr id="16" name="TextBox 15"/>
          <p:cNvSpPr txBox="1"/>
          <p:nvPr/>
        </p:nvSpPr>
        <p:spPr>
          <a:xfrm>
            <a:off x="4582058" y="2651760"/>
            <a:ext cx="3027578" cy="896112"/>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Topic-weighted rather than averaged, unmeasured rather than zero, and rounded honestly.</a:t>
            </a:r>
          </a:p>
        </p:txBody>
      </p:sp>
      <p:sp>
        <p:nvSpPr>
          <p:cNvPr id="17" name="Rounded Rectangle 16"/>
          <p:cNvSpPr/>
          <p:nvPr/>
        </p:nvSpPr>
        <p:spPr>
          <a:xfrm>
            <a:off x="8066836" y="2084832"/>
            <a:ext cx="3466490" cy="1627632"/>
          </a:xfrm>
          <a:prstGeom prst="roundRect">
            <a:avLst>
              <a:gd name="adj" fmla="val 8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268004" y="2304288"/>
            <a:ext cx="50292" cy="237744"/>
          </a:xfrm>
          <a:prstGeom prst="round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0884" y="2258568"/>
            <a:ext cx="2899562" cy="292608"/>
          </a:xfrm>
          <a:prstGeom prst="rect">
            <a:avLst/>
          </a:prstGeom>
          <a:noFill/>
        </p:spPr>
        <p:txBody>
          <a:bodyPr wrap="square" lIns="0" rIns="0" tIns="0" bIns="0" anchor="t">
            <a:spAutoFit/>
          </a:bodyPr>
          <a:lstStyle/>
          <a:p>
            <a:pPr algn="l">
              <a:lnSpc>
                <a:spcPct val="100000"/>
              </a:lnSpc>
            </a:pPr>
            <a:r>
              <a:rPr sz="1300" b="1" i="0">
                <a:solidFill>
                  <a:srgbClr val="0B0F14"/>
                </a:solidFill>
                <a:latin typeface="Calibri"/>
              </a:rPr>
              <a:t>AI safety that is structural</a:t>
            </a:r>
          </a:p>
        </p:txBody>
      </p:sp>
      <p:sp>
        <p:nvSpPr>
          <p:cNvPr id="20" name="TextBox 19"/>
          <p:cNvSpPr txBox="1"/>
          <p:nvPr/>
        </p:nvSpPr>
        <p:spPr>
          <a:xfrm>
            <a:off x="8286292" y="2651760"/>
            <a:ext cx="3027578" cy="896112"/>
          </a:xfrm>
          <a:prstGeom prst="rect">
            <a:avLst/>
          </a:prstGeom>
          <a:noFill/>
        </p:spPr>
        <p:txBody>
          <a:bodyPr wrap="square" lIns="0" rIns="0" tIns="0" bIns="0">
            <a:spAutoFit/>
          </a:bodyPr>
          <a:lstStyle/>
          <a:p>
            <a:pPr>
              <a:lnSpc>
                <a:spcPct val="118000"/>
              </a:lnSpc>
              <a:spcAft>
                <a:spcPts val="400"/>
              </a:spcAft>
            </a:pPr>
            <a:r>
              <a:rPr sz="1100" b="0">
                <a:solidFill>
                  <a:srgbClr val="4A5568"/>
                </a:solidFill>
                <a:latin typeface="Calibri"/>
              </a:rPr>
              <a:t>The proposal grammar has no verb for destruction, so unsafe operations are not discouraged — they are inexpressible.</a:t>
            </a:r>
          </a:p>
        </p:txBody>
      </p:sp>
      <p:sp>
        <p:nvSpPr>
          <p:cNvPr id="21" name="Rounded Rectangle 20"/>
          <p:cNvSpPr/>
          <p:nvPr/>
        </p:nvSpPr>
        <p:spPr>
          <a:xfrm>
            <a:off x="658368" y="3931920"/>
            <a:ext cx="10874959" cy="1170432"/>
          </a:xfrm>
          <a:prstGeom prst="roundRect">
            <a:avLst>
              <a:gd name="adj" fmla="val 8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4133088"/>
            <a:ext cx="10253167" cy="256032"/>
          </a:xfrm>
          <a:prstGeom prst="rect">
            <a:avLst/>
          </a:prstGeom>
          <a:noFill/>
        </p:spPr>
        <p:txBody>
          <a:bodyPr wrap="square" lIns="0" rIns="0" tIns="0" bIns="0" anchor="t">
            <a:spAutoFit/>
          </a:bodyPr>
          <a:lstStyle/>
          <a:p>
            <a:pPr algn="l">
              <a:lnSpc>
                <a:spcPct val="100000"/>
              </a:lnSpc>
            </a:pPr>
            <a:r>
              <a:rPr sz="950" b="1" i="0">
                <a:solidFill>
                  <a:srgbClr val="06B6D4"/>
                </a:solidFill>
                <a:latin typeface="Calibri"/>
              </a:rPr>
              <a:t>AND WHAT IT DECLINES TO CLAIM</a:t>
            </a:r>
          </a:p>
        </p:txBody>
      </p:sp>
      <p:sp>
        <p:nvSpPr>
          <p:cNvPr id="23" name="TextBox 22"/>
          <p:cNvSpPr txBox="1"/>
          <p:nvPr/>
        </p:nvSpPr>
        <p:spPr>
          <a:xfrm>
            <a:off x="969264" y="4443984"/>
            <a:ext cx="10253167" cy="566928"/>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Focus Mode does not pretend to block apps it cannot block. Web reminders say they will stop when the tab closes. The flashcard scheduler is described as what it is. A student planning months of preparation around a tool needs that tool to be accurate about itself.</a:t>
            </a:r>
          </a:p>
        </p:txBody>
      </p:sp>
      <p:sp>
        <p:nvSpPr>
          <p:cNvPr id="24" name="TextBox 23"/>
          <p:cNvSpPr txBox="1"/>
          <p:nvPr/>
        </p:nvSpPr>
        <p:spPr>
          <a:xfrm>
            <a:off x="658368" y="5303520"/>
            <a:ext cx="2554147" cy="365760"/>
          </a:xfrm>
          <a:prstGeom prst="rect">
            <a:avLst/>
          </a:prstGeom>
          <a:noFill/>
        </p:spPr>
        <p:txBody>
          <a:bodyPr wrap="square" lIns="0" rIns="0" tIns="0" bIns="0" anchor="t">
            <a:spAutoFit/>
          </a:bodyPr>
          <a:lstStyle/>
          <a:p>
            <a:pPr algn="ctr">
              <a:lnSpc>
                <a:spcPct val="100000"/>
              </a:lnSpc>
            </a:pPr>
            <a:r>
              <a:rPr sz="2200" b="1" i="0">
                <a:solidFill>
                  <a:srgbClr val="3B82F6"/>
                </a:solidFill>
                <a:latin typeface="Calibri"/>
              </a:rPr>
              <a:t>1,799</a:t>
            </a:r>
          </a:p>
        </p:txBody>
      </p:sp>
      <p:sp>
        <p:nvSpPr>
          <p:cNvPr id="25" name="TextBox 24"/>
          <p:cNvSpPr txBox="1"/>
          <p:nvPr/>
        </p:nvSpPr>
        <p:spPr>
          <a:xfrm>
            <a:off x="658368" y="5687568"/>
            <a:ext cx="2554147" cy="219456"/>
          </a:xfrm>
          <a:prstGeom prst="rect">
            <a:avLst/>
          </a:prstGeom>
          <a:noFill/>
        </p:spPr>
        <p:txBody>
          <a:bodyPr wrap="square" lIns="0" rIns="0" tIns="0" bIns="0" anchor="t">
            <a:spAutoFit/>
          </a:bodyPr>
          <a:lstStyle/>
          <a:p>
            <a:pPr algn="ctr">
              <a:lnSpc>
                <a:spcPct val="100000"/>
              </a:lnSpc>
            </a:pPr>
            <a:r>
              <a:rPr sz="1000" b="0" i="0">
                <a:solidFill>
                  <a:srgbClr val="6B7684"/>
                </a:solidFill>
                <a:latin typeface="Calibri"/>
              </a:rPr>
              <a:t>tests passing</a:t>
            </a:r>
          </a:p>
        </p:txBody>
      </p:sp>
      <p:sp>
        <p:nvSpPr>
          <p:cNvPr id="26" name="TextBox 25"/>
          <p:cNvSpPr txBox="1"/>
          <p:nvPr/>
        </p:nvSpPr>
        <p:spPr>
          <a:xfrm>
            <a:off x="3431971" y="5303520"/>
            <a:ext cx="2554147" cy="365760"/>
          </a:xfrm>
          <a:prstGeom prst="rect">
            <a:avLst/>
          </a:prstGeom>
          <a:noFill/>
        </p:spPr>
        <p:txBody>
          <a:bodyPr wrap="square" lIns="0" rIns="0" tIns="0" bIns="0" anchor="t">
            <a:spAutoFit/>
          </a:bodyPr>
          <a:lstStyle/>
          <a:p>
            <a:pPr algn="ctr">
              <a:lnSpc>
                <a:spcPct val="100000"/>
              </a:lnSpc>
            </a:pPr>
            <a:r>
              <a:rPr sz="2200" b="1" i="0">
                <a:solidFill>
                  <a:srgbClr val="3B82F6"/>
                </a:solidFill>
                <a:latin typeface="Calibri"/>
              </a:rPr>
              <a:t>22</a:t>
            </a:r>
          </a:p>
        </p:txBody>
      </p:sp>
      <p:sp>
        <p:nvSpPr>
          <p:cNvPr id="27" name="TextBox 26"/>
          <p:cNvSpPr txBox="1"/>
          <p:nvPr/>
        </p:nvSpPr>
        <p:spPr>
          <a:xfrm>
            <a:off x="3431971" y="5687568"/>
            <a:ext cx="2554147" cy="219456"/>
          </a:xfrm>
          <a:prstGeom prst="rect">
            <a:avLst/>
          </a:prstGeom>
          <a:noFill/>
        </p:spPr>
        <p:txBody>
          <a:bodyPr wrap="square" lIns="0" rIns="0" tIns="0" bIns="0" anchor="t">
            <a:spAutoFit/>
          </a:bodyPr>
          <a:lstStyle/>
          <a:p>
            <a:pPr algn="ctr">
              <a:lnSpc>
                <a:spcPct val="100000"/>
              </a:lnSpc>
            </a:pPr>
            <a:r>
              <a:rPr sz="1000" b="0" i="0">
                <a:solidFill>
                  <a:srgbClr val="6B7684"/>
                </a:solidFill>
                <a:latin typeface="Calibri"/>
              </a:rPr>
              <a:t>syllabus templates</a:t>
            </a:r>
          </a:p>
        </p:txBody>
      </p:sp>
      <p:sp>
        <p:nvSpPr>
          <p:cNvPr id="28" name="TextBox 27"/>
          <p:cNvSpPr txBox="1"/>
          <p:nvPr/>
        </p:nvSpPr>
        <p:spPr>
          <a:xfrm>
            <a:off x="6205575" y="5303520"/>
            <a:ext cx="2554147" cy="365760"/>
          </a:xfrm>
          <a:prstGeom prst="rect">
            <a:avLst/>
          </a:prstGeom>
          <a:noFill/>
        </p:spPr>
        <p:txBody>
          <a:bodyPr wrap="square" lIns="0" rIns="0" tIns="0" bIns="0" anchor="t">
            <a:spAutoFit/>
          </a:bodyPr>
          <a:lstStyle/>
          <a:p>
            <a:pPr algn="ctr">
              <a:lnSpc>
                <a:spcPct val="100000"/>
              </a:lnSpc>
            </a:pPr>
            <a:r>
              <a:rPr sz="2200" b="1" i="0">
                <a:solidFill>
                  <a:srgbClr val="3B82F6"/>
                </a:solidFill>
                <a:latin typeface="Calibri"/>
              </a:rPr>
              <a:t>9</a:t>
            </a:r>
          </a:p>
        </p:txBody>
      </p:sp>
      <p:sp>
        <p:nvSpPr>
          <p:cNvPr id="29" name="TextBox 28"/>
          <p:cNvSpPr txBox="1"/>
          <p:nvPr/>
        </p:nvSpPr>
        <p:spPr>
          <a:xfrm>
            <a:off x="6205575" y="5687568"/>
            <a:ext cx="2554147" cy="219456"/>
          </a:xfrm>
          <a:prstGeom prst="rect">
            <a:avLst/>
          </a:prstGeom>
          <a:noFill/>
        </p:spPr>
        <p:txBody>
          <a:bodyPr wrap="square" lIns="0" rIns="0" tIns="0" bIns="0" anchor="t">
            <a:spAutoFit/>
          </a:bodyPr>
          <a:lstStyle/>
          <a:p>
            <a:pPr algn="ctr">
              <a:lnSpc>
                <a:spcPct val="100000"/>
              </a:lnSpc>
            </a:pPr>
            <a:r>
              <a:rPr sz="1000" b="0" i="0">
                <a:solidFill>
                  <a:srgbClr val="6B7684"/>
                </a:solidFill>
                <a:latin typeface="Calibri"/>
              </a:rPr>
              <a:t>database tables</a:t>
            </a:r>
          </a:p>
        </p:txBody>
      </p:sp>
      <p:sp>
        <p:nvSpPr>
          <p:cNvPr id="30" name="TextBox 29"/>
          <p:cNvSpPr txBox="1"/>
          <p:nvPr/>
        </p:nvSpPr>
        <p:spPr>
          <a:xfrm>
            <a:off x="8979179" y="5303520"/>
            <a:ext cx="2554147" cy="365760"/>
          </a:xfrm>
          <a:prstGeom prst="rect">
            <a:avLst/>
          </a:prstGeom>
          <a:noFill/>
        </p:spPr>
        <p:txBody>
          <a:bodyPr wrap="square" lIns="0" rIns="0" tIns="0" bIns="0" anchor="t">
            <a:spAutoFit/>
          </a:bodyPr>
          <a:lstStyle/>
          <a:p>
            <a:pPr algn="ctr">
              <a:lnSpc>
                <a:spcPct val="100000"/>
              </a:lnSpc>
            </a:pPr>
            <a:r>
              <a:rPr sz="2200" b="1" i="0">
                <a:solidFill>
                  <a:srgbClr val="3B82F6"/>
                </a:solidFill>
                <a:latin typeface="Calibri"/>
              </a:rPr>
              <a:t>2</a:t>
            </a:r>
          </a:p>
        </p:txBody>
      </p:sp>
      <p:sp>
        <p:nvSpPr>
          <p:cNvPr id="31" name="TextBox 30"/>
          <p:cNvSpPr txBox="1"/>
          <p:nvPr/>
        </p:nvSpPr>
        <p:spPr>
          <a:xfrm>
            <a:off x="8979179" y="5687568"/>
            <a:ext cx="2554147" cy="219456"/>
          </a:xfrm>
          <a:prstGeom prst="rect">
            <a:avLst/>
          </a:prstGeom>
          <a:noFill/>
        </p:spPr>
        <p:txBody>
          <a:bodyPr wrap="square" lIns="0" rIns="0" tIns="0" bIns="0" anchor="t">
            <a:spAutoFit/>
          </a:bodyPr>
          <a:lstStyle/>
          <a:p>
            <a:pPr algn="ctr">
              <a:lnSpc>
                <a:spcPct val="100000"/>
              </a:lnSpc>
            </a:pPr>
            <a:r>
              <a:rPr sz="1000" b="0" i="0">
                <a:solidFill>
                  <a:srgbClr val="6B7684"/>
                </a:solidFill>
                <a:latin typeface="Calibri"/>
              </a:rPr>
              <a:t>platforms from one codebase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idya-university-logo.png"/>
          <p:cNvPicPr>
            <a:picLocks noChangeAspect="1"/>
          </p:cNvPicPr>
          <p:nvPr/>
        </p:nvPicPr>
        <p:blipFill>
          <a:blip r:embed="rId2"/>
          <a:stretch>
            <a:fillRect/>
          </a:stretch>
        </p:blipFill>
        <p:spPr>
          <a:xfrm>
            <a:off x="11057839" y="365760"/>
            <a:ext cx="475488" cy="475488"/>
          </a:xfrm>
          <a:prstGeom prst="rect">
            <a:avLst/>
          </a:prstGeom>
        </p:spPr>
      </p:pic>
      <p:pic>
        <p:nvPicPr>
          <p:cNvPr id="4" name="Picture 3" descr="preppilot-logo.png"/>
          <p:cNvPicPr>
            <a:picLocks noChangeAspect="1"/>
          </p:cNvPicPr>
          <p:nvPr/>
        </p:nvPicPr>
        <p:blipFill>
          <a:blip r:embed="rId3"/>
          <a:stretch>
            <a:fillRect/>
          </a:stretch>
        </p:blipFill>
        <p:spPr>
          <a:xfrm>
            <a:off x="5528919" y="1572768"/>
            <a:ext cx="1133856" cy="1133856"/>
          </a:xfrm>
          <a:prstGeom prst="rect">
            <a:avLst/>
          </a:prstGeom>
        </p:spPr>
      </p:pic>
      <p:sp>
        <p:nvSpPr>
          <p:cNvPr id="5" name="TextBox 4"/>
          <p:cNvSpPr txBox="1"/>
          <p:nvPr/>
        </p:nvSpPr>
        <p:spPr>
          <a:xfrm>
            <a:off x="0" y="2944368"/>
            <a:ext cx="12191695" cy="731520"/>
          </a:xfrm>
          <a:prstGeom prst="rect">
            <a:avLst/>
          </a:prstGeom>
          <a:noFill/>
        </p:spPr>
        <p:txBody>
          <a:bodyPr wrap="square" lIns="0" rIns="0" tIns="0" bIns="0" anchor="t">
            <a:spAutoFit/>
          </a:bodyPr>
          <a:lstStyle/>
          <a:p>
            <a:pPr algn="ctr">
              <a:lnSpc>
                <a:spcPct val="100000"/>
              </a:lnSpc>
            </a:pPr>
            <a:r>
              <a:rPr sz="4600" b="1" i="0">
                <a:solidFill>
                  <a:srgbClr val="FFFFFF"/>
                </a:solidFill>
                <a:latin typeface="Calibri"/>
              </a:rPr>
              <a:t>Thank You</a:t>
            </a:r>
          </a:p>
        </p:txBody>
      </p:sp>
      <p:sp>
        <p:nvSpPr>
          <p:cNvPr id="6" name="TextBox 5"/>
          <p:cNvSpPr txBox="1"/>
          <p:nvPr/>
        </p:nvSpPr>
        <p:spPr>
          <a:xfrm>
            <a:off x="0" y="3767328"/>
            <a:ext cx="12191695" cy="329184"/>
          </a:xfrm>
          <a:prstGeom prst="rect">
            <a:avLst/>
          </a:prstGeom>
          <a:noFill/>
        </p:spPr>
        <p:txBody>
          <a:bodyPr wrap="square" lIns="0" rIns="0" tIns="0" bIns="0" anchor="t">
            <a:spAutoFit/>
          </a:bodyPr>
          <a:lstStyle/>
          <a:p>
            <a:pPr algn="ctr">
              <a:lnSpc>
                <a:spcPct val="100000"/>
              </a:lnSpc>
            </a:pPr>
            <a:r>
              <a:rPr sz="1500" b="0" i="0">
                <a:solidFill>
                  <a:srgbClr val="9BA7B4"/>
                </a:solidFill>
                <a:latin typeface="Calibri"/>
              </a:rPr>
              <a:t>Questions are welcome</a:t>
            </a:r>
          </a:p>
        </p:txBody>
      </p:sp>
      <p:sp>
        <p:nvSpPr>
          <p:cNvPr id="7" name="TextBox 6"/>
          <p:cNvSpPr txBox="1"/>
          <p:nvPr/>
        </p:nvSpPr>
        <p:spPr>
          <a:xfrm>
            <a:off x="0" y="4626864"/>
            <a:ext cx="12191695" cy="274320"/>
          </a:xfrm>
          <a:prstGeom prst="rect">
            <a:avLst/>
          </a:prstGeom>
          <a:noFill/>
        </p:spPr>
        <p:txBody>
          <a:bodyPr wrap="square" lIns="0" rIns="0" tIns="0" bIns="0" anchor="t">
            <a:spAutoFit/>
          </a:bodyPr>
          <a:lstStyle/>
          <a:p>
            <a:pPr algn="ctr">
              <a:lnSpc>
                <a:spcPct val="100000"/>
              </a:lnSpc>
            </a:pPr>
            <a:r>
              <a:rPr sz="1300" b="0" i="0">
                <a:solidFill>
                  <a:srgbClr val="FFFFFF"/>
                </a:solidFill>
                <a:latin typeface="Calibri"/>
              </a:rPr>
              <a:t>Archit Jain  ·  Vanshika Rajput  ·  Lavi Chaudhary  ·  Jasmine Chaudhary</a:t>
            </a:r>
          </a:p>
        </p:txBody>
      </p:sp>
      <p:sp>
        <p:nvSpPr>
          <p:cNvPr id="8" name="TextBox 7"/>
          <p:cNvSpPr txBox="1"/>
          <p:nvPr/>
        </p:nvSpPr>
        <p:spPr>
          <a:xfrm>
            <a:off x="0" y="4956048"/>
            <a:ext cx="12191695" cy="274320"/>
          </a:xfrm>
          <a:prstGeom prst="rect">
            <a:avLst/>
          </a:prstGeom>
          <a:noFill/>
        </p:spPr>
        <p:txBody>
          <a:bodyPr wrap="square" lIns="0" rIns="0" tIns="0" bIns="0" anchor="t">
            <a:spAutoFit/>
          </a:bodyPr>
          <a:lstStyle/>
          <a:p>
            <a:pPr algn="ctr">
              <a:lnSpc>
                <a:spcPct val="100000"/>
              </a:lnSpc>
            </a:pPr>
            <a:r>
              <a:rPr sz="1150" b="0" i="0">
                <a:solidFill>
                  <a:srgbClr val="6B7684"/>
                </a:solidFill>
                <a:latin typeface="Calibri"/>
              </a:rPr>
              <a:t>Guided by Ms. Kareena</a:t>
            </a:r>
          </a:p>
        </p:txBody>
      </p:sp>
      <p:sp>
        <p:nvSpPr>
          <p:cNvPr id="9" name="TextBox 8"/>
          <p:cNvSpPr txBox="1"/>
          <p:nvPr/>
        </p:nvSpPr>
        <p:spPr>
          <a:xfrm>
            <a:off x="0" y="5541264"/>
            <a:ext cx="12191695" cy="274320"/>
          </a:xfrm>
          <a:prstGeom prst="rect">
            <a:avLst/>
          </a:prstGeom>
          <a:noFill/>
        </p:spPr>
        <p:txBody>
          <a:bodyPr wrap="square" lIns="0" rIns="0" tIns="0" bIns="0" anchor="t">
            <a:spAutoFit/>
          </a:bodyPr>
          <a:lstStyle/>
          <a:p>
            <a:pPr algn="ctr">
              <a:lnSpc>
                <a:spcPct val="100000"/>
              </a:lnSpc>
            </a:pPr>
            <a:r>
              <a:rPr sz="1000" b="0" i="0">
                <a:solidFill>
                  <a:srgbClr val="6B7684"/>
                </a:solidFill>
                <a:latin typeface="Calibri"/>
              </a:rPr>
              <a:t>Department of Computer Science &amp; Engineering  ·  Vidya University  ·  12 September 2026</a:t>
            </a:r>
          </a:p>
        </p:txBody>
      </p:sp>
      <p:sp>
        <p:nvSpPr>
          <p:cNvPr id="10" name="TextBox 9"/>
          <p:cNvSpPr txBox="1"/>
          <p:nvPr/>
        </p:nvSpPr>
        <p:spPr>
          <a:xfrm>
            <a:off x="658368" y="6455664"/>
            <a:ext cx="5486400" cy="219456"/>
          </a:xfrm>
          <a:prstGeom prst="rect">
            <a:avLst/>
          </a:prstGeom>
          <a:noFill/>
        </p:spPr>
        <p:txBody>
          <a:bodyPr wrap="square" lIns="0" rIns="0" tIns="0" bIns="0" anchor="t">
            <a:spAutoFit/>
          </a:bodyPr>
          <a:lstStyle/>
          <a:p>
            <a:pPr algn="l">
              <a:lnSpc>
                <a:spcPct val="100000"/>
              </a:lnSpc>
            </a:pPr>
            <a:r>
              <a:rPr sz="850" b="0" i="0">
                <a:solidFill>
                  <a:srgbClr val="6B7684"/>
                </a:solidFill>
                <a:latin typeface="Calibri"/>
              </a:rPr>
              <a:t>PrepPilot</a:t>
            </a:r>
          </a:p>
        </p:txBody>
      </p:sp>
      <p:sp>
        <p:nvSpPr>
          <p:cNvPr id="11" name="TextBox 10"/>
          <p:cNvSpPr txBox="1"/>
          <p:nvPr/>
        </p:nvSpPr>
        <p:spPr>
          <a:xfrm>
            <a:off x="10436047" y="6455664"/>
            <a:ext cx="1097280" cy="219456"/>
          </a:xfrm>
          <a:prstGeom prst="rect">
            <a:avLst/>
          </a:prstGeom>
          <a:noFill/>
        </p:spPr>
        <p:txBody>
          <a:bodyPr wrap="square" lIns="0" rIns="0" tIns="0" bIns="0" anchor="t">
            <a:spAutoFit/>
          </a:bodyPr>
          <a:lstStyle/>
          <a:p>
            <a:pPr algn="r">
              <a:lnSpc>
                <a:spcPct val="100000"/>
              </a:lnSpc>
            </a:pPr>
            <a:r>
              <a:rPr sz="850" b="0" i="0">
                <a:solidFill>
                  <a:srgbClr val="6B7684"/>
                </a:solidFill>
                <a:latin typeface="Calibr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