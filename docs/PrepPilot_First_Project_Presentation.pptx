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PrepPilot, an offline-first, AI-assisted study and exam preparation platform built for Android. I am Archit Jain, with Vanshika, Lavi and Jasmine, guided by Ms. Kareena. Over the next twenty minutes we will cover the problem we set out to solve, our proposed solution, the architecture behind it, and — importantly — an honest account of what the system does and does not 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PrepPilot is built around one idea: a syllabus is a structure, and progress is a measurement over it. Everything hangs off that. Two commitments shape the engineering — offline-first in the strict sense, where the local database is authoritative rather than a cache; and the AI assisting but never driving, able to propose changes but not apply them. On the right is the tracker screen from the running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organisational rather than academic. Four specific failures on the left. On the right, the six categories of tool students actually use today — each fails differently, but none holds the syllabus that everything else should refer to. That gap is what we set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motivation. Averaging the chapter percentages gives fifty percent. The truth is one percent. That difference decides how a student spends their final weeks. Because averaging is the obvious implementation, we wrote a regression test specifically to stop anyone reintroducing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set twelve objectives; these are the six principal ones, each measurable and each met. Objective six is worth noting — integrating AI safely was an engineering constraint from the start, not something added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is one application in which the syllabus is the central data structure and every other feature references it. The four commitments along the bottom are design rules we held to throughout — each is implemented, not aspirational.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mandatory methodology slide. The top row is the everyday flow. The property we want to highlight is in the amber box: the local write completes regardless of network state, so no student action waits on connectivity. The bottom row is the AI path — note that 'student confirms' sits between the proposal and anything being applied.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is four levels deep, the fourth optional. Four rules govern counting. The second matters more than it looks: an empty chapter reports an em dash, not zero percent, because a chapter you have not filled in is unmeasured, not unstarted. All five progress figures come from one traversal, so they are consistent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timer modes. The engineering detail worth explaining is how we measure elapsed time. The naive approach is a counter incremented every second — but Android suspends background processes, so that counter stops the moment a student locks their screen. We derive elapsed time from the start timestamp instead, which survives backgrounding and process death. We also exclude Pomodoro breaks, because counting rest as study makes the total meaningless.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revision features, and the amber panel is the one we most expect to be questioned on. Many apps say 'spaced repetition' and mean SM-2, the Anki algorithm. We implemented SM-2 fully and tested it, but our review screen uses four fixed intervals instead, because fixed labels tell the student exactly what will happen. We maintain the SM-2 statistics underneath, so switching is a one-line change. On the right, the reminder limitation is platform-specific and stated in the app.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screenshot is from the running application. Two ticks and two crosses, each with a reason. Focus Mode does not block other apps — Android does not permit that without an accessibility service or device administrator rights, both restricted by Play Store policy. If asked why we did not implement app blocking, the answer is that it is not a matter of effort, it is a platform restriction. Rather than let a student discover this by being let down, the app says so up front.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Offline-first is a precise claim, so let us be precise. The local SQLite database is authoritative — writes complete there regardless of network state. Three design properties make this work, each addressing a specific failure mode. Client-generated ids mean an offline row is recognised as the same row, not a duplicate. Tombstones mean deletions survive a sync. And taking the watermark from the server's clock prevents a device with a fast clock silently skipping rows forever.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Synchronisation runs pull, merge, then push — the order matters. Four conflict rules applied identically on every device. Rule two is the subtle one: topics carry a separate completedChangedAt column so completion resolves independently of the rest of the row. Without it, renaming a topic on your tablet would silently revert a tick made on your phone. Rule three settles genuine ties in favour of completed, because un-ticking finished work is the error a student would never forgive.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on one slide: how the AI is reached, and what stops it wrecking a syllabus. The client never talks to Gemini directly — if we had put the key in the app, anyone who downloaded the APK could extract it and spend our quota. On safety, the answer is not that we asked the model nicely. A reply is parsed into an inert proposal, and the grammar admits exactly two verbs — add chapters and add topics. A request to delete or complete something cannot even be represented in our data structure, so it cannot be applied.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client layers, each with one job. The domain layer in packages/shared is deliberately free of React Native imports, which means identical code runs in the Android app, the browser build and the test suite — so they cannot disagree about a percentage. Supabase is our backend; there is no Node server anywhere. Nine tables locally, eight synchronised; preferences stays on the device. The panel at the bottom is a decision worth defending: sessions and flashcards have no foreign key to the syllabus, because deleting a subject would otherwise shrink your total study time — and you really did spend those hours.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sign-in methods. The security model rests on row-level security: enabled and forced on every table — forcing matters, because without it the policies do not apply to the table owner. Note the third bullet: there is deliberately no delete policy anywhere. Deletion happens by tombstone, and the absence of that policy enforces it at the database rather than trusting client code. The anon key being in the bundle is correct and intentional; its power is bounded by RLS.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as actually built, with versions from our package manifests. The note at the bottom pre-empts a common question. It is easy to list Node.js as a backend; in our case that would be wrong. Node runs our bundler, test runners and formatter, but there is no Node server anywhere in the repository. Our backend is Supabase.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evidence base. Seventeen hundred and ninety-nine tests across eighty suites, all passing — measured, not estimated: we ran the suite from a clean install while preparing this presentation. CI runs six stages on every change. Two are worth explaining: we build the Android and web bundles in CI, because a green test suite does not prove the app still bundles through a pnpm workspace — a failure mode we hit and now guard against.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would rather present this ourselves than have it discovered in questioning. On the left, three categories. The first are platform restrictions — not things we ran out of time for, but things Android does not permit. The second are genuine gaps we would close with more time. The third is scope. On the right, our near-term work is deliberately unglamorous because the groundwork is already in place: the SM-2 implementation exists and is tested, so switching is a small, safe change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Three technical contributions: a genuinely offline-first architecture, a progress model that refuses to flatter the user, and an AI integration whose safety is structural rather than advisory. Equally deliberate is what we decline to claim — a student planning months of preparation around a tool needs that tool to be accurate about itself.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10896" cy="685800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71900"/>
            <a:ext cx="310896" cy="3086100"/>
          </a:xfrm>
          <a:prstGeom prst="rect">
            <a:avLst/>
          </a:prstGeom>
          <a:solidFill>
            <a:srgbClr val="3C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idya-university-logo.png"/>
          <p:cNvPicPr>
            <a:picLocks noChangeAspect="1"/>
          </p:cNvPicPr>
          <p:nvPr/>
        </p:nvPicPr>
        <p:blipFill>
          <a:blip r:embed="rId2"/>
          <a:stretch>
            <a:fillRect/>
          </a:stretch>
        </p:blipFill>
        <p:spPr>
          <a:xfrm>
            <a:off x="868680" y="475488"/>
            <a:ext cx="2514600" cy="964474"/>
          </a:xfrm>
          <a:prstGeom prst="rect">
            <a:avLst/>
          </a:prstGeom>
        </p:spPr>
      </p:pic>
      <p:sp>
        <p:nvSpPr>
          <p:cNvPr id="5" name="TextBox 4"/>
          <p:cNvSpPr txBox="1"/>
          <p:nvPr/>
        </p:nvSpPr>
        <p:spPr>
          <a:xfrm>
            <a:off x="868680" y="1517904"/>
            <a:ext cx="7315200" cy="256032"/>
          </a:xfrm>
          <a:prstGeom prst="rect">
            <a:avLst/>
          </a:prstGeom>
          <a:noFill/>
        </p:spPr>
        <p:txBody>
          <a:bodyPr wrap="square" lIns="0" rIns="0" tIns="0" bIns="0" anchor="t">
            <a:spAutoFit/>
          </a:bodyPr>
          <a:lstStyle/>
          <a:p>
            <a:pPr algn="l">
              <a:lnSpc>
                <a:spcPct val="100000"/>
              </a:lnSpc>
            </a:pPr>
            <a:r>
              <a:rPr sz="1300" b="1" i="0">
                <a:solidFill>
                  <a:srgbClr val="294A48"/>
                </a:solidFill>
                <a:latin typeface="Calibri"/>
              </a:rPr>
              <a:t>VIDYA UNIVERSITY, MEERUT</a:t>
            </a:r>
          </a:p>
        </p:txBody>
      </p:sp>
      <p:sp>
        <p:nvSpPr>
          <p:cNvPr id="6" name="TextBox 5"/>
          <p:cNvSpPr txBox="1"/>
          <p:nvPr/>
        </p:nvSpPr>
        <p:spPr>
          <a:xfrm>
            <a:off x="868680" y="1792224"/>
            <a:ext cx="7315200" cy="237744"/>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Department of Computer Science &amp; Engineering</a:t>
            </a:r>
          </a:p>
        </p:txBody>
      </p:sp>
      <p:sp>
        <p:nvSpPr>
          <p:cNvPr id="7" name="Rectangle 6"/>
          <p:cNvSpPr/>
          <p:nvPr/>
        </p:nvSpPr>
        <p:spPr>
          <a:xfrm>
            <a:off x="868680" y="2212848"/>
            <a:ext cx="10664647" cy="18288"/>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14016"/>
            <a:ext cx="8595360" cy="274320"/>
          </a:xfrm>
          <a:prstGeom prst="rect">
            <a:avLst/>
          </a:prstGeom>
          <a:noFill/>
        </p:spPr>
        <p:txBody>
          <a:bodyPr wrap="square" lIns="0" rIns="0" tIns="0" bIns="0" anchor="t">
            <a:spAutoFit/>
          </a:bodyPr>
          <a:lstStyle/>
          <a:p>
            <a:pPr algn="l">
              <a:lnSpc>
                <a:spcPct val="100000"/>
              </a:lnSpc>
            </a:pPr>
            <a:r>
              <a:rPr sz="1100" b="1" i="0">
                <a:solidFill>
                  <a:srgbClr val="D84830"/>
                </a:solidFill>
                <a:latin typeface="Calibri"/>
              </a:rPr>
              <a:t>FIRST PROJECT PRESENTATION  ·  3RD SEMESTER  ·  CSE (AI &amp; ML)</a:t>
            </a:r>
          </a:p>
        </p:txBody>
      </p:sp>
      <p:sp>
        <p:nvSpPr>
          <p:cNvPr id="9" name="TextBox 8"/>
          <p:cNvSpPr txBox="1"/>
          <p:nvPr/>
        </p:nvSpPr>
        <p:spPr>
          <a:xfrm>
            <a:off x="868680" y="2743200"/>
            <a:ext cx="8778240" cy="914400"/>
          </a:xfrm>
          <a:prstGeom prst="rect">
            <a:avLst/>
          </a:prstGeom>
          <a:noFill/>
        </p:spPr>
        <p:txBody>
          <a:bodyPr wrap="square" lIns="0" rIns="0" tIns="0" bIns="0" anchor="t">
            <a:spAutoFit/>
          </a:bodyPr>
          <a:lstStyle/>
          <a:p>
            <a:pPr algn="l">
              <a:lnSpc>
                <a:spcPct val="100000"/>
              </a:lnSpc>
            </a:pPr>
            <a:r>
              <a:rPr sz="5400" b="1" i="0">
                <a:solidFill>
                  <a:srgbClr val="294A48"/>
                </a:solidFill>
                <a:latin typeface="Calibri"/>
              </a:rPr>
              <a:t>PrepPilot</a:t>
            </a:r>
          </a:p>
        </p:txBody>
      </p:sp>
      <p:sp>
        <p:nvSpPr>
          <p:cNvPr id="10" name="TextBox 9"/>
          <p:cNvSpPr txBox="1"/>
          <p:nvPr/>
        </p:nvSpPr>
        <p:spPr>
          <a:xfrm>
            <a:off x="868680" y="3675887"/>
            <a:ext cx="7863840" cy="603504"/>
          </a:xfrm>
          <a:prstGeom prst="rect">
            <a:avLst/>
          </a:prstGeom>
          <a:noFill/>
        </p:spPr>
        <p:txBody>
          <a:bodyPr wrap="square" lIns="0" rIns="0" tIns="0" bIns="0" anchor="t">
            <a:spAutoFit/>
          </a:bodyPr>
          <a:lstStyle/>
          <a:p>
            <a:pPr algn="l">
              <a:lnSpc>
                <a:spcPct val="122000"/>
              </a:lnSpc>
            </a:pPr>
            <a:r>
              <a:rPr sz="1700" b="0" i="0">
                <a:solidFill>
                  <a:srgbClr val="4A5568"/>
                </a:solidFill>
                <a:latin typeface="Calibri"/>
              </a:rPr>
              <a:t>An Offline-First, AI-Assisted Study and Examination Preparation Platform</a:t>
            </a:r>
          </a:p>
        </p:txBody>
      </p:sp>
      <p:sp>
        <p:nvSpPr>
          <p:cNvPr id="11" name="Rectangle 10"/>
          <p:cNvSpPr/>
          <p:nvPr/>
        </p:nvSpPr>
        <p:spPr>
          <a:xfrm>
            <a:off x="868680" y="4443984"/>
            <a:ext cx="658368" cy="4572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718304"/>
            <a:ext cx="292608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PRESENTED BY</a:t>
            </a:r>
          </a:p>
        </p:txBody>
      </p:sp>
      <p:sp>
        <p:nvSpPr>
          <p:cNvPr id="13" name="TextBox 12"/>
          <p:cNvSpPr txBox="1"/>
          <p:nvPr/>
        </p:nvSpPr>
        <p:spPr>
          <a:xfrm>
            <a:off x="868680" y="4992624"/>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Archit Jain</a:t>
            </a:r>
          </a:p>
        </p:txBody>
      </p:sp>
      <p:sp>
        <p:nvSpPr>
          <p:cNvPr id="14" name="TextBox 13"/>
          <p:cNvSpPr txBox="1"/>
          <p:nvPr/>
        </p:nvSpPr>
        <p:spPr>
          <a:xfrm>
            <a:off x="868680" y="5239512"/>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5" name="TextBox 14"/>
          <p:cNvSpPr txBox="1"/>
          <p:nvPr/>
        </p:nvSpPr>
        <p:spPr>
          <a:xfrm>
            <a:off x="3264408" y="4992624"/>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Vanshika Rajput</a:t>
            </a:r>
          </a:p>
        </p:txBody>
      </p:sp>
      <p:sp>
        <p:nvSpPr>
          <p:cNvPr id="16" name="TextBox 15"/>
          <p:cNvSpPr txBox="1"/>
          <p:nvPr/>
        </p:nvSpPr>
        <p:spPr>
          <a:xfrm>
            <a:off x="3264408" y="5239512"/>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7" name="TextBox 16"/>
          <p:cNvSpPr txBox="1"/>
          <p:nvPr/>
        </p:nvSpPr>
        <p:spPr>
          <a:xfrm>
            <a:off x="868680" y="5522976"/>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Lavi Chaudhary</a:t>
            </a:r>
          </a:p>
        </p:txBody>
      </p:sp>
      <p:sp>
        <p:nvSpPr>
          <p:cNvPr id="18" name="TextBox 17"/>
          <p:cNvSpPr txBox="1"/>
          <p:nvPr/>
        </p:nvSpPr>
        <p:spPr>
          <a:xfrm>
            <a:off x="868680" y="5769864"/>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9" name="TextBox 18"/>
          <p:cNvSpPr txBox="1"/>
          <p:nvPr/>
        </p:nvSpPr>
        <p:spPr>
          <a:xfrm>
            <a:off x="3264408" y="5522976"/>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Jasmine Chaudhary</a:t>
            </a:r>
          </a:p>
        </p:txBody>
      </p:sp>
      <p:sp>
        <p:nvSpPr>
          <p:cNvPr id="20" name="TextBox 19"/>
          <p:cNvSpPr txBox="1"/>
          <p:nvPr/>
        </p:nvSpPr>
        <p:spPr>
          <a:xfrm>
            <a:off x="3264408" y="5769864"/>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21" name="TextBox 20"/>
          <p:cNvSpPr txBox="1"/>
          <p:nvPr/>
        </p:nvSpPr>
        <p:spPr>
          <a:xfrm>
            <a:off x="7882127" y="4718304"/>
            <a:ext cx="274320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PROJECT GUIDE</a:t>
            </a:r>
          </a:p>
        </p:txBody>
      </p:sp>
      <p:sp>
        <p:nvSpPr>
          <p:cNvPr id="22" name="TextBox 21"/>
          <p:cNvSpPr txBox="1"/>
          <p:nvPr/>
        </p:nvSpPr>
        <p:spPr>
          <a:xfrm>
            <a:off x="7882127" y="4974336"/>
            <a:ext cx="3108960" cy="274320"/>
          </a:xfrm>
          <a:prstGeom prst="rect">
            <a:avLst/>
          </a:prstGeom>
          <a:noFill/>
        </p:spPr>
        <p:txBody>
          <a:bodyPr wrap="square" lIns="0" rIns="0" tIns="0" bIns="0" anchor="t">
            <a:spAutoFit/>
          </a:bodyPr>
          <a:lstStyle/>
          <a:p>
            <a:pPr algn="l">
              <a:lnSpc>
                <a:spcPct val="100000"/>
              </a:lnSpc>
            </a:pPr>
            <a:r>
              <a:rPr sz="1450" b="1" i="0">
                <a:solidFill>
                  <a:srgbClr val="0B0F14"/>
                </a:solidFill>
                <a:latin typeface="Calibri"/>
              </a:rPr>
              <a:t>Ms. Kareena</a:t>
            </a:r>
          </a:p>
        </p:txBody>
      </p:sp>
      <p:sp>
        <p:nvSpPr>
          <p:cNvPr id="23" name="TextBox 22"/>
          <p:cNvSpPr txBox="1"/>
          <p:nvPr/>
        </p:nvSpPr>
        <p:spPr>
          <a:xfrm>
            <a:off x="7882127" y="5266944"/>
            <a:ext cx="3291840"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Dept. of Computer Science &amp; Engineering</a:t>
            </a:r>
          </a:p>
        </p:txBody>
      </p:sp>
      <p:sp>
        <p:nvSpPr>
          <p:cNvPr id="24" name="TextBox 23"/>
          <p:cNvSpPr txBox="1"/>
          <p:nvPr/>
        </p:nvSpPr>
        <p:spPr>
          <a:xfrm>
            <a:off x="7882127" y="5614416"/>
            <a:ext cx="274320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SUBMISSION DATE</a:t>
            </a:r>
          </a:p>
        </p:txBody>
      </p:sp>
      <p:sp>
        <p:nvSpPr>
          <p:cNvPr id="25" name="TextBox 24"/>
          <p:cNvSpPr txBox="1"/>
          <p:nvPr/>
        </p:nvSpPr>
        <p:spPr>
          <a:xfrm>
            <a:off x="7882127" y="5870448"/>
            <a:ext cx="2743200" cy="274320"/>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12 September 2026</a:t>
            </a:r>
          </a:p>
        </p:txBody>
      </p:sp>
      <p:pic>
        <p:nvPicPr>
          <p:cNvPr id="26" name="Picture 25" descr="preppilot-icon.png"/>
          <p:cNvPicPr>
            <a:picLocks noChangeAspect="1"/>
          </p:cNvPicPr>
          <p:nvPr/>
        </p:nvPicPr>
        <p:blipFill>
          <a:blip r:embed="rId3"/>
          <a:stretch>
            <a:fillRect/>
          </a:stretch>
        </p:blipFill>
        <p:spPr>
          <a:xfrm>
            <a:off x="10241280" y="2487168"/>
            <a:ext cx="1188720" cy="1188720"/>
          </a:xfrm>
          <a:prstGeom prst="rect">
            <a:avLst/>
          </a:prstGeom>
        </p:spPr>
      </p:pic>
      <p:sp>
        <p:nvSpPr>
          <p:cNvPr id="27" name="TextBox 26"/>
          <p:cNvSpPr txBox="1"/>
          <p:nvPr/>
        </p:nvSpPr>
        <p:spPr>
          <a:xfrm>
            <a:off x="658368" y="6473952"/>
            <a:ext cx="73152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Baghpat Road, Delhi-Meerut Bypass, Meerut, U.P., India-250002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PROJECT INTRODUCTION</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What is PrepPilot?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a:t>
            </a:r>
          </a:p>
        </p:txBody>
      </p:sp>
      <p:sp>
        <p:nvSpPr>
          <p:cNvPr id="8" name="TextBox 7"/>
          <p:cNvSpPr txBox="1"/>
          <p:nvPr/>
        </p:nvSpPr>
        <p:spPr>
          <a:xfrm>
            <a:off x="658368" y="1389888"/>
            <a:ext cx="6858000" cy="786384"/>
          </a:xfrm>
          <a:prstGeom prst="rect">
            <a:avLst/>
          </a:prstGeom>
          <a:noFill/>
        </p:spPr>
        <p:txBody>
          <a:bodyPr wrap="square" lIns="0" rIns="0" tIns="0" bIns="0" anchor="t">
            <a:spAutoFit/>
          </a:bodyPr>
          <a:lstStyle/>
          <a:p>
            <a:pPr algn="l">
              <a:lnSpc>
                <a:spcPct val="126000"/>
              </a:lnSpc>
            </a:pPr>
            <a:r>
              <a:rPr sz="1650" b="0" i="0">
                <a:solidFill>
                  <a:srgbClr val="0B0F14"/>
                </a:solidFill>
                <a:latin typeface="Calibri"/>
              </a:rPr>
              <a:t>A mobile application that helps a student organise a syllabus, record what they have genuinely completed, time their study, and revise — with or without an internet connection.</a:t>
            </a:r>
          </a:p>
        </p:txBody>
      </p:sp>
      <p:sp>
        <p:nvSpPr>
          <p:cNvPr id="9" name="Rounded Rectangle 8"/>
          <p:cNvSpPr/>
          <p:nvPr/>
        </p:nvSpPr>
        <p:spPr>
          <a:xfrm>
            <a:off x="658368"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2542032"/>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Syllabus at the centre</a:t>
            </a:r>
          </a:p>
        </p:txBody>
      </p:sp>
      <p:sp>
        <p:nvSpPr>
          <p:cNvPr id="12" name="TextBox 11"/>
          <p:cNvSpPr txBox="1"/>
          <p:nvPr/>
        </p:nvSpPr>
        <p:spPr>
          <a:xfrm>
            <a:off x="877824"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Subject → Chapter → Topic → Sub-topic. Every feature attaches to this structure.</a:t>
            </a:r>
          </a:p>
        </p:txBody>
      </p:sp>
      <p:sp>
        <p:nvSpPr>
          <p:cNvPr id="13" name="Rounded Rectangle 12"/>
          <p:cNvSpPr/>
          <p:nvPr/>
        </p:nvSpPr>
        <p:spPr>
          <a:xfrm>
            <a:off x="3011423"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212592" y="2542032"/>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5471"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Offline-first, strictly</a:t>
            </a:r>
          </a:p>
        </p:txBody>
      </p:sp>
      <p:sp>
        <p:nvSpPr>
          <p:cNvPr id="16" name="TextBox 15"/>
          <p:cNvSpPr txBox="1"/>
          <p:nvPr/>
        </p:nvSpPr>
        <p:spPr>
          <a:xfrm>
            <a:off x="3230880"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On-device SQLite is the source of truth. The cloud syncs; it is never required.</a:t>
            </a:r>
          </a:p>
        </p:txBody>
      </p:sp>
      <p:sp>
        <p:nvSpPr>
          <p:cNvPr id="17" name="Rounded Rectangle 16"/>
          <p:cNvSpPr/>
          <p:nvPr/>
        </p:nvSpPr>
        <p:spPr>
          <a:xfrm>
            <a:off x="5364480"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565647" y="2542032"/>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48528"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Tracker first, AI second</a:t>
            </a:r>
          </a:p>
        </p:txBody>
      </p:sp>
      <p:sp>
        <p:nvSpPr>
          <p:cNvPr id="20" name="TextBox 19"/>
          <p:cNvSpPr txBox="1"/>
          <p:nvPr/>
        </p:nvSpPr>
        <p:spPr>
          <a:xfrm>
            <a:off x="5583936"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assistant supports the workflow. It can propose, never apply.</a:t>
            </a:r>
          </a:p>
        </p:txBody>
      </p:sp>
      <p:sp>
        <p:nvSpPr>
          <p:cNvPr id="21" name="Rounded Rectangle 20"/>
          <p:cNvSpPr/>
          <p:nvPr/>
        </p:nvSpPr>
        <p:spPr>
          <a:xfrm>
            <a:off x="658368" y="4041648"/>
            <a:ext cx="6858000" cy="107899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206240"/>
            <a:ext cx="64008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THE ORGANISING IDEA</a:t>
            </a:r>
          </a:p>
        </p:txBody>
      </p:sp>
      <p:sp>
        <p:nvSpPr>
          <p:cNvPr id="23" name="TextBox 22"/>
          <p:cNvSpPr txBox="1"/>
          <p:nvPr/>
        </p:nvSpPr>
        <p:spPr>
          <a:xfrm>
            <a:off x="932688" y="4498848"/>
            <a:ext cx="6400800" cy="548640"/>
          </a:xfrm>
          <a:prstGeom prst="rect">
            <a:avLst/>
          </a:prstGeom>
          <a:noFill/>
        </p:spPr>
        <p:txBody>
          <a:bodyPr wrap="square" lIns="0" rIns="0" tIns="0" bIns="0" anchor="t">
            <a:spAutoFit/>
          </a:bodyPr>
          <a:lstStyle/>
          <a:p>
            <a:pPr algn="l">
              <a:lnSpc>
                <a:spcPct val="120000"/>
              </a:lnSpc>
            </a:pPr>
            <a:r>
              <a:rPr sz="1250" b="0" i="0">
                <a:solidFill>
                  <a:srgbClr val="4A5568"/>
                </a:solidFill>
                <a:latin typeface="Calibri"/>
              </a:rPr>
              <a:t>A student's syllabus is a structure, and progress is a measurement over that structure. Timers, flashcards, notes and reminders all point back to it.</a:t>
            </a:r>
          </a:p>
        </p:txBody>
      </p:sp>
      <p:sp>
        <p:nvSpPr>
          <p:cNvPr id="24" name="TextBox 23"/>
          <p:cNvSpPr txBox="1"/>
          <p:nvPr/>
        </p:nvSpPr>
        <p:spPr>
          <a:xfrm>
            <a:off x="658368"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22</a:t>
            </a:r>
          </a:p>
        </p:txBody>
      </p:sp>
      <p:sp>
        <p:nvSpPr>
          <p:cNvPr id="25" name="TextBox 24"/>
          <p:cNvSpPr txBox="1"/>
          <p:nvPr/>
        </p:nvSpPr>
        <p:spPr>
          <a:xfrm>
            <a:off x="658368"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syllabus templates</a:t>
            </a:r>
          </a:p>
        </p:txBody>
      </p:sp>
      <p:sp>
        <p:nvSpPr>
          <p:cNvPr id="26" name="TextBox 25"/>
          <p:cNvSpPr txBox="1"/>
          <p:nvPr/>
        </p:nvSpPr>
        <p:spPr>
          <a:xfrm>
            <a:off x="2990087"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9</a:t>
            </a:r>
          </a:p>
        </p:txBody>
      </p:sp>
      <p:sp>
        <p:nvSpPr>
          <p:cNvPr id="27" name="TextBox 26"/>
          <p:cNvSpPr txBox="1"/>
          <p:nvPr/>
        </p:nvSpPr>
        <p:spPr>
          <a:xfrm>
            <a:off x="2990087"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database tables</a:t>
            </a:r>
          </a:p>
        </p:txBody>
      </p:sp>
      <p:sp>
        <p:nvSpPr>
          <p:cNvPr id="28" name="TextBox 27"/>
          <p:cNvSpPr txBox="1"/>
          <p:nvPr/>
        </p:nvSpPr>
        <p:spPr>
          <a:xfrm>
            <a:off x="5321807"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1,799</a:t>
            </a:r>
          </a:p>
        </p:txBody>
      </p:sp>
      <p:sp>
        <p:nvSpPr>
          <p:cNvPr id="29" name="TextBox 28"/>
          <p:cNvSpPr txBox="1"/>
          <p:nvPr/>
        </p:nvSpPr>
        <p:spPr>
          <a:xfrm>
            <a:off x="5321807"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tests passing</a:t>
            </a:r>
          </a:p>
        </p:txBody>
      </p:sp>
      <p:pic>
        <p:nvPicPr>
          <p:cNvPr id="30" name="Picture 29" descr="tracker.png"/>
          <p:cNvPicPr>
            <a:picLocks noChangeAspect="1"/>
          </p:cNvPicPr>
          <p:nvPr/>
        </p:nvPicPr>
        <p:blipFill>
          <a:blip r:embed="rId3"/>
          <a:stretch>
            <a:fillRect/>
          </a:stretch>
        </p:blipFill>
        <p:spPr>
          <a:xfrm>
            <a:off x="8183879" y="1316736"/>
            <a:ext cx="1943148" cy="44805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PROBLEM, AND WHY CURRENT TOOLS MISS IT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Problem Statement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3</a:t>
            </a:r>
          </a:p>
        </p:txBody>
      </p:sp>
      <p:sp>
        <p:nvSpPr>
          <p:cNvPr id="8" name="Rounded Rectangle 7"/>
          <p:cNvSpPr/>
          <p:nvPr/>
        </p:nvSpPr>
        <p:spPr>
          <a:xfrm>
            <a:off x="658368" y="1389888"/>
            <a:ext cx="10874959" cy="859536"/>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1554480"/>
            <a:ext cx="10253167" cy="566928"/>
          </a:xfrm>
          <a:prstGeom prst="rect">
            <a:avLst/>
          </a:prstGeom>
          <a:noFill/>
        </p:spPr>
        <p:txBody>
          <a:bodyPr wrap="square" lIns="0" rIns="0" tIns="0" bIns="0" anchor="t">
            <a:spAutoFit/>
          </a:bodyPr>
          <a:lstStyle/>
          <a:p>
            <a:pPr algn="l">
              <a:lnSpc>
                <a:spcPct val="122000"/>
              </a:lnSpc>
            </a:pPr>
            <a:r>
              <a:rPr sz="1450" b="0" i="0">
                <a:solidFill>
                  <a:srgbClr val="FFFFFF"/>
                </a:solidFill>
                <a:latin typeface="Calibri"/>
              </a:rPr>
              <a:t>Students lack a single, reliable, offline-capable tool that answers “how much of my syllabus have I actually finished?” honestly — and that supports the study workflow against that same structure.</a:t>
            </a:r>
          </a:p>
        </p:txBody>
      </p:sp>
      <p:sp>
        <p:nvSpPr>
          <p:cNvPr id="10" name="Rounded Rectangle 9"/>
          <p:cNvSpPr/>
          <p:nvPr/>
        </p:nvSpPr>
        <p:spPr>
          <a:xfrm>
            <a:off x="658368" y="24505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859536" y="267004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624327"/>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No accurate measurement</a:t>
            </a:r>
          </a:p>
        </p:txBody>
      </p:sp>
      <p:sp>
        <p:nvSpPr>
          <p:cNvPr id="13" name="TextBox 12"/>
          <p:cNvSpPr txBox="1"/>
          <p:nvPr/>
        </p:nvSpPr>
        <p:spPr>
          <a:xfrm>
            <a:off x="877824" y="30175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Paper, spreadsheets and memory cannot measure a hierarchical syllabus of unequal parts.</a:t>
            </a:r>
          </a:p>
        </p:txBody>
      </p:sp>
      <p:sp>
        <p:nvSpPr>
          <p:cNvPr id="14" name="Rounded Rectangle 13"/>
          <p:cNvSpPr/>
          <p:nvPr/>
        </p:nvSpPr>
        <p:spPr>
          <a:xfrm>
            <a:off x="3776472" y="24505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3977639" y="2670048"/>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0520" y="2624327"/>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Connectivity dependence</a:t>
            </a:r>
          </a:p>
        </p:txBody>
      </p:sp>
      <p:sp>
        <p:nvSpPr>
          <p:cNvPr id="17" name="TextBox 16"/>
          <p:cNvSpPr txBox="1"/>
          <p:nvPr/>
        </p:nvSpPr>
        <p:spPr>
          <a:xfrm>
            <a:off x="3995928" y="30175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Most study apps need a network round-trip — unusable in libraries, hostels and trains.</a:t>
            </a:r>
          </a:p>
        </p:txBody>
      </p:sp>
      <p:sp>
        <p:nvSpPr>
          <p:cNvPr id="18" name="Rounded Rectangle 17"/>
          <p:cNvSpPr/>
          <p:nvPr/>
        </p:nvSpPr>
        <p:spPr>
          <a:xfrm>
            <a:off x="658368" y="38221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59536" y="404164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5" y="3995928"/>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Fragmentation</a:t>
            </a:r>
          </a:p>
        </p:txBody>
      </p:sp>
      <p:sp>
        <p:nvSpPr>
          <p:cNvPr id="21" name="TextBox 20"/>
          <p:cNvSpPr txBox="1"/>
          <p:nvPr/>
        </p:nvSpPr>
        <p:spPr>
          <a:xfrm>
            <a:off x="877824" y="43891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Tracking, timers, flashcards and notes sit in separate apps that share no context.</a:t>
            </a:r>
          </a:p>
        </p:txBody>
      </p:sp>
      <p:sp>
        <p:nvSpPr>
          <p:cNvPr id="22" name="Rounded Rectangle 21"/>
          <p:cNvSpPr/>
          <p:nvPr/>
        </p:nvSpPr>
        <p:spPr>
          <a:xfrm>
            <a:off x="3776472" y="38221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977639" y="404164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60520" y="3995928"/>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Misleading metrics</a:t>
            </a:r>
          </a:p>
        </p:txBody>
      </p:sp>
      <p:sp>
        <p:nvSpPr>
          <p:cNvPr id="25" name="TextBox 24"/>
          <p:cNvSpPr txBox="1"/>
          <p:nvPr/>
        </p:nvSpPr>
        <p:spPr>
          <a:xfrm>
            <a:off x="3995928" y="43891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Naive progress calculations misrepresent how much work actually remains.</a:t>
            </a:r>
          </a:p>
        </p:txBody>
      </p:sp>
      <p:sp>
        <p:nvSpPr>
          <p:cNvPr id="26" name="Rounded Rectangle 25"/>
          <p:cNvSpPr/>
          <p:nvPr/>
        </p:nvSpPr>
        <p:spPr>
          <a:xfrm>
            <a:off x="6894576" y="2450591"/>
            <a:ext cx="4638751" cy="263347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50608" y="2615184"/>
            <a:ext cx="42062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EXISTING APPROACHES</a:t>
            </a:r>
          </a:p>
        </p:txBody>
      </p:sp>
      <p:sp>
        <p:nvSpPr>
          <p:cNvPr id="28" name="TextBox 27"/>
          <p:cNvSpPr txBox="1"/>
          <p:nvPr/>
        </p:nvSpPr>
        <p:spPr>
          <a:xfrm>
            <a:off x="7150608" y="2907791"/>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Paper checklists</a:t>
            </a:r>
          </a:p>
        </p:txBody>
      </p:sp>
      <p:sp>
        <p:nvSpPr>
          <p:cNvPr id="29" name="TextBox 28"/>
          <p:cNvSpPr txBox="1"/>
          <p:nvPr/>
        </p:nvSpPr>
        <p:spPr>
          <a:xfrm>
            <a:off x="8860536" y="2907791"/>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computed progress</a:t>
            </a:r>
          </a:p>
        </p:txBody>
      </p:sp>
      <p:sp>
        <p:nvSpPr>
          <p:cNvPr id="30" name="TextBox 29"/>
          <p:cNvSpPr txBox="1"/>
          <p:nvPr/>
        </p:nvSpPr>
        <p:spPr>
          <a:xfrm>
            <a:off x="7150608" y="3191256"/>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Spreadsheets</a:t>
            </a:r>
          </a:p>
        </p:txBody>
      </p:sp>
      <p:sp>
        <p:nvSpPr>
          <p:cNvPr id="31" name="TextBox 30"/>
          <p:cNvSpPr txBox="1"/>
          <p:nvPr/>
        </p:nvSpPr>
        <p:spPr>
          <a:xfrm>
            <a:off x="8860536" y="3191256"/>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laborious on a phone</a:t>
            </a:r>
          </a:p>
        </p:txBody>
      </p:sp>
      <p:sp>
        <p:nvSpPr>
          <p:cNvPr id="32" name="TextBox 31"/>
          <p:cNvSpPr txBox="1"/>
          <p:nvPr/>
        </p:nvSpPr>
        <p:spPr>
          <a:xfrm>
            <a:off x="7150608" y="3474720"/>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To-do apps</a:t>
            </a:r>
          </a:p>
        </p:txBody>
      </p:sp>
      <p:sp>
        <p:nvSpPr>
          <p:cNvPr id="33" name="TextBox 32"/>
          <p:cNvSpPr txBox="1"/>
          <p:nvPr/>
        </p:nvSpPr>
        <p:spPr>
          <a:xfrm>
            <a:off x="8860536" y="3474720"/>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syllabus concept</a:t>
            </a:r>
          </a:p>
        </p:txBody>
      </p:sp>
      <p:sp>
        <p:nvSpPr>
          <p:cNvPr id="34" name="TextBox 33"/>
          <p:cNvSpPr txBox="1"/>
          <p:nvPr/>
        </p:nvSpPr>
        <p:spPr>
          <a:xfrm>
            <a:off x="7150608" y="3758183"/>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Flashcard apps</a:t>
            </a:r>
          </a:p>
        </p:txBody>
      </p:sp>
      <p:sp>
        <p:nvSpPr>
          <p:cNvPr id="35" name="TextBox 34"/>
          <p:cNvSpPr txBox="1"/>
          <p:nvPr/>
        </p:nvSpPr>
        <p:spPr>
          <a:xfrm>
            <a:off x="8860536" y="3758183"/>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progress model</a:t>
            </a:r>
          </a:p>
        </p:txBody>
      </p:sp>
      <p:sp>
        <p:nvSpPr>
          <p:cNvPr id="36" name="TextBox 35"/>
          <p:cNvSpPr txBox="1"/>
          <p:nvPr/>
        </p:nvSpPr>
        <p:spPr>
          <a:xfrm>
            <a:off x="7150608" y="4041648"/>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Pomodoro timers</a:t>
            </a:r>
          </a:p>
        </p:txBody>
      </p:sp>
      <p:sp>
        <p:nvSpPr>
          <p:cNvPr id="37" name="TextBox 36"/>
          <p:cNvSpPr txBox="1"/>
          <p:nvPr/>
        </p:nvSpPr>
        <p:spPr>
          <a:xfrm>
            <a:off x="8860536" y="4041648"/>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time only, no context</a:t>
            </a:r>
          </a:p>
        </p:txBody>
      </p:sp>
      <p:sp>
        <p:nvSpPr>
          <p:cNvPr id="38" name="TextBox 37"/>
          <p:cNvSpPr txBox="1"/>
          <p:nvPr/>
        </p:nvSpPr>
        <p:spPr>
          <a:xfrm>
            <a:off x="7150608" y="4325112"/>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Coaching portals</a:t>
            </a:r>
          </a:p>
        </p:txBody>
      </p:sp>
      <p:sp>
        <p:nvSpPr>
          <p:cNvPr id="39" name="TextBox 38"/>
          <p:cNvSpPr txBox="1"/>
          <p:nvPr/>
        </p:nvSpPr>
        <p:spPr>
          <a:xfrm>
            <a:off x="8860536" y="4325112"/>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need connectivity</a:t>
            </a:r>
          </a:p>
        </p:txBody>
      </p:sp>
      <p:sp>
        <p:nvSpPr>
          <p:cNvPr id="40" name="TextBox 39"/>
          <p:cNvSpPr txBox="1"/>
          <p:nvPr/>
        </p:nvSpPr>
        <p:spPr>
          <a:xfrm>
            <a:off x="7150608" y="5175504"/>
            <a:ext cx="4206240" cy="457200"/>
          </a:xfrm>
          <a:prstGeom prst="rect">
            <a:avLst/>
          </a:prstGeom>
          <a:noFill/>
        </p:spPr>
        <p:txBody>
          <a:bodyPr wrap="square" lIns="0" rIns="0" tIns="0" bIns="0" anchor="t">
            <a:spAutoFit/>
          </a:bodyPr>
          <a:lstStyle/>
          <a:p>
            <a:pPr algn="l">
              <a:lnSpc>
                <a:spcPct val="118000"/>
              </a:lnSpc>
            </a:pPr>
            <a:r>
              <a:rPr sz="1000" b="0" i="1">
                <a:solidFill>
                  <a:srgbClr val="6B7684"/>
                </a:solidFill>
                <a:latin typeface="Calibri"/>
              </a:rPr>
              <a:t>No existing tool combines a structured syllabus, honest progress, offline-first operation and integrated study tooling.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A WRONG NUMBER IS WORSE THAN NO NUMBER</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Why This Problem Matters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4</a:t>
            </a:r>
          </a:p>
        </p:txBody>
      </p:sp>
      <p:sp>
        <p:nvSpPr>
          <p:cNvPr id="8" name="TextBox 7"/>
          <p:cNvSpPr txBox="1"/>
          <p:nvPr/>
        </p:nvSpPr>
        <p:spPr>
          <a:xfrm>
            <a:off x="658368" y="1389888"/>
            <a:ext cx="10881360" cy="310896"/>
          </a:xfrm>
          <a:prstGeom prst="rect">
            <a:avLst/>
          </a:prstGeom>
          <a:noFill/>
        </p:spPr>
        <p:txBody>
          <a:bodyPr wrap="square" lIns="0" rIns="0" tIns="0" bIns="0" anchor="t">
            <a:spAutoFit/>
          </a:bodyPr>
          <a:lstStyle/>
          <a:p>
            <a:pPr algn="l">
              <a:lnSpc>
                <a:spcPct val="100000"/>
              </a:lnSpc>
            </a:pPr>
            <a:r>
              <a:rPr sz="1500" b="0" i="0">
                <a:solidFill>
                  <a:srgbClr val="4A5568"/>
                </a:solidFill>
                <a:latin typeface="Calibri"/>
              </a:rPr>
              <a:t>Consider a subject with two chapters: one topic complete out of one, and zero complete out of ninety-nine.</a:t>
            </a:r>
          </a:p>
        </p:txBody>
      </p:sp>
      <p:sp>
        <p:nvSpPr>
          <p:cNvPr id="9" name="Rounded Rectangle 8"/>
          <p:cNvSpPr/>
          <p:nvPr/>
        </p:nvSpPr>
        <p:spPr>
          <a:xfrm>
            <a:off x="658368" y="1956816"/>
            <a:ext cx="5074920" cy="2084831"/>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914400" y="2176272"/>
            <a:ext cx="1481328" cy="27432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THE OBVIOUS WAY</a:t>
            </a:r>
          </a:p>
        </p:txBody>
      </p:sp>
      <p:sp>
        <p:nvSpPr>
          <p:cNvPr id="11" name="TextBox 10"/>
          <p:cNvSpPr txBox="1"/>
          <p:nvPr/>
        </p:nvSpPr>
        <p:spPr>
          <a:xfrm>
            <a:off x="914400" y="2596896"/>
            <a:ext cx="4562856"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Average the chapter percentages</a:t>
            </a:r>
          </a:p>
        </p:txBody>
      </p:sp>
      <p:sp>
        <p:nvSpPr>
          <p:cNvPr id="12" name="TextBox 11"/>
          <p:cNvSpPr txBox="1"/>
          <p:nvPr/>
        </p:nvSpPr>
        <p:spPr>
          <a:xfrm>
            <a:off x="914400" y="2944368"/>
            <a:ext cx="4562856" cy="365760"/>
          </a:xfrm>
          <a:prstGeom prst="rect">
            <a:avLst/>
          </a:prstGeom>
          <a:noFill/>
        </p:spPr>
        <p:txBody>
          <a:bodyPr wrap="square" lIns="0" rIns="0" tIns="0" bIns="0" anchor="t">
            <a:spAutoFit/>
          </a:bodyPr>
          <a:lstStyle/>
          <a:p>
            <a:pPr algn="l">
              <a:lnSpc>
                <a:spcPct val="100000"/>
              </a:lnSpc>
            </a:pPr>
            <a:r>
              <a:rPr sz="1700" b="0" i="0">
                <a:solidFill>
                  <a:srgbClr val="4A5568"/>
                </a:solidFill>
                <a:latin typeface="Consolas"/>
              </a:rPr>
              <a:t>( 100%  +  0% )  ÷  2</a:t>
            </a:r>
          </a:p>
        </p:txBody>
      </p:sp>
      <p:sp>
        <p:nvSpPr>
          <p:cNvPr id="13" name="TextBox 12"/>
          <p:cNvSpPr txBox="1"/>
          <p:nvPr/>
        </p:nvSpPr>
        <p:spPr>
          <a:xfrm>
            <a:off x="914400" y="3383280"/>
            <a:ext cx="4562856" cy="457200"/>
          </a:xfrm>
          <a:prstGeom prst="rect">
            <a:avLst/>
          </a:prstGeom>
          <a:noFill/>
        </p:spPr>
        <p:txBody>
          <a:bodyPr wrap="square" lIns="0" rIns="0" tIns="0" bIns="0" anchor="t">
            <a:spAutoFit/>
          </a:bodyPr>
          <a:lstStyle/>
          <a:p>
            <a:pPr algn="l">
              <a:lnSpc>
                <a:spcPct val="100000"/>
              </a:lnSpc>
            </a:pPr>
            <a:r>
              <a:rPr sz="2600" b="1" i="0">
                <a:solidFill>
                  <a:srgbClr val="EF4444"/>
                </a:solidFill>
                <a:latin typeface="Calibri"/>
              </a:rPr>
              <a:t>= 50% complete</a:t>
            </a:r>
          </a:p>
        </p:txBody>
      </p:sp>
      <p:sp>
        <p:nvSpPr>
          <p:cNvPr id="14" name="Rounded Rectangle 13"/>
          <p:cNvSpPr/>
          <p:nvPr/>
        </p:nvSpPr>
        <p:spPr>
          <a:xfrm>
            <a:off x="6190488" y="1956816"/>
            <a:ext cx="5074920" cy="2084831"/>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46520" y="2176272"/>
            <a:ext cx="2057400"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WHAT PREPPILOT DOES</a:t>
            </a:r>
          </a:p>
        </p:txBody>
      </p:sp>
      <p:sp>
        <p:nvSpPr>
          <p:cNvPr id="16" name="TextBox 15"/>
          <p:cNvSpPr txBox="1"/>
          <p:nvPr/>
        </p:nvSpPr>
        <p:spPr>
          <a:xfrm>
            <a:off x="6446520" y="2596896"/>
            <a:ext cx="4562856"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Weight by topics, not chapters</a:t>
            </a:r>
          </a:p>
        </p:txBody>
      </p:sp>
      <p:sp>
        <p:nvSpPr>
          <p:cNvPr id="17" name="TextBox 16"/>
          <p:cNvSpPr txBox="1"/>
          <p:nvPr/>
        </p:nvSpPr>
        <p:spPr>
          <a:xfrm>
            <a:off x="6446520" y="2944368"/>
            <a:ext cx="4562856" cy="365760"/>
          </a:xfrm>
          <a:prstGeom prst="rect">
            <a:avLst/>
          </a:prstGeom>
          <a:noFill/>
        </p:spPr>
        <p:txBody>
          <a:bodyPr wrap="square" lIns="0" rIns="0" tIns="0" bIns="0" anchor="t">
            <a:spAutoFit/>
          </a:bodyPr>
          <a:lstStyle/>
          <a:p>
            <a:pPr algn="l">
              <a:lnSpc>
                <a:spcPct val="100000"/>
              </a:lnSpc>
            </a:pPr>
            <a:r>
              <a:rPr sz="1700" b="0" i="0">
                <a:solidFill>
                  <a:srgbClr val="4A5568"/>
                </a:solidFill>
                <a:latin typeface="Consolas"/>
              </a:rPr>
              <a:t>1 topic  ÷  100 topics</a:t>
            </a:r>
          </a:p>
        </p:txBody>
      </p:sp>
      <p:sp>
        <p:nvSpPr>
          <p:cNvPr id="18" name="TextBox 17"/>
          <p:cNvSpPr txBox="1"/>
          <p:nvPr/>
        </p:nvSpPr>
        <p:spPr>
          <a:xfrm>
            <a:off x="6446520" y="3383280"/>
            <a:ext cx="4562856" cy="457200"/>
          </a:xfrm>
          <a:prstGeom prst="rect">
            <a:avLst/>
          </a:prstGeom>
          <a:noFill/>
        </p:spPr>
        <p:txBody>
          <a:bodyPr wrap="square" lIns="0" rIns="0" tIns="0" bIns="0" anchor="t">
            <a:spAutoFit/>
          </a:bodyPr>
          <a:lstStyle/>
          <a:p>
            <a:pPr algn="l">
              <a:lnSpc>
                <a:spcPct val="100000"/>
              </a:lnSpc>
            </a:pPr>
            <a:r>
              <a:rPr sz="2600" b="1" i="0">
                <a:solidFill>
                  <a:srgbClr val="10B981"/>
                </a:solidFill>
                <a:latin typeface="Calibri"/>
              </a:rPr>
              <a:t>= 1% complete</a:t>
            </a:r>
          </a:p>
        </p:txBody>
      </p:sp>
      <p:sp>
        <p:nvSpPr>
          <p:cNvPr id="19" name="Rounded Rectangle 18"/>
          <p:cNvSpPr/>
          <p:nvPr/>
        </p:nvSpPr>
        <p:spPr>
          <a:xfrm>
            <a:off x="658368" y="4261104"/>
            <a:ext cx="10874959" cy="137160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443984"/>
            <a:ext cx="10289743" cy="256032"/>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WHY THIS IS THE CORE PROMISE</a:t>
            </a:r>
          </a:p>
        </p:txBody>
      </p:sp>
      <p:sp>
        <p:nvSpPr>
          <p:cNvPr id="21" name="TextBox 20"/>
          <p:cNvSpPr txBox="1"/>
          <p:nvPr/>
        </p:nvSpPr>
        <p:spPr>
          <a:xfrm>
            <a:off x="950976" y="4773168"/>
            <a:ext cx="10289743" cy="73152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A student who believes they are halfway through when they are 1% through will plan their remaining weeks wrongly. The averaging mistake is the obvious implementation — so our progress engine guards against it with an explicit regression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WE SET OUT TO BUILD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Objectives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5</a:t>
            </a:r>
          </a:p>
        </p:txBody>
      </p:sp>
      <p:sp>
        <p:nvSpPr>
          <p:cNvPr id="8" name="Rounded Rectangle 7"/>
          <p:cNvSpPr/>
          <p:nvPr/>
        </p:nvSpPr>
        <p:spPr>
          <a:xfrm>
            <a:off x="658368"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72768"/>
            <a:ext cx="731520" cy="274320"/>
          </a:xfrm>
          <a:prstGeom prst="rect">
            <a:avLst/>
          </a:prstGeom>
          <a:noFill/>
        </p:spPr>
        <p:txBody>
          <a:bodyPr wrap="square" lIns="0" rIns="0" tIns="0" bIns="0" anchor="t">
            <a:spAutoFit/>
          </a:bodyPr>
          <a:lstStyle/>
          <a:p>
            <a:pPr algn="l">
              <a:lnSpc>
                <a:spcPct val="100000"/>
              </a:lnSpc>
            </a:pPr>
            <a:r>
              <a:rPr sz="1300" b="1" i="0">
                <a:solidFill>
                  <a:srgbClr val="3B82F6"/>
                </a:solidFill>
                <a:latin typeface="Consolas"/>
              </a:rPr>
              <a:t>01</a:t>
            </a:r>
          </a:p>
        </p:txBody>
      </p:sp>
      <p:sp>
        <p:nvSpPr>
          <p:cNvPr id="10" name="TextBox 9"/>
          <p:cNvSpPr txBox="1"/>
          <p:nvPr/>
        </p:nvSpPr>
        <p:spPr>
          <a:xfrm>
            <a:off x="896112"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Model the syllabus</a:t>
            </a:r>
          </a:p>
        </p:txBody>
      </p:sp>
      <p:sp>
        <p:nvSpPr>
          <p:cNvPr id="11" name="TextBox 10"/>
          <p:cNvSpPr txBox="1"/>
          <p:nvPr/>
        </p:nvSpPr>
        <p:spPr>
          <a:xfrm>
            <a:off x="896112"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Four-level hierarchy with per-item completion</a:t>
            </a:r>
          </a:p>
        </p:txBody>
      </p:sp>
      <p:sp>
        <p:nvSpPr>
          <p:cNvPr id="12" name="Rounded Rectangle 11"/>
          <p:cNvSpPr/>
          <p:nvPr/>
        </p:nvSpPr>
        <p:spPr>
          <a:xfrm>
            <a:off x="4362602"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0346" y="1572768"/>
            <a:ext cx="731520" cy="274320"/>
          </a:xfrm>
          <a:prstGeom prst="rect">
            <a:avLst/>
          </a:prstGeom>
          <a:noFill/>
        </p:spPr>
        <p:txBody>
          <a:bodyPr wrap="square" lIns="0" rIns="0" tIns="0" bIns="0" anchor="t">
            <a:spAutoFit/>
          </a:bodyPr>
          <a:lstStyle/>
          <a:p>
            <a:pPr algn="l">
              <a:lnSpc>
                <a:spcPct val="100000"/>
              </a:lnSpc>
            </a:pPr>
            <a:r>
              <a:rPr sz="1300" b="1" i="0">
                <a:solidFill>
                  <a:srgbClr val="10B981"/>
                </a:solidFill>
                <a:latin typeface="Consolas"/>
              </a:rPr>
              <a:t>02</a:t>
            </a:r>
          </a:p>
        </p:txBody>
      </p:sp>
      <p:sp>
        <p:nvSpPr>
          <p:cNvPr id="14" name="TextBox 13"/>
          <p:cNvSpPr txBox="1"/>
          <p:nvPr/>
        </p:nvSpPr>
        <p:spPr>
          <a:xfrm>
            <a:off x="4600346"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Measure honestly</a:t>
            </a:r>
          </a:p>
        </p:txBody>
      </p:sp>
      <p:sp>
        <p:nvSpPr>
          <p:cNvPr id="15" name="TextBox 14"/>
          <p:cNvSpPr txBox="1"/>
          <p:nvPr/>
        </p:nvSpPr>
        <p:spPr>
          <a:xfrm>
            <a:off x="4600346"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Topic-weighted progress that never misrepresents</a:t>
            </a:r>
          </a:p>
        </p:txBody>
      </p:sp>
      <p:sp>
        <p:nvSpPr>
          <p:cNvPr id="16" name="Rounded Rectangle 15"/>
          <p:cNvSpPr/>
          <p:nvPr/>
        </p:nvSpPr>
        <p:spPr>
          <a:xfrm>
            <a:off x="8066836"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1572768"/>
            <a:ext cx="731520" cy="274320"/>
          </a:xfrm>
          <a:prstGeom prst="rect">
            <a:avLst/>
          </a:prstGeom>
          <a:noFill/>
        </p:spPr>
        <p:txBody>
          <a:bodyPr wrap="square" lIns="0" rIns="0" tIns="0" bIns="0" anchor="t">
            <a:spAutoFit/>
          </a:bodyPr>
          <a:lstStyle/>
          <a:p>
            <a:pPr algn="l">
              <a:lnSpc>
                <a:spcPct val="100000"/>
              </a:lnSpc>
            </a:pPr>
            <a:r>
              <a:rPr sz="1300" b="1" i="0">
                <a:solidFill>
                  <a:srgbClr val="A855F7"/>
                </a:solidFill>
                <a:latin typeface="Consolas"/>
              </a:rPr>
              <a:t>03</a:t>
            </a:r>
          </a:p>
        </p:txBody>
      </p:sp>
      <p:sp>
        <p:nvSpPr>
          <p:cNvPr id="18" name="TextBox 17"/>
          <p:cNvSpPr txBox="1"/>
          <p:nvPr/>
        </p:nvSpPr>
        <p:spPr>
          <a:xfrm>
            <a:off x="8304580"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Work offline</a:t>
            </a:r>
          </a:p>
        </p:txBody>
      </p:sp>
      <p:sp>
        <p:nvSpPr>
          <p:cNvPr id="19" name="TextBox 18"/>
          <p:cNvSpPr txBox="1"/>
          <p:nvPr/>
        </p:nvSpPr>
        <p:spPr>
          <a:xfrm>
            <a:off x="8304580"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Local database authoritative; network optional</a:t>
            </a:r>
          </a:p>
        </p:txBody>
      </p:sp>
      <p:sp>
        <p:nvSpPr>
          <p:cNvPr id="20" name="Rounded Rectangle 19"/>
          <p:cNvSpPr/>
          <p:nvPr/>
        </p:nvSpPr>
        <p:spPr>
          <a:xfrm>
            <a:off x="658368"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6112" y="3054096"/>
            <a:ext cx="731520" cy="274320"/>
          </a:xfrm>
          <a:prstGeom prst="rect">
            <a:avLst/>
          </a:prstGeom>
          <a:noFill/>
        </p:spPr>
        <p:txBody>
          <a:bodyPr wrap="square" lIns="0" rIns="0" tIns="0" bIns="0" anchor="t">
            <a:spAutoFit/>
          </a:bodyPr>
          <a:lstStyle/>
          <a:p>
            <a:pPr algn="l">
              <a:lnSpc>
                <a:spcPct val="100000"/>
              </a:lnSpc>
            </a:pPr>
            <a:r>
              <a:rPr sz="1300" b="1" i="0">
                <a:solidFill>
                  <a:srgbClr val="06B6D4"/>
                </a:solidFill>
                <a:latin typeface="Consolas"/>
              </a:rPr>
              <a:t>04</a:t>
            </a:r>
          </a:p>
        </p:txBody>
      </p:sp>
      <p:sp>
        <p:nvSpPr>
          <p:cNvPr id="22" name="TextBox 21"/>
          <p:cNvSpPr txBox="1"/>
          <p:nvPr/>
        </p:nvSpPr>
        <p:spPr>
          <a:xfrm>
            <a:off x="896112"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Sync deterministically</a:t>
            </a:r>
          </a:p>
        </p:txBody>
      </p:sp>
      <p:sp>
        <p:nvSpPr>
          <p:cNvPr id="23" name="TextBox 22"/>
          <p:cNvSpPr txBox="1"/>
          <p:nvPr/>
        </p:nvSpPr>
        <p:spPr>
          <a:xfrm>
            <a:off x="896112"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Multi-device with predictable conflict rules</a:t>
            </a:r>
          </a:p>
        </p:txBody>
      </p:sp>
      <p:sp>
        <p:nvSpPr>
          <p:cNvPr id="24" name="Rounded Rectangle 23"/>
          <p:cNvSpPr/>
          <p:nvPr/>
        </p:nvSpPr>
        <p:spPr>
          <a:xfrm>
            <a:off x="4362602"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00346" y="3054096"/>
            <a:ext cx="731520" cy="274320"/>
          </a:xfrm>
          <a:prstGeom prst="rect">
            <a:avLst/>
          </a:prstGeom>
          <a:noFill/>
        </p:spPr>
        <p:txBody>
          <a:bodyPr wrap="square" lIns="0" rIns="0" tIns="0" bIns="0" anchor="t">
            <a:spAutoFit/>
          </a:bodyPr>
          <a:lstStyle/>
          <a:p>
            <a:pPr algn="l">
              <a:lnSpc>
                <a:spcPct val="100000"/>
              </a:lnSpc>
            </a:pPr>
            <a:r>
              <a:rPr sz="1300" b="1" i="0">
                <a:solidFill>
                  <a:srgbClr val="F59E0B"/>
                </a:solidFill>
                <a:latin typeface="Consolas"/>
              </a:rPr>
              <a:t>05</a:t>
            </a:r>
          </a:p>
        </p:txBody>
      </p:sp>
      <p:sp>
        <p:nvSpPr>
          <p:cNvPr id="26" name="TextBox 25"/>
          <p:cNvSpPr txBox="1"/>
          <p:nvPr/>
        </p:nvSpPr>
        <p:spPr>
          <a:xfrm>
            <a:off x="4600346"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Record study accurately</a:t>
            </a:r>
          </a:p>
        </p:txBody>
      </p:sp>
      <p:sp>
        <p:nvSpPr>
          <p:cNvPr id="27" name="TextBox 26"/>
          <p:cNvSpPr txBox="1"/>
          <p:nvPr/>
        </p:nvSpPr>
        <p:spPr>
          <a:xfrm>
            <a:off x="4600346"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Survive backgrounding and process death</a:t>
            </a:r>
          </a:p>
        </p:txBody>
      </p:sp>
      <p:sp>
        <p:nvSpPr>
          <p:cNvPr id="28" name="Rounded Rectangle 27"/>
          <p:cNvSpPr/>
          <p:nvPr/>
        </p:nvSpPr>
        <p:spPr>
          <a:xfrm>
            <a:off x="8066836"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304580" y="3054096"/>
            <a:ext cx="731520" cy="274320"/>
          </a:xfrm>
          <a:prstGeom prst="rect">
            <a:avLst/>
          </a:prstGeom>
          <a:noFill/>
        </p:spPr>
        <p:txBody>
          <a:bodyPr wrap="square" lIns="0" rIns="0" tIns="0" bIns="0" anchor="t">
            <a:spAutoFit/>
          </a:bodyPr>
          <a:lstStyle/>
          <a:p>
            <a:pPr algn="l">
              <a:lnSpc>
                <a:spcPct val="100000"/>
              </a:lnSpc>
            </a:pPr>
            <a:r>
              <a:rPr sz="1300" b="1" i="0">
                <a:solidFill>
                  <a:srgbClr val="EF4444"/>
                </a:solidFill>
                <a:latin typeface="Consolas"/>
              </a:rPr>
              <a:t>06</a:t>
            </a:r>
          </a:p>
        </p:txBody>
      </p:sp>
      <p:sp>
        <p:nvSpPr>
          <p:cNvPr id="30" name="TextBox 29"/>
          <p:cNvSpPr txBox="1"/>
          <p:nvPr/>
        </p:nvSpPr>
        <p:spPr>
          <a:xfrm>
            <a:off x="8304580"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Integrate AI safely</a:t>
            </a:r>
          </a:p>
        </p:txBody>
      </p:sp>
      <p:sp>
        <p:nvSpPr>
          <p:cNvPr id="31" name="TextBox 30"/>
          <p:cNvSpPr txBox="1"/>
          <p:nvPr/>
        </p:nvSpPr>
        <p:spPr>
          <a:xfrm>
            <a:off x="8304580"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No client-side keys; no unconfirmed changes</a:t>
            </a:r>
          </a:p>
        </p:txBody>
      </p:sp>
      <p:sp>
        <p:nvSpPr>
          <p:cNvPr id="32" name="Rounded Rectangle 31"/>
          <p:cNvSpPr/>
          <p:nvPr/>
        </p:nvSpPr>
        <p:spPr>
          <a:xfrm>
            <a:off x="658368" y="4517136"/>
            <a:ext cx="10874959" cy="694944"/>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50976" y="4700016"/>
            <a:ext cx="10289743" cy="365760"/>
          </a:xfrm>
          <a:prstGeom prst="rect">
            <a:avLst/>
          </a:prstGeom>
          <a:noFill/>
        </p:spPr>
        <p:txBody>
          <a:bodyPr wrap="square" lIns="0" rIns="0" tIns="0" bIns="0" anchor="t">
            <a:spAutoFit/>
          </a:bodyPr>
          <a:lstStyle/>
          <a:p>
            <a:pPr algn="l">
              <a:lnSpc>
                <a:spcPct val="115000"/>
              </a:lnSpc>
            </a:pPr>
            <a:r>
              <a:rPr sz="1250" b="0" i="0">
                <a:solidFill>
                  <a:srgbClr val="065F46"/>
                </a:solidFill>
                <a:latin typeface="Calibri"/>
              </a:rPr>
              <a:t>All twelve project objectives are met. Six further objectives — templates, multi-course support, revision tooling, data isolation and automated validation — are listed in the synopsis.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ONE APPLICATION, ONE STRUCTURE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Proposed Solution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6</a:t>
            </a:r>
          </a:p>
        </p:txBody>
      </p:sp>
      <p:sp>
        <p:nvSpPr>
          <p:cNvPr id="8" name="Rounded Rectangle 7"/>
          <p:cNvSpPr/>
          <p:nvPr/>
        </p:nvSpPr>
        <p:spPr>
          <a:xfrm>
            <a:off x="3703320" y="2688336"/>
            <a:ext cx="2286000" cy="841248"/>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SYLLABUS</a:t>
            </a:r>
          </a:p>
          <a:p>
            <a:pPr algn="ctr">
              <a:spcBef>
                <a:spcPts val="200"/>
              </a:spcBef>
            </a:pPr>
            <a:r>
              <a:rPr sz="900">
                <a:solidFill>
                  <a:srgbClr val="FFFFFF"/>
                </a:solidFill>
                <a:latin typeface="Calibri"/>
              </a:rPr>
              <a:t>Subject → Chapter → Topic</a:t>
            </a:r>
          </a:p>
        </p:txBody>
      </p:sp>
      <p:sp>
        <p:nvSpPr>
          <p:cNvPr id="9" name="Rounded Rectangle 8"/>
          <p:cNvSpPr/>
          <p:nvPr/>
        </p:nvSpPr>
        <p:spPr>
          <a:xfrm>
            <a:off x="566928" y="1389888"/>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13232" y="1572768"/>
            <a:ext cx="45720" cy="42062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536192"/>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Progress</a:t>
            </a:r>
          </a:p>
        </p:txBody>
      </p:sp>
      <p:sp>
        <p:nvSpPr>
          <p:cNvPr id="12" name="TextBox 11"/>
          <p:cNvSpPr txBox="1"/>
          <p:nvPr/>
        </p:nvSpPr>
        <p:spPr>
          <a:xfrm>
            <a:off x="877824" y="1810512"/>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topic-weighted</a:t>
            </a:r>
          </a:p>
        </p:txBody>
      </p:sp>
      <p:sp>
        <p:nvSpPr>
          <p:cNvPr id="13" name="Right Arrow 12"/>
          <p:cNvSpPr/>
          <p:nvPr/>
        </p:nvSpPr>
        <p:spPr>
          <a:xfrm>
            <a:off x="3035808" y="1719072"/>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322576"/>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713232" y="2505456"/>
            <a:ext cx="45720" cy="42062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2468880"/>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Sessions</a:t>
            </a:r>
          </a:p>
        </p:txBody>
      </p:sp>
      <p:sp>
        <p:nvSpPr>
          <p:cNvPr id="17" name="TextBox 16"/>
          <p:cNvSpPr txBox="1"/>
          <p:nvPr/>
        </p:nvSpPr>
        <p:spPr>
          <a:xfrm>
            <a:off x="877824" y="2743200"/>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3 timer modes</a:t>
            </a:r>
          </a:p>
        </p:txBody>
      </p:sp>
      <p:sp>
        <p:nvSpPr>
          <p:cNvPr id="18" name="Right Arrow 17"/>
          <p:cNvSpPr/>
          <p:nvPr/>
        </p:nvSpPr>
        <p:spPr>
          <a:xfrm>
            <a:off x="3035808" y="2651760"/>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3255264"/>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713232" y="3438144"/>
            <a:ext cx="45720" cy="42062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3401568"/>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Flashcards</a:t>
            </a:r>
          </a:p>
        </p:txBody>
      </p:sp>
      <p:sp>
        <p:nvSpPr>
          <p:cNvPr id="22" name="TextBox 21"/>
          <p:cNvSpPr txBox="1"/>
          <p:nvPr/>
        </p:nvSpPr>
        <p:spPr>
          <a:xfrm>
            <a:off x="877824" y="3675888"/>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scheduled review</a:t>
            </a:r>
          </a:p>
        </p:txBody>
      </p:sp>
      <p:sp>
        <p:nvSpPr>
          <p:cNvPr id="23" name="Right Arrow 22"/>
          <p:cNvSpPr/>
          <p:nvPr/>
        </p:nvSpPr>
        <p:spPr>
          <a:xfrm>
            <a:off x="3035808" y="3584448"/>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19088" y="1389888"/>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65392" y="1572768"/>
            <a:ext cx="45720" cy="42062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9983" y="1536192"/>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Notes</a:t>
            </a:r>
          </a:p>
        </p:txBody>
      </p:sp>
      <p:sp>
        <p:nvSpPr>
          <p:cNvPr id="27" name="TextBox 26"/>
          <p:cNvSpPr txBox="1"/>
          <p:nvPr/>
        </p:nvSpPr>
        <p:spPr>
          <a:xfrm>
            <a:off x="6729983" y="1810512"/>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per topic</a:t>
            </a:r>
          </a:p>
        </p:txBody>
      </p:sp>
      <p:sp>
        <p:nvSpPr>
          <p:cNvPr id="28" name="Left Arrow 27"/>
          <p:cNvSpPr/>
          <p:nvPr/>
        </p:nvSpPr>
        <p:spPr>
          <a:xfrm>
            <a:off x="6035040" y="1719072"/>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419088" y="2322576"/>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565392" y="2505456"/>
            <a:ext cx="45720" cy="42062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983" y="2468880"/>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Reminders</a:t>
            </a:r>
          </a:p>
        </p:txBody>
      </p:sp>
      <p:sp>
        <p:nvSpPr>
          <p:cNvPr id="32" name="TextBox 31"/>
          <p:cNvSpPr txBox="1"/>
          <p:nvPr/>
        </p:nvSpPr>
        <p:spPr>
          <a:xfrm>
            <a:off x="6729983" y="2743200"/>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student-set only</a:t>
            </a:r>
          </a:p>
        </p:txBody>
      </p:sp>
      <p:sp>
        <p:nvSpPr>
          <p:cNvPr id="33" name="Left Arrow 32"/>
          <p:cNvSpPr/>
          <p:nvPr/>
        </p:nvSpPr>
        <p:spPr>
          <a:xfrm>
            <a:off x="6035040" y="2651760"/>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19088" y="3255264"/>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565392" y="3438144"/>
            <a:ext cx="45720" cy="42062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29983" y="3401568"/>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AI Assistant</a:t>
            </a:r>
          </a:p>
        </p:txBody>
      </p:sp>
      <p:sp>
        <p:nvSpPr>
          <p:cNvPr id="37" name="TextBox 36"/>
          <p:cNvSpPr txBox="1"/>
          <p:nvPr/>
        </p:nvSpPr>
        <p:spPr>
          <a:xfrm>
            <a:off x="6729983" y="3675888"/>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explain · quiz</a:t>
            </a:r>
          </a:p>
        </p:txBody>
      </p:sp>
      <p:sp>
        <p:nvSpPr>
          <p:cNvPr id="38" name="Left Arrow 37"/>
          <p:cNvSpPr/>
          <p:nvPr/>
        </p:nvSpPr>
        <p:spPr>
          <a:xfrm>
            <a:off x="6035040" y="3584448"/>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8368"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41247" y="4681728"/>
            <a:ext cx="100584" cy="1005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Local database is the source of truth</a:t>
            </a:r>
          </a:p>
        </p:txBody>
      </p:sp>
      <p:sp>
        <p:nvSpPr>
          <p:cNvPr id="42" name="Rounded Rectangle 41"/>
          <p:cNvSpPr/>
          <p:nvPr/>
        </p:nvSpPr>
        <p:spPr>
          <a:xfrm>
            <a:off x="342282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3605707" y="4681728"/>
            <a:ext cx="100584" cy="100584"/>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0687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Progress computed in exactly one place</a:t>
            </a:r>
          </a:p>
        </p:txBody>
      </p:sp>
      <p:sp>
        <p:nvSpPr>
          <p:cNvPr id="45" name="Rounded Rectangle 44"/>
          <p:cNvSpPr/>
          <p:nvPr/>
        </p:nvSpPr>
        <p:spPr>
          <a:xfrm>
            <a:off x="618728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6370167" y="4681728"/>
            <a:ext cx="100584" cy="100584"/>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7133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AI may propose, never apply</a:t>
            </a:r>
          </a:p>
        </p:txBody>
      </p:sp>
      <p:sp>
        <p:nvSpPr>
          <p:cNvPr id="48" name="Rounded Rectangle 47"/>
          <p:cNvSpPr/>
          <p:nvPr/>
        </p:nvSpPr>
        <p:spPr>
          <a:xfrm>
            <a:off x="895174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134627" y="4681728"/>
            <a:ext cx="100584" cy="100584"/>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3579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Secrets never reach the device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HOW THE SYSTEM ACTUALLY WORKS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Methodology and Working Flow</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7</a:t>
            </a:r>
          </a:p>
        </p:txBody>
      </p:sp>
      <p:sp>
        <p:nvSpPr>
          <p:cNvPr id="8" name="Rounded Rectangle 7"/>
          <p:cNvSpPr/>
          <p:nvPr/>
        </p:nvSpPr>
        <p:spPr>
          <a:xfrm>
            <a:off x="658368" y="1389888"/>
            <a:ext cx="1926275" cy="9144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Sign in</a:t>
            </a:r>
          </a:p>
          <a:p>
            <a:pPr algn="ctr">
              <a:spcBef>
                <a:spcPts val="200"/>
              </a:spcBef>
            </a:pPr>
            <a:r>
              <a:rPr sz="850">
                <a:solidFill>
                  <a:srgbClr val="FFFFFF"/>
                </a:solidFill>
                <a:latin typeface="Calibri"/>
              </a:rPr>
              <a:t>email · Google · guest</a:t>
            </a:r>
          </a:p>
        </p:txBody>
      </p:sp>
      <p:sp>
        <p:nvSpPr>
          <p:cNvPr id="9" name="Right Arrow 8"/>
          <p:cNvSpPr/>
          <p:nvPr/>
        </p:nvSpPr>
        <p:spPr>
          <a:xfrm>
            <a:off x="2639507"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95539" y="1389888"/>
            <a:ext cx="1926275" cy="9144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Set up syllabus</a:t>
            </a:r>
          </a:p>
          <a:p>
            <a:pPr algn="ctr">
              <a:spcBef>
                <a:spcPts val="200"/>
              </a:spcBef>
            </a:pPr>
            <a:r>
              <a:rPr sz="850">
                <a:solidFill>
                  <a:srgbClr val="FFFFFF"/>
                </a:solidFill>
                <a:latin typeface="Calibri"/>
              </a:rPr>
              <a:t>import a template or add manually</a:t>
            </a:r>
          </a:p>
        </p:txBody>
      </p:sp>
      <p:sp>
        <p:nvSpPr>
          <p:cNvPr id="11" name="Right Arrow 10"/>
          <p:cNvSpPr/>
          <p:nvPr/>
        </p:nvSpPr>
        <p:spPr>
          <a:xfrm>
            <a:off x="4876678"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32710" y="1389888"/>
            <a:ext cx="1926275" cy="9144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Study</a:t>
            </a:r>
          </a:p>
          <a:p>
            <a:pPr algn="ctr">
              <a:spcBef>
                <a:spcPts val="200"/>
              </a:spcBef>
            </a:pPr>
            <a:r>
              <a:rPr sz="850">
                <a:solidFill>
                  <a:srgbClr val="FFFFFF"/>
                </a:solidFill>
                <a:latin typeface="Calibri"/>
              </a:rPr>
              <a:t>tick topics · run a timer · review cards</a:t>
            </a:r>
          </a:p>
        </p:txBody>
      </p:sp>
      <p:sp>
        <p:nvSpPr>
          <p:cNvPr id="13" name="Right Arrow 12"/>
          <p:cNvSpPr/>
          <p:nvPr/>
        </p:nvSpPr>
        <p:spPr>
          <a:xfrm>
            <a:off x="7113849"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69881" y="1389888"/>
            <a:ext cx="1926275" cy="9144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Write locally</a:t>
            </a:r>
          </a:p>
          <a:p>
            <a:pPr algn="ctr">
              <a:spcBef>
                <a:spcPts val="200"/>
              </a:spcBef>
            </a:pPr>
            <a:r>
              <a:rPr sz="850">
                <a:solidFill>
                  <a:srgbClr val="FFFFFF"/>
                </a:solidFill>
                <a:latin typeface="Calibri"/>
              </a:rPr>
              <a:t>SQLite, syncStatus = pending</a:t>
            </a:r>
          </a:p>
        </p:txBody>
      </p:sp>
      <p:sp>
        <p:nvSpPr>
          <p:cNvPr id="15" name="Right Arrow 14"/>
          <p:cNvSpPr/>
          <p:nvPr/>
        </p:nvSpPr>
        <p:spPr>
          <a:xfrm>
            <a:off x="9351020"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607052" y="1389888"/>
            <a:ext cx="1926275" cy="914400"/>
          </a:xfrm>
          <a:prstGeom prst="roundRect">
            <a:avLst>
              <a:gd name="adj" fmla="val 10000"/>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Sync when online</a:t>
            </a:r>
          </a:p>
          <a:p>
            <a:pPr algn="ctr">
              <a:spcBef>
                <a:spcPts val="200"/>
              </a:spcBef>
            </a:pPr>
            <a:r>
              <a:rPr sz="850">
                <a:solidFill>
                  <a:srgbClr val="FFFFFF"/>
                </a:solidFill>
                <a:latin typeface="Calibri"/>
              </a:rPr>
              <a:t>pull → merge → push</a:t>
            </a:r>
          </a:p>
        </p:txBody>
      </p:sp>
      <p:sp>
        <p:nvSpPr>
          <p:cNvPr id="17" name="Rounded Rectangle 16"/>
          <p:cNvSpPr/>
          <p:nvPr/>
        </p:nvSpPr>
        <p:spPr>
          <a:xfrm>
            <a:off x="658368" y="2596896"/>
            <a:ext cx="5577840" cy="1225296"/>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4400" y="2761488"/>
            <a:ext cx="5029200" cy="237744"/>
          </a:xfrm>
          <a:prstGeom prst="rect">
            <a:avLst/>
          </a:prstGeom>
          <a:noFill/>
        </p:spPr>
        <p:txBody>
          <a:bodyPr wrap="square" lIns="0" rIns="0" tIns="0" bIns="0" anchor="t">
            <a:spAutoFit/>
          </a:bodyPr>
          <a:lstStyle/>
          <a:p>
            <a:pPr algn="l">
              <a:lnSpc>
                <a:spcPct val="100000"/>
              </a:lnSpc>
            </a:pPr>
            <a:r>
              <a:rPr sz="950" b="1" i="0">
                <a:solidFill>
                  <a:srgbClr val="78350F"/>
                </a:solidFill>
                <a:latin typeface="Calibri"/>
              </a:rPr>
              <a:t>THE CRITICAL PROPERTY</a:t>
            </a:r>
          </a:p>
        </p:txBody>
      </p:sp>
      <p:sp>
        <p:nvSpPr>
          <p:cNvPr id="19" name="TextBox 18"/>
          <p:cNvSpPr txBox="1"/>
          <p:nvPr/>
        </p:nvSpPr>
        <p:spPr>
          <a:xfrm>
            <a:off x="914400" y="3072384"/>
            <a:ext cx="5029200" cy="603504"/>
          </a:xfrm>
          <a:prstGeom prst="rect">
            <a:avLst/>
          </a:prstGeom>
          <a:noFill/>
        </p:spPr>
        <p:txBody>
          <a:bodyPr wrap="square" lIns="0" rIns="0" tIns="0" bIns="0" anchor="t">
            <a:spAutoFit/>
          </a:bodyPr>
          <a:lstStyle/>
          <a:p>
            <a:pPr algn="l">
              <a:lnSpc>
                <a:spcPct val="120000"/>
              </a:lnSpc>
            </a:pPr>
            <a:r>
              <a:rPr sz="1200" b="0" i="0">
                <a:solidFill>
                  <a:srgbClr val="78350F"/>
                </a:solidFill>
                <a:latin typeface="Calibri"/>
              </a:rPr>
              <a:t>The local write completes regardless of network state. Synchronisation is a separate, later concern — so no student action ever waits on connectivity.</a:t>
            </a:r>
          </a:p>
        </p:txBody>
      </p:sp>
      <p:sp>
        <p:nvSpPr>
          <p:cNvPr id="20" name="Rounded Rectangle 19"/>
          <p:cNvSpPr/>
          <p:nvPr/>
        </p:nvSpPr>
        <p:spPr>
          <a:xfrm>
            <a:off x="6473952" y="2596896"/>
            <a:ext cx="5059375" cy="1225296"/>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29984" y="2761488"/>
            <a:ext cx="45720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DEVELOPMENT METHODOLOGY</a:t>
            </a:r>
          </a:p>
        </p:txBody>
      </p:sp>
      <p:sp>
        <p:nvSpPr>
          <p:cNvPr id="22" name="TextBox 21"/>
          <p:cNvSpPr txBox="1"/>
          <p:nvPr/>
        </p:nvSpPr>
        <p:spPr>
          <a:xfrm>
            <a:off x="6729984" y="3072384"/>
            <a:ext cx="4572000" cy="603504"/>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Incremental and decision-logged: every architectural choice is recorded in DECISIONS.md with its reasoning and alternatives. CI gates every change.</a:t>
            </a:r>
          </a:p>
        </p:txBody>
      </p:sp>
      <p:sp>
        <p:nvSpPr>
          <p:cNvPr id="23" name="TextBox 22"/>
          <p:cNvSpPr txBox="1"/>
          <p:nvPr/>
        </p:nvSpPr>
        <p:spPr>
          <a:xfrm>
            <a:off x="658368" y="4023360"/>
            <a:ext cx="10874959" cy="274320"/>
          </a:xfrm>
          <a:prstGeom prst="rect">
            <a:avLst/>
          </a:prstGeom>
          <a:noFill/>
        </p:spPr>
        <p:txBody>
          <a:bodyPr wrap="square" lIns="0" rIns="0" tIns="0" bIns="0" anchor="t">
            <a:spAutoFit/>
          </a:bodyPr>
          <a:lstStyle/>
          <a:p>
            <a:pPr algn="l">
              <a:lnSpc>
                <a:spcPct val="100000"/>
              </a:lnSpc>
            </a:pPr>
            <a:r>
              <a:rPr sz="950" b="1" i="0">
                <a:solidFill>
                  <a:srgbClr val="A855F7"/>
                </a:solidFill>
                <a:latin typeface="Calibri"/>
              </a:rPr>
              <a:t>WHEN THE AI IS ASKED TO CHANGE SOMETHING</a:t>
            </a:r>
          </a:p>
        </p:txBody>
      </p:sp>
      <p:sp>
        <p:nvSpPr>
          <p:cNvPr id="24" name="Rounded Rectangle 23"/>
          <p:cNvSpPr/>
          <p:nvPr/>
        </p:nvSpPr>
        <p:spPr>
          <a:xfrm>
            <a:off x="658368"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Reply parsed</a:t>
            </a:r>
          </a:p>
        </p:txBody>
      </p:sp>
      <p:sp>
        <p:nvSpPr>
          <p:cNvPr id="25" name="Rectangle 24"/>
          <p:cNvSpPr/>
          <p:nvPr/>
        </p:nvSpPr>
        <p:spPr>
          <a:xfrm>
            <a:off x="658368" y="4334256"/>
            <a:ext cx="1955535" cy="411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2668767"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888223"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Proposal shown</a:t>
            </a:r>
          </a:p>
        </p:txBody>
      </p:sp>
      <p:sp>
        <p:nvSpPr>
          <p:cNvPr id="28" name="Rectangle 27"/>
          <p:cNvSpPr/>
          <p:nvPr/>
        </p:nvSpPr>
        <p:spPr>
          <a:xfrm>
            <a:off x="2888223" y="4334256"/>
            <a:ext cx="1955535" cy="411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898623"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118079"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Student confirms</a:t>
            </a:r>
          </a:p>
        </p:txBody>
      </p:sp>
      <p:sp>
        <p:nvSpPr>
          <p:cNvPr id="31" name="Rectangle 30"/>
          <p:cNvSpPr/>
          <p:nvPr/>
        </p:nvSpPr>
        <p:spPr>
          <a:xfrm>
            <a:off x="5118079" y="4334256"/>
            <a:ext cx="1955535" cy="411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7128479"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47935"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Applied to syllabus</a:t>
            </a:r>
          </a:p>
        </p:txBody>
      </p:sp>
      <p:sp>
        <p:nvSpPr>
          <p:cNvPr id="34" name="Rectangle 33"/>
          <p:cNvSpPr/>
          <p:nvPr/>
        </p:nvSpPr>
        <p:spPr>
          <a:xfrm>
            <a:off x="7347935" y="4334256"/>
            <a:ext cx="1955535"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9358335"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577791"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Progress recomputed</a:t>
            </a:r>
          </a:p>
        </p:txBody>
      </p:sp>
      <p:sp>
        <p:nvSpPr>
          <p:cNvPr id="37" name="Rectangle 36"/>
          <p:cNvSpPr/>
          <p:nvPr/>
        </p:nvSpPr>
        <p:spPr>
          <a:xfrm>
            <a:off x="9577791" y="4334256"/>
            <a:ext cx="1955535" cy="411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HOW THE HIERARCHY IS COUNTED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Syllabus Structure and Progress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8</a:t>
            </a:r>
          </a:p>
        </p:txBody>
      </p:sp>
      <p:sp>
        <p:nvSpPr>
          <p:cNvPr id="8" name="Rounded Rectangle 7"/>
          <p:cNvSpPr/>
          <p:nvPr/>
        </p:nvSpPr>
        <p:spPr>
          <a:xfrm>
            <a:off x="658368" y="1389888"/>
            <a:ext cx="3931920"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86384" y="1508760"/>
            <a:ext cx="45720"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481328"/>
            <a:ext cx="1371600" cy="219456"/>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SUBJECT</a:t>
            </a:r>
          </a:p>
        </p:txBody>
      </p:sp>
      <p:sp>
        <p:nvSpPr>
          <p:cNvPr id="11" name="TextBox 10"/>
          <p:cNvSpPr txBox="1"/>
          <p:nvPr/>
        </p:nvSpPr>
        <p:spPr>
          <a:xfrm>
            <a:off x="932688" y="1664208"/>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Mathematics</a:t>
            </a:r>
          </a:p>
        </p:txBody>
      </p:sp>
      <p:sp>
        <p:nvSpPr>
          <p:cNvPr id="12" name="Down Arrow 11"/>
          <p:cNvSpPr/>
          <p:nvPr/>
        </p:nvSpPr>
        <p:spPr>
          <a:xfrm>
            <a:off x="932688" y="1956816"/>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60704" y="2103120"/>
            <a:ext cx="3529584"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188719" y="2221991"/>
            <a:ext cx="45720" cy="310896"/>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35024" y="2194560"/>
            <a:ext cx="1371600" cy="219456"/>
          </a:xfrm>
          <a:prstGeom prst="rect">
            <a:avLst/>
          </a:prstGeom>
          <a:noFill/>
        </p:spPr>
        <p:txBody>
          <a:bodyPr wrap="square" lIns="0" rIns="0" tIns="0" bIns="0" anchor="t">
            <a:spAutoFit/>
          </a:bodyPr>
          <a:lstStyle/>
          <a:p>
            <a:pPr algn="l">
              <a:lnSpc>
                <a:spcPct val="100000"/>
              </a:lnSpc>
            </a:pPr>
            <a:r>
              <a:rPr sz="950" b="1" i="0">
                <a:solidFill>
                  <a:srgbClr val="A855F7"/>
                </a:solidFill>
                <a:latin typeface="Calibri"/>
              </a:rPr>
              <a:t>CHAPTER</a:t>
            </a:r>
          </a:p>
        </p:txBody>
      </p:sp>
      <p:sp>
        <p:nvSpPr>
          <p:cNvPr id="16" name="TextBox 15"/>
          <p:cNvSpPr txBox="1"/>
          <p:nvPr/>
        </p:nvSpPr>
        <p:spPr>
          <a:xfrm>
            <a:off x="1335024" y="2377439"/>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Trigonometry</a:t>
            </a:r>
          </a:p>
        </p:txBody>
      </p:sp>
      <p:sp>
        <p:nvSpPr>
          <p:cNvPr id="17" name="Down Arrow 16"/>
          <p:cNvSpPr/>
          <p:nvPr/>
        </p:nvSpPr>
        <p:spPr>
          <a:xfrm>
            <a:off x="1335024" y="2670048"/>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63040" y="2816352"/>
            <a:ext cx="3127248"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591056" y="2935224"/>
            <a:ext cx="45720"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37360" y="2907792"/>
            <a:ext cx="1371600" cy="219456"/>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TOPIC</a:t>
            </a:r>
          </a:p>
        </p:txBody>
      </p:sp>
      <p:sp>
        <p:nvSpPr>
          <p:cNvPr id="21" name="TextBox 20"/>
          <p:cNvSpPr txBox="1"/>
          <p:nvPr/>
        </p:nvSpPr>
        <p:spPr>
          <a:xfrm>
            <a:off x="1737360" y="3090672"/>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Identities</a:t>
            </a:r>
          </a:p>
        </p:txBody>
      </p:sp>
      <p:sp>
        <p:nvSpPr>
          <p:cNvPr id="22" name="Down Arrow 21"/>
          <p:cNvSpPr/>
          <p:nvPr/>
        </p:nvSpPr>
        <p:spPr>
          <a:xfrm>
            <a:off x="1737360" y="3383280"/>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865376" y="3529584"/>
            <a:ext cx="2724911"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993392" y="3648456"/>
            <a:ext cx="45720"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39696" y="3621024"/>
            <a:ext cx="1371600" cy="219456"/>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SUB-TOPIC</a:t>
            </a:r>
          </a:p>
        </p:txBody>
      </p:sp>
      <p:sp>
        <p:nvSpPr>
          <p:cNvPr id="26" name="TextBox 25"/>
          <p:cNvSpPr txBox="1"/>
          <p:nvPr/>
        </p:nvSpPr>
        <p:spPr>
          <a:xfrm>
            <a:off x="2139696" y="3803904"/>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optional fourth level</a:t>
            </a:r>
          </a:p>
        </p:txBody>
      </p:sp>
      <p:sp>
        <p:nvSpPr>
          <p:cNvPr id="27" name="Rounded Rectangle 26"/>
          <p:cNvSpPr/>
          <p:nvPr/>
        </p:nvSpPr>
        <p:spPr>
          <a:xfrm>
            <a:off x="4892040" y="1389888"/>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5093207" y="160934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76088" y="1563624"/>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Topic-weighted</a:t>
            </a:r>
          </a:p>
        </p:txBody>
      </p:sp>
      <p:sp>
        <p:nvSpPr>
          <p:cNvPr id="30" name="TextBox 29"/>
          <p:cNvSpPr txBox="1"/>
          <p:nvPr/>
        </p:nvSpPr>
        <p:spPr>
          <a:xfrm>
            <a:off x="5111496" y="1956816"/>
            <a:ext cx="6202375" cy="54863"/>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Subject progress is all completed units ÷ all units — never the mean of chapter percentages.</a:t>
            </a:r>
          </a:p>
        </p:txBody>
      </p:sp>
      <p:sp>
        <p:nvSpPr>
          <p:cNvPr id="31" name="Rounded Rectangle 30"/>
          <p:cNvSpPr/>
          <p:nvPr/>
        </p:nvSpPr>
        <p:spPr>
          <a:xfrm>
            <a:off x="4892040" y="2286000"/>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5093207" y="2505456"/>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76088" y="2459736"/>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Empty is not zero</a:t>
            </a:r>
          </a:p>
        </p:txBody>
      </p:sp>
      <p:sp>
        <p:nvSpPr>
          <p:cNvPr id="34" name="TextBox 33"/>
          <p:cNvSpPr txBox="1"/>
          <p:nvPr/>
        </p:nvSpPr>
        <p:spPr>
          <a:xfrm>
            <a:off x="5111496" y="2852928"/>
            <a:ext cx="6202375" cy="54863"/>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chapter with no topics reports “—”, not 0%. It is unmeasured, not unstarted.</a:t>
            </a:r>
          </a:p>
        </p:txBody>
      </p:sp>
      <p:sp>
        <p:nvSpPr>
          <p:cNvPr id="35" name="Rounded Rectangle 34"/>
          <p:cNvSpPr/>
          <p:nvPr/>
        </p:nvSpPr>
        <p:spPr>
          <a:xfrm>
            <a:off x="4892040" y="3182112"/>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5093207" y="340156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76088" y="3355848"/>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Sub-topics become the unit</a:t>
            </a:r>
          </a:p>
        </p:txBody>
      </p:sp>
      <p:sp>
        <p:nvSpPr>
          <p:cNvPr id="38" name="TextBox 37"/>
          <p:cNvSpPr txBox="1"/>
          <p:nvPr/>
        </p:nvSpPr>
        <p:spPr>
          <a:xfrm>
            <a:off x="5111496" y="3749039"/>
            <a:ext cx="6202375" cy="54863"/>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topic split into four parts weighs four times one that is not — it is four times the work.</a:t>
            </a:r>
          </a:p>
        </p:txBody>
      </p:sp>
      <p:sp>
        <p:nvSpPr>
          <p:cNvPr id="39" name="Rounded Rectangle 38"/>
          <p:cNvSpPr/>
          <p:nvPr/>
        </p:nvSpPr>
        <p:spPr>
          <a:xfrm>
            <a:off x="4892040" y="4078224"/>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093207" y="4297680"/>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76088" y="4251960"/>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Rounding is honest</a:t>
            </a:r>
          </a:p>
        </p:txBody>
      </p:sp>
      <p:sp>
        <p:nvSpPr>
          <p:cNvPr id="42" name="TextBox 41"/>
          <p:cNvSpPr txBox="1"/>
          <p:nvPr/>
        </p:nvSpPr>
        <p:spPr>
          <a:xfrm>
            <a:off x="5111496" y="4645152"/>
            <a:ext cx="6202375" cy="54863"/>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9,999 of 10,000 topics displays as 99%, never a falsely triumphant 100%.</a:t>
            </a:r>
          </a:p>
        </p:txBody>
      </p:sp>
      <p:sp>
        <p:nvSpPr>
          <p:cNvPr id="43" name="TextBox 42"/>
          <p:cNvSpPr txBox="1"/>
          <p:nvPr/>
        </p:nvSpPr>
        <p:spPr>
          <a:xfrm>
            <a:off x="658368" y="5065775"/>
            <a:ext cx="3931920" cy="548640"/>
          </a:xfrm>
          <a:prstGeom prst="rect">
            <a:avLst/>
          </a:prstGeom>
          <a:noFill/>
        </p:spPr>
        <p:txBody>
          <a:bodyPr wrap="square" lIns="0" rIns="0" tIns="0" bIns="0" anchor="t">
            <a:spAutoFit/>
          </a:bodyPr>
          <a:lstStyle/>
          <a:p>
            <a:pPr algn="l">
              <a:lnSpc>
                <a:spcPct val="120000"/>
              </a:lnSpc>
            </a:pPr>
            <a:r>
              <a:rPr sz="1100" b="0" i="1">
                <a:solidFill>
                  <a:srgbClr val="6B7684"/>
                </a:solidFill>
                <a:latin typeface="Calibri"/>
              </a:rPr>
              <a:t>All five figures — topic, chapter, subject, overall and dashboard — are derived from a single traversal, so they cannot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RECORDING TIME THAT ACTUALLY HAPPENED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Study Timers and Sessions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9</a:t>
            </a:r>
          </a:p>
        </p:txBody>
      </p:sp>
      <p:sp>
        <p:nvSpPr>
          <p:cNvPr id="8" name="Rounded Rectangle 7"/>
          <p:cNvSpPr/>
          <p:nvPr/>
        </p:nvSpPr>
        <p:spPr>
          <a:xfrm>
            <a:off x="658368"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554480"/>
            <a:ext cx="1755648" cy="274320"/>
          </a:xfrm>
          <a:prstGeom prst="rect">
            <a:avLst/>
          </a:prstGeom>
          <a:noFill/>
        </p:spPr>
        <p:txBody>
          <a:bodyPr wrap="square" lIns="0" rIns="0" tIns="0" bIns="0" anchor="t">
            <a:spAutoFit/>
          </a:bodyPr>
          <a:lstStyle/>
          <a:p>
            <a:pPr algn="l">
              <a:lnSpc>
                <a:spcPct val="100000"/>
              </a:lnSpc>
            </a:pPr>
            <a:r>
              <a:rPr sz="1400" b="1" i="0">
                <a:solidFill>
                  <a:srgbClr val="3B82F6"/>
                </a:solidFill>
                <a:latin typeface="Calibri"/>
              </a:rPr>
              <a:t>Stopwatch</a:t>
            </a:r>
          </a:p>
        </p:txBody>
      </p:sp>
      <p:sp>
        <p:nvSpPr>
          <p:cNvPr id="10" name="TextBox 9"/>
          <p:cNvSpPr txBox="1"/>
          <p:nvPr/>
        </p:nvSpPr>
        <p:spPr>
          <a:xfrm>
            <a:off x="877824"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Counts up, no limit</a:t>
            </a:r>
          </a:p>
        </p:txBody>
      </p:sp>
      <p:sp>
        <p:nvSpPr>
          <p:cNvPr id="11" name="Rounded Rectangle 10"/>
          <p:cNvSpPr/>
          <p:nvPr/>
        </p:nvSpPr>
        <p:spPr>
          <a:xfrm>
            <a:off x="2980944"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200400" y="1554480"/>
            <a:ext cx="1755648" cy="274320"/>
          </a:xfrm>
          <a:prstGeom prst="rect">
            <a:avLst/>
          </a:prstGeom>
          <a:noFill/>
        </p:spPr>
        <p:txBody>
          <a:bodyPr wrap="square" lIns="0" rIns="0" tIns="0" bIns="0" anchor="t">
            <a:spAutoFit/>
          </a:bodyPr>
          <a:lstStyle/>
          <a:p>
            <a:pPr algn="l">
              <a:lnSpc>
                <a:spcPct val="100000"/>
              </a:lnSpc>
            </a:pPr>
            <a:r>
              <a:rPr sz="1400" b="1" i="0">
                <a:solidFill>
                  <a:srgbClr val="A855F7"/>
                </a:solidFill>
                <a:latin typeface="Calibri"/>
              </a:rPr>
              <a:t>Pomodoro</a:t>
            </a:r>
          </a:p>
        </p:txBody>
      </p:sp>
      <p:sp>
        <p:nvSpPr>
          <p:cNvPr id="13" name="TextBox 12"/>
          <p:cNvSpPr txBox="1"/>
          <p:nvPr/>
        </p:nvSpPr>
        <p:spPr>
          <a:xfrm>
            <a:off x="3200400"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25 / 5 / 15, configurable</a:t>
            </a:r>
          </a:p>
        </p:txBody>
      </p:sp>
      <p:sp>
        <p:nvSpPr>
          <p:cNvPr id="14" name="Rounded Rectangle 13"/>
          <p:cNvSpPr/>
          <p:nvPr/>
        </p:nvSpPr>
        <p:spPr>
          <a:xfrm>
            <a:off x="5303520"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22976" y="1554480"/>
            <a:ext cx="1755648" cy="274320"/>
          </a:xfrm>
          <a:prstGeom prst="rect">
            <a:avLst/>
          </a:prstGeom>
          <a:noFill/>
        </p:spPr>
        <p:txBody>
          <a:bodyPr wrap="square" lIns="0" rIns="0" tIns="0" bIns="0" anchor="t">
            <a:spAutoFit/>
          </a:bodyPr>
          <a:lstStyle/>
          <a:p>
            <a:pPr algn="l">
              <a:lnSpc>
                <a:spcPct val="100000"/>
              </a:lnSpc>
            </a:pPr>
            <a:r>
              <a:rPr sz="1400" b="1" i="0">
                <a:solidFill>
                  <a:srgbClr val="10B981"/>
                </a:solidFill>
                <a:latin typeface="Calibri"/>
              </a:rPr>
              <a:t>Custom</a:t>
            </a:r>
          </a:p>
        </p:txBody>
      </p:sp>
      <p:sp>
        <p:nvSpPr>
          <p:cNvPr id="16" name="TextBox 15"/>
          <p:cNvSpPr txBox="1"/>
          <p:nvPr/>
        </p:nvSpPr>
        <p:spPr>
          <a:xfrm>
            <a:off x="5522976"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Any countdown, 1–480 min</a:t>
            </a:r>
          </a:p>
        </p:txBody>
      </p:sp>
      <p:sp>
        <p:nvSpPr>
          <p:cNvPr id="17" name="Rounded Rectangle 16"/>
          <p:cNvSpPr/>
          <p:nvPr/>
        </p:nvSpPr>
        <p:spPr>
          <a:xfrm>
            <a:off x="658368" y="2505456"/>
            <a:ext cx="6766560" cy="133502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2724912"/>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2679192"/>
            <a:ext cx="619963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Elapsed time is derived, never accumulated</a:t>
            </a:r>
          </a:p>
        </p:txBody>
      </p:sp>
      <p:sp>
        <p:nvSpPr>
          <p:cNvPr id="20" name="TextBox 19"/>
          <p:cNvSpPr txBox="1"/>
          <p:nvPr/>
        </p:nvSpPr>
        <p:spPr>
          <a:xfrm>
            <a:off x="877824" y="3072384"/>
            <a:ext cx="6327648" cy="603503"/>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Time is computed from timestamps — now − startedAt + banked — not by a counter ticking each second.</a:t>
            </a:r>
          </a:p>
          <a:p>
            <a:pPr>
              <a:lnSpc>
                <a:spcPct val="118000"/>
              </a:lnSpc>
              <a:spcAft>
                <a:spcPts val="400"/>
              </a:spcAft>
            </a:pPr>
            <a:r>
              <a:rPr sz="1100" b="0">
                <a:solidFill>
                  <a:srgbClr val="4A5568"/>
                </a:solidFill>
                <a:latin typeface="Calibri"/>
              </a:rPr>
              <a:t>Android suspends background processes. A ticking counter stops when the screen locks and would silently under-report the session. Deriving from a start timestamp survives backgrounding and process death.</a:t>
            </a:r>
          </a:p>
        </p:txBody>
      </p:sp>
      <p:sp>
        <p:nvSpPr>
          <p:cNvPr id="21" name="Rounded Rectangle 20"/>
          <p:cNvSpPr/>
          <p:nvPr/>
        </p:nvSpPr>
        <p:spPr>
          <a:xfrm>
            <a:off x="658368" y="4023360"/>
            <a:ext cx="3273552" cy="12070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42816"/>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2415" y="4197096"/>
            <a:ext cx="2706624"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Breaks are not study time</a:t>
            </a:r>
          </a:p>
        </p:txBody>
      </p:sp>
      <p:sp>
        <p:nvSpPr>
          <p:cNvPr id="24" name="TextBox 23"/>
          <p:cNvSpPr txBox="1"/>
          <p:nvPr/>
        </p:nvSpPr>
        <p:spPr>
          <a:xfrm>
            <a:off x="877824" y="4590288"/>
            <a:ext cx="2834640" cy="475488"/>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Pomodoro break phases are excluded from recorded duration. Counting them would inflate “total time studied” and make the figure meaningless.</a:t>
            </a:r>
          </a:p>
        </p:txBody>
      </p:sp>
      <p:sp>
        <p:nvSpPr>
          <p:cNvPr id="25" name="Rounded Rectangle 24"/>
          <p:cNvSpPr/>
          <p:nvPr/>
        </p:nvSpPr>
        <p:spPr>
          <a:xfrm>
            <a:off x="4151376" y="4023360"/>
            <a:ext cx="3273552" cy="12070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352544" y="4242816"/>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35424" y="4197096"/>
            <a:ext cx="2706624"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Interrupted sessions survive</a:t>
            </a:r>
          </a:p>
        </p:txBody>
      </p:sp>
      <p:sp>
        <p:nvSpPr>
          <p:cNvPr id="28" name="TextBox 27"/>
          <p:cNvSpPr txBox="1"/>
          <p:nvPr/>
        </p:nvSpPr>
        <p:spPr>
          <a:xfrm>
            <a:off x="4370832" y="4590288"/>
            <a:ext cx="2834640" cy="475488"/>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session killed by the OS is recorded as “abandoned” with the last heartbeat's duration — a crash costs one interval, not the whole sitting.</a:t>
            </a:r>
          </a:p>
        </p:txBody>
      </p:sp>
      <p:pic>
        <p:nvPicPr>
          <p:cNvPr id="29" name="Picture 28" descr="timer.png"/>
          <p:cNvPicPr>
            <a:picLocks noChangeAspect="1"/>
          </p:cNvPicPr>
          <p:nvPr/>
        </p:nvPicPr>
        <p:blipFill>
          <a:blip r:embed="rId3"/>
          <a:stretch>
            <a:fillRect/>
          </a:stretch>
        </p:blipFill>
        <p:spPr>
          <a:xfrm>
            <a:off x="8138160" y="1316736"/>
            <a:ext cx="1943148" cy="44805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REVISION TOOLING BOUND TO THE SYLLABUS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Flashcards, Notes and Reminders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10</a:t>
            </a:r>
          </a:p>
        </p:txBody>
      </p:sp>
      <p:sp>
        <p:nvSpPr>
          <p:cNvPr id="8" name="Rounded Rectangle 7"/>
          <p:cNvSpPr/>
          <p:nvPr/>
        </p:nvSpPr>
        <p:spPr>
          <a:xfrm>
            <a:off x="658368"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59536" y="1609344"/>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Flashcards</a:t>
            </a:r>
          </a:p>
        </p:txBody>
      </p:sp>
      <p:sp>
        <p:nvSpPr>
          <p:cNvPr id="11" name="TextBox 10"/>
          <p:cNvSpPr txBox="1"/>
          <p:nvPr/>
        </p:nvSpPr>
        <p:spPr>
          <a:xfrm>
            <a:off x="877824"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Cards are written against a topic. After seeing the answer the student picks one of four fixed intervals.</a:t>
            </a:r>
          </a:p>
        </p:txBody>
      </p:sp>
      <p:sp>
        <p:nvSpPr>
          <p:cNvPr id="12" name="Rounded Rectangle 11"/>
          <p:cNvSpPr/>
          <p:nvPr/>
        </p:nvSpPr>
        <p:spPr>
          <a:xfrm>
            <a:off x="859536" y="2889504"/>
            <a:ext cx="749808" cy="402336"/>
          </a:xfrm>
          <a:prstGeom prst="roundRect">
            <a:avLst>
              <a:gd name="adj" fmla="val 1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5m</a:t>
            </a:r>
          </a:p>
        </p:txBody>
      </p:sp>
      <p:sp>
        <p:nvSpPr>
          <p:cNvPr id="13" name="Rounded Rectangle 12"/>
          <p:cNvSpPr/>
          <p:nvPr/>
        </p:nvSpPr>
        <p:spPr>
          <a:xfrm>
            <a:off x="1728216" y="2889504"/>
            <a:ext cx="749808" cy="402336"/>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1d</a:t>
            </a:r>
          </a:p>
        </p:txBody>
      </p:sp>
      <p:sp>
        <p:nvSpPr>
          <p:cNvPr id="14" name="Rounded Rectangle 13"/>
          <p:cNvSpPr/>
          <p:nvPr/>
        </p:nvSpPr>
        <p:spPr>
          <a:xfrm>
            <a:off x="2596896" y="2889504"/>
            <a:ext cx="749808" cy="402336"/>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2d</a:t>
            </a:r>
          </a:p>
        </p:txBody>
      </p:sp>
      <p:sp>
        <p:nvSpPr>
          <p:cNvPr id="15" name="Rounded Rectangle 14"/>
          <p:cNvSpPr/>
          <p:nvPr/>
        </p:nvSpPr>
        <p:spPr>
          <a:xfrm>
            <a:off x="3465575" y="2889504"/>
            <a:ext cx="749808" cy="402336"/>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4d</a:t>
            </a:r>
          </a:p>
        </p:txBody>
      </p:sp>
      <p:sp>
        <p:nvSpPr>
          <p:cNvPr id="16" name="Rounded Rectangle 15"/>
          <p:cNvSpPr/>
          <p:nvPr/>
        </p:nvSpPr>
        <p:spPr>
          <a:xfrm>
            <a:off x="4362602"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563770" y="1609344"/>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46650"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Notes</a:t>
            </a:r>
          </a:p>
        </p:txBody>
      </p:sp>
      <p:sp>
        <p:nvSpPr>
          <p:cNvPr id="19" name="TextBox 18"/>
          <p:cNvSpPr txBox="1"/>
          <p:nvPr/>
        </p:nvSpPr>
        <p:spPr>
          <a:xfrm>
            <a:off x="4582058"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Free-text notes on any topic or sub-topic, managed from one screen — so fixing a typo does not mean hunting through a collapsed syllabus.</a:t>
            </a:r>
          </a:p>
        </p:txBody>
      </p:sp>
      <p:sp>
        <p:nvSpPr>
          <p:cNvPr id="20" name="Rounded Rectangle 19"/>
          <p:cNvSpPr/>
          <p:nvPr/>
        </p:nvSpPr>
        <p:spPr>
          <a:xfrm>
            <a:off x="8066836"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268004" y="1609344"/>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50884"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Reminders</a:t>
            </a:r>
          </a:p>
        </p:txBody>
      </p:sp>
      <p:sp>
        <p:nvSpPr>
          <p:cNvPr id="23" name="TextBox 22"/>
          <p:cNvSpPr txBox="1"/>
          <p:nvPr/>
        </p:nvSpPr>
        <p:spPr>
          <a:xfrm>
            <a:off x="8286292"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Student-created only — PrepPilot never invents schedules. Repeat rules: none, daily, weekdays, weekly.</a:t>
            </a:r>
          </a:p>
        </p:txBody>
      </p:sp>
      <p:sp>
        <p:nvSpPr>
          <p:cNvPr id="24" name="Rounded Rectangle 23"/>
          <p:cNvSpPr/>
          <p:nvPr/>
        </p:nvSpPr>
        <p:spPr>
          <a:xfrm>
            <a:off x="658368" y="3456432"/>
            <a:ext cx="10874959" cy="1481328"/>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914400" y="3639312"/>
            <a:ext cx="1920240" cy="27432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STATED ACCURATELY</a:t>
            </a:r>
          </a:p>
        </p:txBody>
      </p:sp>
      <p:sp>
        <p:nvSpPr>
          <p:cNvPr id="26" name="TextBox 25"/>
          <p:cNvSpPr txBox="1"/>
          <p:nvPr/>
        </p:nvSpPr>
        <p:spPr>
          <a:xfrm>
            <a:off x="914400" y="4023359"/>
            <a:ext cx="5303520" cy="822960"/>
          </a:xfrm>
          <a:prstGeom prst="rect">
            <a:avLst/>
          </a:prstGeom>
          <a:noFill/>
        </p:spPr>
        <p:txBody>
          <a:bodyPr wrap="square" lIns="0" rIns="0" tIns="0" bIns="0" anchor="t">
            <a:spAutoFit/>
          </a:bodyPr>
          <a:lstStyle/>
          <a:p>
            <a:pPr algn="l">
              <a:lnSpc>
                <a:spcPct val="120000"/>
              </a:lnSpc>
            </a:pPr>
            <a:r>
              <a:rPr sz="1100" b="0" i="0">
                <a:solidFill>
                  <a:srgbClr val="78350F"/>
                </a:solidFill>
                <a:latin typeface="Calibri"/>
              </a:rPr>
              <a:t>PrepPilot implements fixed-interval spaced repetition — not SM-2. A full, tested SM-2 implementation exists in our shared package and its statistics are maintained under every review, but the review screen does not call it.</a:t>
            </a:r>
          </a:p>
        </p:txBody>
      </p:sp>
      <p:sp>
        <p:nvSpPr>
          <p:cNvPr id="27" name="TextBox 26"/>
          <p:cNvSpPr txBox="1"/>
          <p:nvPr/>
        </p:nvSpPr>
        <p:spPr>
          <a:xfrm>
            <a:off x="6510528" y="4023359"/>
            <a:ext cx="5029200" cy="822960"/>
          </a:xfrm>
          <a:prstGeom prst="rect">
            <a:avLst/>
          </a:prstGeom>
          <a:noFill/>
        </p:spPr>
        <p:txBody>
          <a:bodyPr wrap="square" lIns="0" rIns="0" tIns="0" bIns="0" anchor="t">
            <a:spAutoFit/>
          </a:bodyPr>
          <a:lstStyle/>
          <a:p>
            <a:pPr algn="l">
              <a:lnSpc>
                <a:spcPct val="120000"/>
              </a:lnSpc>
            </a:pPr>
            <a:r>
              <a:rPr sz="1100" b="0" i="0">
                <a:solidFill>
                  <a:srgbClr val="78350F"/>
                </a:solidFill>
                <a:latin typeface="Calibri"/>
              </a:rPr>
              <a:t>Reminders on Android are held by the operating system and fire reliably. In the browser build they are a timer inside the tab — they stop when the tab closes, and the screen says so.</a:t>
            </a:r>
          </a:p>
        </p:txBody>
      </p:sp>
      <p:sp>
        <p:nvSpPr>
          <p:cNvPr id="28" name="TextBox 27"/>
          <p:cNvSpPr txBox="1"/>
          <p:nvPr/>
        </p:nvSpPr>
        <p:spPr>
          <a:xfrm>
            <a:off x="658368" y="5102352"/>
            <a:ext cx="10874959" cy="402336"/>
          </a:xfrm>
          <a:prstGeom prst="rect">
            <a:avLst/>
          </a:prstGeom>
          <a:noFill/>
        </p:spPr>
        <p:txBody>
          <a:bodyPr wrap="square" lIns="0" rIns="0" tIns="0" bIns="0" anchor="t">
            <a:spAutoFit/>
          </a:bodyPr>
          <a:lstStyle/>
          <a:p>
            <a:pPr algn="l">
              <a:lnSpc>
                <a:spcPct val="120000"/>
              </a:lnSpc>
            </a:pPr>
            <a:r>
              <a:rPr sz="1050" b="0" i="1">
                <a:solidFill>
                  <a:srgbClr val="6B7684"/>
                </a:solidFill>
                <a:latin typeface="Calibri"/>
              </a:rPr>
              <a:t>Why fixed intervals: an adaptive schedule changes its button labels every review, so “1 day” is not a day on a mature card. Fixed labels say exactly what they 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APP STATES ITS OWN LIMITS, IN THE INTERFACE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Focus Mode — Honesty by Design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11</a:t>
            </a:r>
          </a:p>
        </p:txBody>
      </p:sp>
      <p:pic>
        <p:nvPicPr>
          <p:cNvPr id="8" name="Picture 7" descr="focus.png"/>
          <p:cNvPicPr>
            <a:picLocks noChangeAspect="1"/>
          </p:cNvPicPr>
          <p:nvPr/>
        </p:nvPicPr>
        <p:blipFill>
          <a:blip r:embed="rId3"/>
          <a:stretch>
            <a:fillRect/>
          </a:stretch>
        </p:blipFill>
        <p:spPr>
          <a:xfrm>
            <a:off x="1024128" y="1298448"/>
            <a:ext cx="1982804" cy="4572000"/>
          </a:xfrm>
          <a:prstGeom prst="rect">
            <a:avLst/>
          </a:prstGeom>
        </p:spPr>
      </p:pic>
      <p:sp>
        <p:nvSpPr>
          <p:cNvPr id="9" name="TextBox 8"/>
          <p:cNvSpPr txBox="1"/>
          <p:nvPr/>
        </p:nvSpPr>
        <p:spPr>
          <a:xfrm>
            <a:off x="4754880" y="1444752"/>
            <a:ext cx="6778447" cy="786384"/>
          </a:xfrm>
          <a:prstGeom prst="rect">
            <a:avLst/>
          </a:prstGeom>
          <a:noFill/>
        </p:spPr>
        <p:txBody>
          <a:bodyPr wrap="square" lIns="0" rIns="0" tIns="0" bIns="0" anchor="t">
            <a:spAutoFit/>
          </a:bodyPr>
          <a:lstStyle/>
          <a:p>
            <a:pPr algn="l">
              <a:lnSpc>
                <a:spcPct val="124000"/>
              </a:lnSpc>
            </a:pPr>
            <a:r>
              <a:rPr sz="1500" b="0" i="0">
                <a:solidFill>
                  <a:srgbClr val="0B0F14"/>
                </a:solidFill>
                <a:latin typeface="Calibri"/>
              </a:rPr>
              <a:t>Focus Mode gives a distraction-free screen, keeps the display awake, and counts the times a student leaves the app. It ships with a capability list.</a:t>
            </a:r>
          </a:p>
        </p:txBody>
      </p:sp>
      <p:sp>
        <p:nvSpPr>
          <p:cNvPr id="10" name="TextBox 9"/>
          <p:cNvSpPr txBox="1"/>
          <p:nvPr/>
        </p:nvSpPr>
        <p:spPr>
          <a:xfrm>
            <a:off x="4754880" y="2395728"/>
            <a:ext cx="274320" cy="274320"/>
          </a:xfrm>
          <a:prstGeom prst="rect">
            <a:avLst/>
          </a:prstGeom>
          <a:noFill/>
        </p:spPr>
        <p:txBody>
          <a:bodyPr wrap="square" lIns="0" rIns="0" tIns="0" bIns="0" anchor="t">
            <a:spAutoFit/>
          </a:bodyPr>
          <a:lstStyle/>
          <a:p>
            <a:pPr algn="l">
              <a:lnSpc>
                <a:spcPct val="100000"/>
              </a:lnSpc>
            </a:pPr>
            <a:r>
              <a:rPr sz="1500" b="1" i="0">
                <a:solidFill>
                  <a:srgbClr val="10B981"/>
                </a:solidFill>
                <a:latin typeface="Calibri"/>
              </a:rPr>
              <a:t>✓</a:t>
            </a:r>
          </a:p>
        </p:txBody>
      </p:sp>
      <p:sp>
        <p:nvSpPr>
          <p:cNvPr id="11" name="TextBox 10"/>
          <p:cNvSpPr txBox="1"/>
          <p:nvPr/>
        </p:nvSpPr>
        <p:spPr>
          <a:xfrm>
            <a:off x="5065776" y="2414016"/>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Full-screen focus timer</a:t>
            </a:r>
          </a:p>
        </p:txBody>
      </p:sp>
      <p:sp>
        <p:nvSpPr>
          <p:cNvPr id="12" name="TextBox 11"/>
          <p:cNvSpPr txBox="1"/>
          <p:nvPr/>
        </p:nvSpPr>
        <p:spPr>
          <a:xfrm>
            <a:off x="4754880" y="2962656"/>
            <a:ext cx="274320" cy="274320"/>
          </a:xfrm>
          <a:prstGeom prst="rect">
            <a:avLst/>
          </a:prstGeom>
          <a:noFill/>
        </p:spPr>
        <p:txBody>
          <a:bodyPr wrap="square" lIns="0" rIns="0" tIns="0" bIns="0" anchor="t">
            <a:spAutoFit/>
          </a:bodyPr>
          <a:lstStyle/>
          <a:p>
            <a:pPr algn="l">
              <a:lnSpc>
                <a:spcPct val="100000"/>
              </a:lnSpc>
            </a:pPr>
            <a:r>
              <a:rPr sz="1500" b="1" i="0">
                <a:solidFill>
                  <a:srgbClr val="10B981"/>
                </a:solidFill>
                <a:latin typeface="Calibri"/>
              </a:rPr>
              <a:t>✓</a:t>
            </a:r>
          </a:p>
        </p:txBody>
      </p:sp>
      <p:sp>
        <p:nvSpPr>
          <p:cNvPr id="13" name="TextBox 12"/>
          <p:cNvSpPr txBox="1"/>
          <p:nvPr/>
        </p:nvSpPr>
        <p:spPr>
          <a:xfrm>
            <a:off x="5065776" y="2980944"/>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PrepPilot stays quiet — your own reminders will not interrupt</a:t>
            </a:r>
          </a:p>
        </p:txBody>
      </p:sp>
      <p:sp>
        <p:nvSpPr>
          <p:cNvPr id="14" name="TextBox 13"/>
          <p:cNvSpPr txBox="1"/>
          <p:nvPr/>
        </p:nvSpPr>
        <p:spPr>
          <a:xfrm>
            <a:off x="4754880" y="3529584"/>
            <a:ext cx="274320" cy="274320"/>
          </a:xfrm>
          <a:prstGeom prst="rect">
            <a:avLst/>
          </a:prstGeom>
          <a:noFill/>
        </p:spPr>
        <p:txBody>
          <a:bodyPr wrap="square" lIns="0" rIns="0" tIns="0" bIns="0" anchor="t">
            <a:spAutoFit/>
          </a:bodyPr>
          <a:lstStyle/>
          <a:p>
            <a:pPr algn="l">
              <a:lnSpc>
                <a:spcPct val="100000"/>
              </a:lnSpc>
            </a:pPr>
            <a:r>
              <a:rPr sz="1500" b="1" i="0">
                <a:solidFill>
                  <a:srgbClr val="EF4444"/>
                </a:solidFill>
                <a:latin typeface="Calibri"/>
              </a:rPr>
              <a:t>✗</a:t>
            </a:r>
          </a:p>
        </p:txBody>
      </p:sp>
      <p:sp>
        <p:nvSpPr>
          <p:cNvPr id="15" name="TextBox 14"/>
          <p:cNvSpPr txBox="1"/>
          <p:nvPr/>
        </p:nvSpPr>
        <p:spPr>
          <a:xfrm>
            <a:off x="5065776" y="3547872"/>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Blocking other apps — Android forbids it without privileges the Play Store restricts</a:t>
            </a:r>
          </a:p>
        </p:txBody>
      </p:sp>
      <p:sp>
        <p:nvSpPr>
          <p:cNvPr id="16" name="TextBox 15"/>
          <p:cNvSpPr txBox="1"/>
          <p:nvPr/>
        </p:nvSpPr>
        <p:spPr>
          <a:xfrm>
            <a:off x="4754880" y="4096512"/>
            <a:ext cx="274320" cy="274320"/>
          </a:xfrm>
          <a:prstGeom prst="rect">
            <a:avLst/>
          </a:prstGeom>
          <a:noFill/>
        </p:spPr>
        <p:txBody>
          <a:bodyPr wrap="square" lIns="0" rIns="0" tIns="0" bIns="0" anchor="t">
            <a:spAutoFit/>
          </a:bodyPr>
          <a:lstStyle/>
          <a:p>
            <a:pPr algn="l">
              <a:lnSpc>
                <a:spcPct val="100000"/>
              </a:lnSpc>
            </a:pPr>
            <a:r>
              <a:rPr sz="1500" b="1" i="0">
                <a:solidFill>
                  <a:srgbClr val="EF4444"/>
                </a:solidFill>
                <a:latin typeface="Calibri"/>
              </a:rPr>
              <a:t>✗</a:t>
            </a:r>
          </a:p>
        </p:txBody>
      </p:sp>
      <p:sp>
        <p:nvSpPr>
          <p:cNvPr id="17" name="TextBox 16"/>
          <p:cNvSpPr txBox="1"/>
          <p:nvPr/>
        </p:nvSpPr>
        <p:spPr>
          <a:xfrm>
            <a:off x="5065776" y="4114800"/>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Silencing other apps' notifications — needs a permission we do not request</a:t>
            </a:r>
          </a:p>
        </p:txBody>
      </p:sp>
      <p:sp>
        <p:nvSpPr>
          <p:cNvPr id="18" name="Rounded Rectangle 17"/>
          <p:cNvSpPr/>
          <p:nvPr/>
        </p:nvSpPr>
        <p:spPr>
          <a:xfrm>
            <a:off x="4754880" y="4791456"/>
            <a:ext cx="6778447" cy="1042415"/>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10912" y="4974336"/>
            <a:ext cx="60350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WHY THIS MATTERS</a:t>
            </a:r>
          </a:p>
        </p:txBody>
      </p:sp>
      <p:sp>
        <p:nvSpPr>
          <p:cNvPr id="20" name="TextBox 19"/>
          <p:cNvSpPr txBox="1"/>
          <p:nvPr/>
        </p:nvSpPr>
        <p:spPr>
          <a:xfrm>
            <a:off x="5010912" y="5266944"/>
            <a:ext cx="6035040" cy="475488"/>
          </a:xfrm>
          <a:prstGeom prst="rect">
            <a:avLst/>
          </a:prstGeom>
          <a:noFill/>
        </p:spPr>
        <p:txBody>
          <a:bodyPr wrap="square" lIns="0" rIns="0" tIns="0" bIns="0" anchor="t">
            <a:spAutoFit/>
          </a:bodyPr>
          <a:lstStyle/>
          <a:p>
            <a:pPr algn="l">
              <a:lnSpc>
                <a:spcPct val="120000"/>
              </a:lnSpc>
            </a:pPr>
            <a:r>
              <a:rPr sz="1250" b="0" i="0">
                <a:solidFill>
                  <a:srgbClr val="4A5568"/>
                </a:solidFill>
                <a:latin typeface="Calibri"/>
              </a:rPr>
              <a:t>A student planning months of preparation around a tool needs that tool to be accurate about itself.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LOCAL DATABASE IS AUTHORITATIVE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Offline-First Architecture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12</a:t>
            </a:r>
          </a:p>
        </p:txBody>
      </p:sp>
      <p:sp>
        <p:nvSpPr>
          <p:cNvPr id="8" name="TextBox 7"/>
          <p:cNvSpPr txBox="1"/>
          <p:nvPr/>
        </p:nvSpPr>
        <p:spPr>
          <a:xfrm>
            <a:off x="658368" y="1389888"/>
            <a:ext cx="10874959" cy="310896"/>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“Offline-first” here does not mean “caches data for offline viewing”. It means the local database is the source of truth and the network is optional.</a:t>
            </a:r>
          </a:p>
        </p:txBody>
      </p:sp>
      <p:sp>
        <p:nvSpPr>
          <p:cNvPr id="9" name="Rounded Rectangle 8"/>
          <p:cNvSpPr/>
          <p:nvPr/>
        </p:nvSpPr>
        <p:spPr>
          <a:xfrm>
            <a:off x="658368" y="1956816"/>
            <a:ext cx="5120640" cy="2286000"/>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96112" y="2139696"/>
            <a:ext cx="1170432" cy="27432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OFFLINE</a:t>
            </a:r>
          </a:p>
        </p:txBody>
      </p:sp>
      <p:sp>
        <p:nvSpPr>
          <p:cNvPr id="11" name="Rounded Rectangle 10"/>
          <p:cNvSpPr/>
          <p:nvPr/>
        </p:nvSpPr>
        <p:spPr>
          <a:xfrm>
            <a:off x="896112" y="2523744"/>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Student ticks a topic</a:t>
            </a:r>
          </a:p>
        </p:txBody>
      </p:sp>
      <p:sp>
        <p:nvSpPr>
          <p:cNvPr id="12" name="Down Arrow 11"/>
          <p:cNvSpPr/>
          <p:nvPr/>
        </p:nvSpPr>
        <p:spPr>
          <a:xfrm>
            <a:off x="3145536" y="2990088"/>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090672"/>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Write to local SQLite   ·   syncStatus = 'pending'</a:t>
            </a:r>
          </a:p>
        </p:txBody>
      </p:sp>
      <p:sp>
        <p:nvSpPr>
          <p:cNvPr id="14" name="Down Arrow 13"/>
          <p:cNvSpPr/>
          <p:nvPr/>
        </p:nvSpPr>
        <p:spPr>
          <a:xfrm>
            <a:off x="3145536" y="3557016"/>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96112" y="3657600"/>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Progress updates immediately</a:t>
            </a:r>
          </a:p>
        </p:txBody>
      </p:sp>
      <p:sp>
        <p:nvSpPr>
          <p:cNvPr id="16" name="Rounded Rectangle 15"/>
          <p:cNvSpPr/>
          <p:nvPr/>
        </p:nvSpPr>
        <p:spPr>
          <a:xfrm>
            <a:off x="6016752" y="1956816"/>
            <a:ext cx="5516575" cy="2286000"/>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254496" y="2139696"/>
            <a:ext cx="2286000"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CONNECTIVITY RETURNS</a:t>
            </a:r>
          </a:p>
        </p:txBody>
      </p:sp>
      <p:sp>
        <p:nvSpPr>
          <p:cNvPr id="18" name="Rounded Rectangle 17"/>
          <p:cNvSpPr/>
          <p:nvPr/>
        </p:nvSpPr>
        <p:spPr>
          <a:xfrm>
            <a:off x="6254496" y="2523744"/>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PULL rows changed since watermark</a:t>
            </a:r>
          </a:p>
        </p:txBody>
      </p:sp>
      <p:sp>
        <p:nvSpPr>
          <p:cNvPr id="19" name="Down Arrow 18"/>
          <p:cNvSpPr/>
          <p:nvPr/>
        </p:nvSpPr>
        <p:spPr>
          <a:xfrm>
            <a:off x="8503920" y="2990088"/>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54496" y="3090672"/>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MERGE conflicts deterministically</a:t>
            </a:r>
          </a:p>
        </p:txBody>
      </p:sp>
      <p:sp>
        <p:nvSpPr>
          <p:cNvPr id="21" name="Down Arrow 20"/>
          <p:cNvSpPr/>
          <p:nvPr/>
        </p:nvSpPr>
        <p:spPr>
          <a:xfrm>
            <a:off x="8503920" y="3557016"/>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54496" y="3657600"/>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PUSH rows marked pending</a:t>
            </a:r>
          </a:p>
        </p:txBody>
      </p:sp>
      <p:sp>
        <p:nvSpPr>
          <p:cNvPr id="23" name="Rounded Rectangle 22"/>
          <p:cNvSpPr/>
          <p:nvPr/>
        </p:nvSpPr>
        <p:spPr>
          <a:xfrm>
            <a:off x="658368"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59536" y="468172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5"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Client-generated UUIDv7 ids</a:t>
            </a:r>
          </a:p>
        </p:txBody>
      </p:sp>
      <p:sp>
        <p:nvSpPr>
          <p:cNvPr id="26" name="TextBox 25"/>
          <p:cNvSpPr txBox="1"/>
          <p:nvPr/>
        </p:nvSpPr>
        <p:spPr>
          <a:xfrm>
            <a:off x="877824"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row created offline has its final identity at once — so it arrives as a conflict, not a duplicate.</a:t>
            </a:r>
          </a:p>
        </p:txBody>
      </p:sp>
      <p:sp>
        <p:nvSpPr>
          <p:cNvPr id="27" name="Rounded Rectangle 26"/>
          <p:cNvSpPr/>
          <p:nvPr/>
        </p:nvSpPr>
        <p:spPr>
          <a:xfrm>
            <a:off x="4356506"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4557674" y="468172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0554"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Tombstones, never hard deletes</a:t>
            </a:r>
          </a:p>
        </p:txBody>
      </p:sp>
      <p:sp>
        <p:nvSpPr>
          <p:cNvPr id="30" name="TextBox 29"/>
          <p:cNvSpPr txBox="1"/>
          <p:nvPr/>
        </p:nvSpPr>
        <p:spPr>
          <a:xfrm>
            <a:off x="4575962"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deleted row is marked, not removed. Otherwise the next pull cannot tell “deleted here” from “not yet seen” and resurrects it.</a:t>
            </a:r>
          </a:p>
        </p:txBody>
      </p:sp>
      <p:sp>
        <p:nvSpPr>
          <p:cNvPr id="31" name="Rounded Rectangle 30"/>
          <p:cNvSpPr/>
          <p:nvPr/>
        </p:nvSpPr>
        <p:spPr>
          <a:xfrm>
            <a:off x="8054644"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8255812" y="468172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38692"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Server-side watermark</a:t>
            </a:r>
          </a:p>
        </p:txBody>
      </p:sp>
      <p:sp>
        <p:nvSpPr>
          <p:cNvPr id="34" name="TextBox 33"/>
          <p:cNvSpPr txBox="1"/>
          <p:nvPr/>
        </p:nvSpPr>
        <p:spPr>
          <a:xfrm>
            <a:off x="8274100"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next pull resumes from the server's clock. A fast device clock would otherwise bookmark the future and skip rows forever.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DETERMINISTIC, AND THE SAME ON EVERY DEVICE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Synchronisation and Conflict Resolution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13</a:t>
            </a:r>
          </a:p>
        </p:txBody>
      </p:sp>
      <p:sp>
        <p:nvSpPr>
          <p:cNvPr id="8" name="Rounded Rectangle 7"/>
          <p:cNvSpPr/>
          <p:nvPr/>
        </p:nvSpPr>
        <p:spPr>
          <a:xfrm>
            <a:off x="658368" y="1389888"/>
            <a:ext cx="2139696" cy="713232"/>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PULL</a:t>
            </a:r>
          </a:p>
          <a:p>
            <a:pPr algn="ctr">
              <a:spcBef>
                <a:spcPts val="200"/>
              </a:spcBef>
            </a:pPr>
            <a:r>
              <a:rPr sz="950">
                <a:solidFill>
                  <a:srgbClr val="FFFFFF"/>
                </a:solidFill>
                <a:latin typeface="Calibri"/>
              </a:rPr>
              <a:t>remote rows since watermark</a:t>
            </a:r>
          </a:p>
        </p:txBody>
      </p:sp>
      <p:sp>
        <p:nvSpPr>
          <p:cNvPr id="9" name="Right Arrow 8"/>
          <p:cNvSpPr/>
          <p:nvPr/>
        </p:nvSpPr>
        <p:spPr>
          <a:xfrm>
            <a:off x="2834639" y="1664208"/>
            <a:ext cx="182880" cy="164592"/>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54096" y="1389888"/>
            <a:ext cx="2139696" cy="713232"/>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MERGE</a:t>
            </a:r>
          </a:p>
          <a:p>
            <a:pPr algn="ctr">
              <a:spcBef>
                <a:spcPts val="200"/>
              </a:spcBef>
            </a:pPr>
            <a:r>
              <a:rPr sz="950">
                <a:solidFill>
                  <a:srgbClr val="FFFFFF"/>
                </a:solidFill>
                <a:latin typeface="Calibri"/>
              </a:rPr>
              <a:t>resolve conflicts</a:t>
            </a:r>
          </a:p>
        </p:txBody>
      </p:sp>
      <p:sp>
        <p:nvSpPr>
          <p:cNvPr id="11" name="Right Arrow 10"/>
          <p:cNvSpPr/>
          <p:nvPr/>
        </p:nvSpPr>
        <p:spPr>
          <a:xfrm>
            <a:off x="5230368" y="1664208"/>
            <a:ext cx="182880" cy="164592"/>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49824" y="1389888"/>
            <a:ext cx="2139696" cy="713232"/>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PUSH</a:t>
            </a:r>
          </a:p>
          <a:p>
            <a:pPr algn="ctr">
              <a:spcBef>
                <a:spcPts val="200"/>
              </a:spcBef>
            </a:pPr>
            <a:r>
              <a:rPr sz="950">
                <a:solidFill>
                  <a:srgbClr val="FFFFFF"/>
                </a:solidFill>
                <a:latin typeface="Calibri"/>
              </a:rPr>
              <a:t>send agreed version</a:t>
            </a:r>
          </a:p>
        </p:txBody>
      </p:sp>
      <p:sp>
        <p:nvSpPr>
          <p:cNvPr id="13" name="TextBox 12"/>
          <p:cNvSpPr txBox="1"/>
          <p:nvPr/>
        </p:nvSpPr>
        <p:spPr>
          <a:xfrm>
            <a:off x="658368" y="2249424"/>
            <a:ext cx="6949440" cy="457200"/>
          </a:xfrm>
          <a:prstGeom prst="rect">
            <a:avLst/>
          </a:prstGeom>
          <a:noFill/>
        </p:spPr>
        <p:txBody>
          <a:bodyPr wrap="square" lIns="0" rIns="0" tIns="0" bIns="0" anchor="t">
            <a:spAutoFit/>
          </a:bodyPr>
          <a:lstStyle/>
          <a:p>
            <a:pPr algn="l">
              <a:lnSpc>
                <a:spcPct val="120000"/>
              </a:lnSpc>
            </a:pPr>
            <a:r>
              <a:rPr sz="1100" b="0" i="1">
                <a:solidFill>
                  <a:srgbClr val="6B7684"/>
                </a:solidFill>
                <a:latin typeface="Calibri"/>
              </a:rPr>
              <a:t>Pulling before pushing is deliberate: pushing first would overwrite the server with a local row that has not been reconciled, destroying changes made elsewhere.</a:t>
            </a:r>
          </a:p>
        </p:txBody>
      </p:sp>
      <p:sp>
        <p:nvSpPr>
          <p:cNvPr id="14" name="Rounded Rectangle 13"/>
          <p:cNvSpPr/>
          <p:nvPr/>
        </p:nvSpPr>
        <p:spPr>
          <a:xfrm>
            <a:off x="658368" y="2871216"/>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59536" y="3072384"/>
            <a:ext cx="329184" cy="329184"/>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1</a:t>
            </a:r>
          </a:p>
        </p:txBody>
      </p:sp>
      <p:sp>
        <p:nvSpPr>
          <p:cNvPr id="16" name="TextBox 15"/>
          <p:cNvSpPr txBox="1"/>
          <p:nvPr/>
        </p:nvSpPr>
        <p:spPr>
          <a:xfrm>
            <a:off x="1298448" y="3054096"/>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 tombstone wins</a:t>
            </a:r>
          </a:p>
        </p:txBody>
      </p:sp>
      <p:sp>
        <p:nvSpPr>
          <p:cNvPr id="17" name="TextBox 16"/>
          <p:cNvSpPr txBox="1"/>
          <p:nvPr/>
        </p:nvSpPr>
        <p:spPr>
          <a:xfrm>
            <a:off x="1298448" y="3346704"/>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Deletion is sticky. Resurrecting something a student deleted is worse than losing an edit to it.</a:t>
            </a:r>
          </a:p>
        </p:txBody>
      </p:sp>
      <p:sp>
        <p:nvSpPr>
          <p:cNvPr id="18" name="Rounded Rectangle 17"/>
          <p:cNvSpPr/>
          <p:nvPr/>
        </p:nvSpPr>
        <p:spPr>
          <a:xfrm>
            <a:off x="6214719" y="2871216"/>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15887" y="3072384"/>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2</a:t>
            </a:r>
          </a:p>
        </p:txBody>
      </p:sp>
      <p:sp>
        <p:nvSpPr>
          <p:cNvPr id="20" name="TextBox 19"/>
          <p:cNvSpPr txBox="1"/>
          <p:nvPr/>
        </p:nvSpPr>
        <p:spPr>
          <a:xfrm>
            <a:off x="6854799" y="3054096"/>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Completion resolves on its own timestamp</a:t>
            </a:r>
          </a:p>
        </p:txBody>
      </p:sp>
      <p:sp>
        <p:nvSpPr>
          <p:cNvPr id="21" name="TextBox 20"/>
          <p:cNvSpPr txBox="1"/>
          <p:nvPr/>
        </p:nvSpPr>
        <p:spPr>
          <a:xfrm>
            <a:off x="6854799" y="3346704"/>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So renaming a topic on one device cannot revert a tick made on another.</a:t>
            </a:r>
          </a:p>
        </p:txBody>
      </p:sp>
      <p:sp>
        <p:nvSpPr>
          <p:cNvPr id="22" name="Rounded Rectangle 21"/>
          <p:cNvSpPr/>
          <p:nvPr/>
        </p:nvSpPr>
        <p:spPr>
          <a:xfrm>
            <a:off x="658368" y="4005072"/>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9536" y="4206240"/>
            <a:ext cx="329184" cy="329184"/>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3</a:t>
            </a:r>
          </a:p>
        </p:txBody>
      </p:sp>
      <p:sp>
        <p:nvSpPr>
          <p:cNvPr id="24" name="TextBox 23"/>
          <p:cNvSpPr txBox="1"/>
          <p:nvPr/>
        </p:nvSpPr>
        <p:spPr>
          <a:xfrm>
            <a:off x="1298448" y="4187952"/>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 tie on completion resolves to completed</a:t>
            </a:r>
          </a:p>
        </p:txBody>
      </p:sp>
      <p:sp>
        <p:nvSpPr>
          <p:cNvPr id="25" name="TextBox 24"/>
          <p:cNvSpPr txBox="1"/>
          <p:nvPr/>
        </p:nvSpPr>
        <p:spPr>
          <a:xfrm>
            <a:off x="1298448" y="4480560"/>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Silently un-ticking finished work is the failure a student would never forgive.</a:t>
            </a:r>
          </a:p>
        </p:txBody>
      </p:sp>
      <p:sp>
        <p:nvSpPr>
          <p:cNvPr id="26" name="Rounded Rectangle 25"/>
          <p:cNvSpPr/>
          <p:nvPr/>
        </p:nvSpPr>
        <p:spPr>
          <a:xfrm>
            <a:off x="6214719" y="4005072"/>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415887" y="4206240"/>
            <a:ext cx="329184" cy="329184"/>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4</a:t>
            </a:r>
          </a:p>
        </p:txBody>
      </p:sp>
      <p:sp>
        <p:nvSpPr>
          <p:cNvPr id="28" name="TextBox 27"/>
          <p:cNvSpPr txBox="1"/>
          <p:nvPr/>
        </p:nvSpPr>
        <p:spPr>
          <a:xfrm>
            <a:off x="6854799" y="4187952"/>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Everything else is last-write-wins</a:t>
            </a:r>
          </a:p>
        </p:txBody>
      </p:sp>
      <p:sp>
        <p:nvSpPr>
          <p:cNvPr id="29" name="TextBox 28"/>
          <p:cNvSpPr txBox="1"/>
          <p:nvPr/>
        </p:nvSpPr>
        <p:spPr>
          <a:xfrm>
            <a:off x="6854799" y="4480560"/>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On updatedAt, with the local copy winning an exact tie so a device never churns its own rows.</a:t>
            </a:r>
          </a:p>
        </p:txBody>
      </p:sp>
      <p:sp>
        <p:nvSpPr>
          <p:cNvPr id="30" name="Rounded Rectangle 29"/>
          <p:cNvSpPr/>
          <p:nvPr/>
        </p:nvSpPr>
        <p:spPr>
          <a:xfrm>
            <a:off x="658368" y="5212080"/>
            <a:ext cx="10874959" cy="603504"/>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2688" y="5367528"/>
            <a:ext cx="10326319" cy="329184"/>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Eight tables synchronise. Preferences deliberately do not — a theme choice belongs to a device, not to an account.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CLIENT NEVER HOLDS THE GEMINI KEY</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AI Integration and Safety</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14</a:t>
            </a:r>
          </a:p>
        </p:txBody>
      </p:sp>
      <p:sp>
        <p:nvSpPr>
          <p:cNvPr id="8" name="Rounded Rectangle 7"/>
          <p:cNvSpPr/>
          <p:nvPr/>
        </p:nvSpPr>
        <p:spPr>
          <a:xfrm>
            <a:off x="658368" y="1389888"/>
            <a:ext cx="3127248" cy="82296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PrepPilot Client</a:t>
            </a:r>
          </a:p>
          <a:p>
            <a:pPr algn="ctr">
              <a:spcBef>
                <a:spcPts val="200"/>
              </a:spcBef>
            </a:pPr>
            <a:r>
              <a:rPr sz="950">
                <a:solidFill>
                  <a:srgbClr val="FFFFFF"/>
                </a:solidFill>
                <a:latin typeface="Calibri"/>
              </a:rPr>
              <a:t>React Native</a:t>
            </a:r>
          </a:p>
        </p:txBody>
      </p:sp>
      <p:sp>
        <p:nvSpPr>
          <p:cNvPr id="9" name="Right Arrow 8"/>
          <p:cNvSpPr/>
          <p:nvPr/>
        </p:nvSpPr>
        <p:spPr>
          <a:xfrm>
            <a:off x="3895344" y="1691640"/>
            <a:ext cx="438912"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43983" y="1389888"/>
            <a:ext cx="3127248" cy="82296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Supabase Edge Function</a:t>
            </a:r>
          </a:p>
          <a:p>
            <a:pPr algn="ctr">
              <a:spcBef>
                <a:spcPts val="200"/>
              </a:spcBef>
            </a:pPr>
            <a:r>
              <a:rPr sz="950">
                <a:solidFill>
                  <a:srgbClr val="FFFFFF"/>
                </a:solidFill>
                <a:latin typeface="Calibri"/>
              </a:rPr>
              <a:t>ask-gemini · Deno</a:t>
            </a:r>
          </a:p>
        </p:txBody>
      </p:sp>
      <p:sp>
        <p:nvSpPr>
          <p:cNvPr id="11" name="Right Arrow 10"/>
          <p:cNvSpPr/>
          <p:nvPr/>
        </p:nvSpPr>
        <p:spPr>
          <a:xfrm>
            <a:off x="7680959" y="1691640"/>
            <a:ext cx="438912"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0" y="1389888"/>
            <a:ext cx="3127248" cy="82296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Google Gemini API</a:t>
            </a:r>
          </a:p>
          <a:p>
            <a:pPr algn="ctr">
              <a:spcBef>
                <a:spcPts val="200"/>
              </a:spcBef>
            </a:pPr>
            <a:r>
              <a:rPr sz="950">
                <a:solidFill>
                  <a:srgbClr val="FFFFFF"/>
                </a:solidFill>
                <a:latin typeface="Calibri"/>
              </a:rPr>
              <a:t>gemini-3.6-flash</a:t>
            </a:r>
          </a:p>
        </p:txBody>
      </p:sp>
      <p:sp>
        <p:nvSpPr>
          <p:cNvPr id="13" name="TextBox 12"/>
          <p:cNvSpPr txBox="1"/>
          <p:nvPr/>
        </p:nvSpPr>
        <p:spPr>
          <a:xfrm>
            <a:off x="3840479" y="2267712"/>
            <a:ext cx="749808" cy="274320"/>
          </a:xfrm>
          <a:prstGeom prst="rect">
            <a:avLst/>
          </a:prstGeom>
          <a:noFill/>
        </p:spPr>
        <p:txBody>
          <a:bodyPr wrap="square" lIns="0" rIns="0" tIns="0" bIns="0" anchor="t">
            <a:spAutoFit/>
          </a:bodyPr>
          <a:lstStyle/>
          <a:p>
            <a:pPr algn="ctr">
              <a:lnSpc>
                <a:spcPct val="100000"/>
              </a:lnSpc>
            </a:pPr>
            <a:r>
              <a:rPr sz="900" b="1" i="0">
                <a:solidFill>
                  <a:srgbClr val="6B7684"/>
                </a:solidFill>
                <a:latin typeface="Calibri"/>
              </a:rPr>
              <a:t>JWT</a:t>
            </a:r>
          </a:p>
        </p:txBody>
      </p:sp>
      <p:sp>
        <p:nvSpPr>
          <p:cNvPr id="14" name="TextBox 13"/>
          <p:cNvSpPr txBox="1"/>
          <p:nvPr/>
        </p:nvSpPr>
        <p:spPr>
          <a:xfrm>
            <a:off x="7626096" y="2267712"/>
            <a:ext cx="731520" cy="274320"/>
          </a:xfrm>
          <a:prstGeom prst="rect">
            <a:avLst/>
          </a:prstGeom>
          <a:noFill/>
        </p:spPr>
        <p:txBody>
          <a:bodyPr wrap="square" lIns="0" rIns="0" tIns="0" bIns="0" anchor="t">
            <a:spAutoFit/>
          </a:bodyPr>
          <a:lstStyle/>
          <a:p>
            <a:pPr algn="ctr">
              <a:lnSpc>
                <a:spcPct val="100000"/>
              </a:lnSpc>
            </a:pPr>
            <a:r>
              <a:rPr sz="900" b="1" i="0">
                <a:solidFill>
                  <a:srgbClr val="6B7684"/>
                </a:solidFill>
                <a:latin typeface="Calibri"/>
              </a:rPr>
              <a:t>API key</a:t>
            </a:r>
          </a:p>
        </p:txBody>
      </p:sp>
      <p:sp>
        <p:nvSpPr>
          <p:cNvPr id="15" name="Rounded Rectangle 14"/>
          <p:cNvSpPr/>
          <p:nvPr/>
        </p:nvSpPr>
        <p:spPr>
          <a:xfrm>
            <a:off x="658368" y="2651760"/>
            <a:ext cx="10874959" cy="56692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2788920"/>
            <a:ext cx="10326319" cy="310896"/>
          </a:xfrm>
          <a:prstGeom prst="rect">
            <a:avLst/>
          </a:prstGeom>
          <a:noFill/>
        </p:spPr>
        <p:txBody>
          <a:bodyPr wrap="square" lIns="0" rIns="0" tIns="0" bIns="0" anchor="t">
            <a:spAutoFit/>
          </a:bodyPr>
          <a:lstStyle/>
          <a:p>
            <a:pPr algn="l">
              <a:lnSpc>
                <a:spcPct val="100000"/>
              </a:lnSpc>
            </a:pPr>
            <a:r>
              <a:rPr sz="1200" b="1" i="0">
                <a:solidFill>
                  <a:srgbClr val="065F46"/>
                </a:solidFill>
                <a:latin typeface="Calibri"/>
              </a:rPr>
              <a:t>The Gemini key is read from a Supabase secret inside the Edge Function and never returned to a client. No key appears anywhere in the app bundle.</a:t>
            </a:r>
          </a:p>
        </p:txBody>
      </p:sp>
      <p:sp>
        <p:nvSpPr>
          <p:cNvPr id="17" name="Rounded Rectangle 16"/>
          <p:cNvSpPr/>
          <p:nvPr/>
        </p:nvSpPr>
        <p:spPr>
          <a:xfrm>
            <a:off x="658368" y="3401568"/>
            <a:ext cx="5394960" cy="2084831"/>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3584448"/>
            <a:ext cx="4846320"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THE PROPOSAL GRAMMAR</a:t>
            </a:r>
          </a:p>
        </p:txBody>
      </p:sp>
      <p:sp>
        <p:nvSpPr>
          <p:cNvPr id="19" name="TextBox 18"/>
          <p:cNvSpPr txBox="1"/>
          <p:nvPr/>
        </p:nvSpPr>
        <p:spPr>
          <a:xfrm>
            <a:off x="932688" y="3913631"/>
            <a:ext cx="4846320" cy="274320"/>
          </a:xfrm>
          <a:prstGeom prst="rect">
            <a:avLst/>
          </a:prstGeom>
          <a:noFill/>
        </p:spPr>
        <p:txBody>
          <a:bodyPr wrap="square" lIns="0" rIns="0" tIns="0" bIns="0" anchor="t">
            <a:spAutoFit/>
          </a:bodyPr>
          <a:lstStyle/>
          <a:p>
            <a:pPr algn="l">
              <a:lnSpc>
                <a:spcPct val="100000"/>
              </a:lnSpc>
            </a:pPr>
            <a:r>
              <a:rPr sz="1150" b="0" i="0">
                <a:solidFill>
                  <a:srgbClr val="9BA7B4"/>
                </a:solidFill>
                <a:latin typeface="Calibri"/>
              </a:rPr>
              <a:t>Exactly two verbs exist:</a:t>
            </a:r>
          </a:p>
        </p:txBody>
      </p:sp>
      <p:sp>
        <p:nvSpPr>
          <p:cNvPr id="20" name="TextBox 19"/>
          <p:cNvSpPr txBox="1"/>
          <p:nvPr/>
        </p:nvSpPr>
        <p:spPr>
          <a:xfrm>
            <a:off x="1115568" y="4224528"/>
            <a:ext cx="2743200" cy="274320"/>
          </a:xfrm>
          <a:prstGeom prst="rect">
            <a:avLst/>
          </a:prstGeom>
          <a:noFill/>
        </p:spPr>
        <p:txBody>
          <a:bodyPr wrap="square" lIns="0" rIns="0" tIns="0" bIns="0" anchor="t">
            <a:spAutoFit/>
          </a:bodyPr>
          <a:lstStyle/>
          <a:p>
            <a:pPr algn="l">
              <a:lnSpc>
                <a:spcPct val="100000"/>
              </a:lnSpc>
            </a:pPr>
            <a:r>
              <a:rPr sz="1250" b="1" i="0">
                <a:solidFill>
                  <a:srgbClr val="FFFFFF"/>
                </a:solidFill>
                <a:latin typeface="Consolas"/>
              </a:rPr>
              <a:t>•  addChapters</a:t>
            </a:r>
          </a:p>
        </p:txBody>
      </p:sp>
      <p:sp>
        <p:nvSpPr>
          <p:cNvPr id="21" name="TextBox 20"/>
          <p:cNvSpPr txBox="1"/>
          <p:nvPr/>
        </p:nvSpPr>
        <p:spPr>
          <a:xfrm>
            <a:off x="1115568" y="4517136"/>
            <a:ext cx="2743200" cy="274320"/>
          </a:xfrm>
          <a:prstGeom prst="rect">
            <a:avLst/>
          </a:prstGeom>
          <a:noFill/>
        </p:spPr>
        <p:txBody>
          <a:bodyPr wrap="square" lIns="0" rIns="0" tIns="0" bIns="0" anchor="t">
            <a:spAutoFit/>
          </a:bodyPr>
          <a:lstStyle/>
          <a:p>
            <a:pPr algn="l">
              <a:lnSpc>
                <a:spcPct val="100000"/>
              </a:lnSpc>
            </a:pPr>
            <a:r>
              <a:rPr sz="1250" b="1" i="0">
                <a:solidFill>
                  <a:srgbClr val="FFFFFF"/>
                </a:solidFill>
                <a:latin typeface="Consolas"/>
              </a:rPr>
              <a:t>•  addTopics</a:t>
            </a:r>
          </a:p>
        </p:txBody>
      </p:sp>
      <p:sp>
        <p:nvSpPr>
          <p:cNvPr id="22" name="TextBox 21"/>
          <p:cNvSpPr txBox="1"/>
          <p:nvPr/>
        </p:nvSpPr>
        <p:spPr>
          <a:xfrm>
            <a:off x="932688" y="4864608"/>
            <a:ext cx="4846320" cy="512064"/>
          </a:xfrm>
          <a:prstGeom prst="rect">
            <a:avLst/>
          </a:prstGeom>
          <a:noFill/>
        </p:spPr>
        <p:txBody>
          <a:bodyPr wrap="square" lIns="0" rIns="0" tIns="0" bIns="0" anchor="t">
            <a:spAutoFit/>
          </a:bodyPr>
          <a:lstStyle/>
          <a:p>
            <a:pPr algn="l">
              <a:lnSpc>
                <a:spcPct val="118000"/>
              </a:lnSpc>
            </a:pPr>
            <a:r>
              <a:rPr sz="1050" b="0" i="0">
                <a:solidFill>
                  <a:srgbClr val="9BA7B4"/>
                </a:solidFill>
                <a:latin typeface="Calibri"/>
              </a:rPr>
              <a:t>There is no verb for deleting, completing, renaming or reordering. Such a request cannot be represented — so it cannot be applied.</a:t>
            </a:r>
          </a:p>
        </p:txBody>
      </p:sp>
      <p:sp>
        <p:nvSpPr>
          <p:cNvPr id="23" name="TextBox 22"/>
          <p:cNvSpPr txBox="1"/>
          <p:nvPr/>
        </p:nvSpPr>
        <p:spPr>
          <a:xfrm>
            <a:off x="6291072" y="3401568"/>
            <a:ext cx="5242255"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PROPOSE → REVIEW → CONFIRM → APPLY</a:t>
            </a:r>
          </a:p>
        </p:txBody>
      </p:sp>
      <p:sp>
        <p:nvSpPr>
          <p:cNvPr id="24" name="Rounded Rectangle 23"/>
          <p:cNvSpPr/>
          <p:nvPr/>
        </p:nvSpPr>
        <p:spPr>
          <a:xfrm>
            <a:off x="6291072" y="3712463"/>
            <a:ext cx="1214551" cy="4572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AI Proposal</a:t>
            </a:r>
          </a:p>
        </p:txBody>
      </p:sp>
      <p:sp>
        <p:nvSpPr>
          <p:cNvPr id="25" name="Rounded Rectangle 24"/>
          <p:cNvSpPr/>
          <p:nvPr/>
        </p:nvSpPr>
        <p:spPr>
          <a:xfrm>
            <a:off x="7633639" y="3712463"/>
            <a:ext cx="1214551" cy="4572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User Review</a:t>
            </a:r>
          </a:p>
        </p:txBody>
      </p:sp>
      <p:sp>
        <p:nvSpPr>
          <p:cNvPr id="26" name="Rounded Rectangle 25"/>
          <p:cNvSpPr/>
          <p:nvPr/>
        </p:nvSpPr>
        <p:spPr>
          <a:xfrm>
            <a:off x="8976207" y="3712463"/>
            <a:ext cx="1214551" cy="4572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Confirmation</a:t>
            </a:r>
          </a:p>
        </p:txBody>
      </p:sp>
      <p:sp>
        <p:nvSpPr>
          <p:cNvPr id="27" name="Rounded Rectangle 26"/>
          <p:cNvSpPr/>
          <p:nvPr/>
        </p:nvSpPr>
        <p:spPr>
          <a:xfrm>
            <a:off x="10318775" y="3712463"/>
            <a:ext cx="1214551" cy="4572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Apply</a:t>
            </a:r>
          </a:p>
        </p:txBody>
      </p:sp>
      <p:sp>
        <p:nvSpPr>
          <p:cNvPr id="28" name="Rounded Rectangle 27"/>
          <p:cNvSpPr/>
          <p:nvPr/>
        </p:nvSpPr>
        <p:spPr>
          <a:xfrm>
            <a:off x="6291072" y="4297679"/>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7376" y="4379975"/>
            <a:ext cx="45720" cy="20116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338827"/>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Structural, not a prompt instruction  </a:t>
            </a:r>
            <a:r>
              <a:rPr sz="850">
                <a:solidFill>
                  <a:srgbClr val="4A5568"/>
                </a:solidFill>
                <a:latin typeface="Calibri"/>
              </a:rPr>
              <a:t>Safety comes from the program's shape, not from asking the model nicely.</a:t>
            </a:r>
          </a:p>
        </p:txBody>
      </p:sp>
      <p:sp>
        <p:nvSpPr>
          <p:cNvPr id="31" name="Rounded Rectangle 30"/>
          <p:cNvSpPr/>
          <p:nvPr/>
        </p:nvSpPr>
        <p:spPr>
          <a:xfrm>
            <a:off x="6291072" y="4700016"/>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437376" y="4782312"/>
            <a:ext cx="45720" cy="201168"/>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4741164"/>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Model output is untrusted input  </a:t>
            </a:r>
            <a:r>
              <a:rPr sz="850">
                <a:solidFill>
                  <a:srgbClr val="4A5568"/>
                </a:solidFill>
                <a:latin typeface="Calibri"/>
              </a:rPr>
              <a:t>Names from the model are validated exactly as typed input is.</a:t>
            </a:r>
          </a:p>
        </p:txBody>
      </p:sp>
      <p:sp>
        <p:nvSpPr>
          <p:cNvPr id="34" name="Rounded Rectangle 33"/>
          <p:cNvSpPr/>
          <p:nvPr/>
        </p:nvSpPr>
        <p:spPr>
          <a:xfrm>
            <a:off x="6291072" y="5102351"/>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437376" y="5184647"/>
            <a:ext cx="45720" cy="20116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5143499"/>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Rate limited · thinking capped  </a:t>
            </a:r>
            <a:r>
              <a:rPr sz="850">
                <a:solidFill>
                  <a:srgbClr val="4A5568"/>
                </a:solidFill>
                <a:latin typeface="Calibri"/>
              </a:rPr>
              <a:t>20 requests per hour per account; reasoning capped at 512 tokens.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LAYERED CLIENT, MANAGED CLOUD BACKEND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System Architecture and Data Model</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15</a:t>
            </a:r>
          </a:p>
        </p:txBody>
      </p:sp>
      <p:sp>
        <p:nvSpPr>
          <p:cNvPr id="8" name="Rounded Rectangle 7"/>
          <p:cNvSpPr/>
          <p:nvPr/>
        </p:nvSpPr>
        <p:spPr>
          <a:xfrm>
            <a:off x="658368" y="1389888"/>
            <a:ext cx="5669280" cy="3310128"/>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36192"/>
            <a:ext cx="4572000" cy="256032"/>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MOBILE CLIENT — REACT NATIVE / EXPO</a:t>
            </a:r>
          </a:p>
        </p:txBody>
      </p:sp>
      <p:sp>
        <p:nvSpPr>
          <p:cNvPr id="10" name="Rounded Rectangle 9"/>
          <p:cNvSpPr/>
          <p:nvPr/>
        </p:nvSpPr>
        <p:spPr>
          <a:xfrm>
            <a:off x="896112" y="186537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Presentation</a:t>
            </a:r>
          </a:p>
          <a:p>
            <a:pPr algn="ctr">
              <a:spcBef>
                <a:spcPts val="200"/>
              </a:spcBef>
            </a:pPr>
            <a:r>
              <a:rPr sz="800">
                <a:solidFill>
                  <a:srgbClr val="0B0F14"/>
                </a:solidFill>
                <a:latin typeface="Calibri"/>
              </a:rPr>
              <a:t>Expo Router screens · design system</a:t>
            </a:r>
          </a:p>
        </p:txBody>
      </p:sp>
      <p:sp>
        <p:nvSpPr>
          <p:cNvPr id="11" name="Rectangle 10"/>
          <p:cNvSpPr/>
          <p:nvPr/>
        </p:nvSpPr>
        <p:spPr>
          <a:xfrm>
            <a:off x="896112" y="1865376"/>
            <a:ext cx="50292" cy="4572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6112" y="241401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State</a:t>
            </a:r>
          </a:p>
          <a:p>
            <a:pPr algn="ctr">
              <a:spcBef>
                <a:spcPts val="200"/>
              </a:spcBef>
            </a:pPr>
            <a:r>
              <a:rPr sz="800">
                <a:solidFill>
                  <a:srgbClr val="0B0F14"/>
                </a:solidFill>
                <a:latin typeface="Calibri"/>
              </a:rPr>
              <a:t>Zustand stores, one per feature</a:t>
            </a:r>
          </a:p>
        </p:txBody>
      </p:sp>
      <p:sp>
        <p:nvSpPr>
          <p:cNvPr id="13" name="Rectangle 12"/>
          <p:cNvSpPr/>
          <p:nvPr/>
        </p:nvSpPr>
        <p:spPr>
          <a:xfrm>
            <a:off x="896112" y="2414016"/>
            <a:ext cx="50292" cy="45720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96112" y="296265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Domain — packages/shared</a:t>
            </a:r>
          </a:p>
          <a:p>
            <a:pPr algn="ctr">
              <a:spcBef>
                <a:spcPts val="200"/>
              </a:spcBef>
            </a:pPr>
            <a:r>
              <a:rPr sz="800">
                <a:solidFill>
                  <a:srgbClr val="0B0F14"/>
                </a:solidFill>
                <a:latin typeface="Calibri"/>
              </a:rPr>
              <a:t>progress · timer · merge · AI parsing</a:t>
            </a:r>
          </a:p>
        </p:txBody>
      </p:sp>
      <p:sp>
        <p:nvSpPr>
          <p:cNvPr id="15" name="Rectangle 14"/>
          <p:cNvSpPr/>
          <p:nvPr/>
        </p:nvSpPr>
        <p:spPr>
          <a:xfrm>
            <a:off x="896112" y="2962656"/>
            <a:ext cx="50292" cy="45720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96112" y="351129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Repository</a:t>
            </a:r>
          </a:p>
          <a:p>
            <a:pPr algn="ctr">
              <a:spcBef>
                <a:spcPts val="200"/>
              </a:spcBef>
            </a:pPr>
            <a:r>
              <a:rPr sz="800">
                <a:solidFill>
                  <a:srgbClr val="0B0F14"/>
                </a:solidFill>
                <a:latin typeface="Calibri"/>
              </a:rPr>
              <a:t>typed data access</a:t>
            </a:r>
          </a:p>
        </p:txBody>
      </p:sp>
      <p:sp>
        <p:nvSpPr>
          <p:cNvPr id="17" name="Rectangle 16"/>
          <p:cNvSpPr/>
          <p:nvPr/>
        </p:nvSpPr>
        <p:spPr>
          <a:xfrm>
            <a:off x="896112" y="3511296"/>
            <a:ext cx="50292"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6112" y="4059935"/>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SQLite via Drizzle ORM</a:t>
            </a:r>
          </a:p>
          <a:p>
            <a:pPr algn="ctr">
              <a:spcBef>
                <a:spcPts val="200"/>
              </a:spcBef>
            </a:pPr>
            <a:r>
              <a:rPr sz="800">
                <a:solidFill>
                  <a:srgbClr val="0B0F14"/>
                </a:solidFill>
                <a:latin typeface="Calibri"/>
              </a:rPr>
              <a:t>expo-sqlite on device · sql.js in browser</a:t>
            </a:r>
          </a:p>
        </p:txBody>
      </p:sp>
      <p:sp>
        <p:nvSpPr>
          <p:cNvPr id="19" name="Rectangle 18"/>
          <p:cNvSpPr/>
          <p:nvPr/>
        </p:nvSpPr>
        <p:spPr>
          <a:xfrm>
            <a:off x="896112" y="4059935"/>
            <a:ext cx="5029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56831" y="1389888"/>
            <a:ext cx="4876495" cy="175564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94575" y="1536192"/>
            <a:ext cx="3657600" cy="256032"/>
          </a:xfrm>
          <a:prstGeom prst="rect">
            <a:avLst/>
          </a:prstGeom>
          <a:noFill/>
        </p:spPr>
        <p:txBody>
          <a:bodyPr wrap="square" lIns="0" rIns="0" tIns="0" bIns="0" anchor="t">
            <a:spAutoFit/>
          </a:bodyPr>
          <a:lstStyle/>
          <a:p>
            <a:pPr algn="l">
              <a:lnSpc>
                <a:spcPct val="100000"/>
              </a:lnSpc>
            </a:pPr>
            <a:r>
              <a:rPr sz="950" b="1" i="0">
                <a:solidFill>
                  <a:srgbClr val="065F46"/>
                </a:solidFill>
                <a:latin typeface="Calibri"/>
              </a:rPr>
              <a:t>SUPABASE — BACKEND PLATFORM</a:t>
            </a:r>
          </a:p>
        </p:txBody>
      </p:sp>
      <p:sp>
        <p:nvSpPr>
          <p:cNvPr id="22" name="Rounded Rectangle 21"/>
          <p:cNvSpPr/>
          <p:nvPr/>
        </p:nvSpPr>
        <p:spPr>
          <a:xfrm>
            <a:off x="6894575" y="1865376"/>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Supabase Auth</a:t>
            </a:r>
          </a:p>
          <a:p>
            <a:pPr algn="ctr">
              <a:spcBef>
                <a:spcPts val="200"/>
              </a:spcBef>
            </a:pPr>
            <a:r>
              <a:rPr sz="750">
                <a:solidFill>
                  <a:srgbClr val="0B0F14"/>
                </a:solidFill>
                <a:latin typeface="Calibri"/>
              </a:rPr>
              <a:t>email · Google · phone OTP</a:t>
            </a:r>
          </a:p>
        </p:txBody>
      </p:sp>
      <p:sp>
        <p:nvSpPr>
          <p:cNvPr id="23" name="Rounded Rectangle 22"/>
          <p:cNvSpPr/>
          <p:nvPr/>
        </p:nvSpPr>
        <p:spPr>
          <a:xfrm>
            <a:off x="6894575" y="2286000"/>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PostgreSQL</a:t>
            </a:r>
          </a:p>
          <a:p>
            <a:pPr algn="ctr">
              <a:spcBef>
                <a:spcPts val="200"/>
              </a:spcBef>
            </a:pPr>
            <a:r>
              <a:rPr sz="750">
                <a:solidFill>
                  <a:srgbClr val="0B0F14"/>
                </a:solidFill>
                <a:latin typeface="Calibri"/>
              </a:rPr>
              <a:t>Row Level Security on every table</a:t>
            </a:r>
          </a:p>
        </p:txBody>
      </p:sp>
      <p:sp>
        <p:nvSpPr>
          <p:cNvPr id="24" name="Rounded Rectangle 23"/>
          <p:cNvSpPr/>
          <p:nvPr/>
        </p:nvSpPr>
        <p:spPr>
          <a:xfrm>
            <a:off x="6894575" y="2706624"/>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Edge Functions</a:t>
            </a:r>
          </a:p>
          <a:p>
            <a:pPr algn="ctr">
              <a:spcBef>
                <a:spcPts val="200"/>
              </a:spcBef>
            </a:pPr>
            <a:r>
              <a:rPr sz="750">
                <a:solidFill>
                  <a:srgbClr val="0B0F14"/>
                </a:solidFill>
                <a:latin typeface="Calibri"/>
              </a:rPr>
              <a:t>ask-gemini · delete-account</a:t>
            </a:r>
          </a:p>
        </p:txBody>
      </p:sp>
      <p:sp>
        <p:nvSpPr>
          <p:cNvPr id="25" name="Left-Right Arrow 24"/>
          <p:cNvSpPr/>
          <p:nvPr/>
        </p:nvSpPr>
        <p:spPr>
          <a:xfrm>
            <a:off x="6291072" y="4041648"/>
            <a:ext cx="292608" cy="164592"/>
          </a:xfrm>
          <a:prstGeom prst="lef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0" y="3785616"/>
            <a:ext cx="1051560" cy="219456"/>
          </a:xfrm>
          <a:prstGeom prst="rect">
            <a:avLst/>
          </a:prstGeom>
          <a:noFill/>
        </p:spPr>
        <p:txBody>
          <a:bodyPr wrap="square" lIns="0" rIns="0" tIns="0" bIns="0" anchor="t">
            <a:spAutoFit/>
          </a:bodyPr>
          <a:lstStyle/>
          <a:p>
            <a:pPr algn="ctr">
              <a:lnSpc>
                <a:spcPct val="100000"/>
              </a:lnSpc>
            </a:pPr>
            <a:r>
              <a:rPr sz="800" b="0" i="0">
                <a:solidFill>
                  <a:srgbClr val="6B7684"/>
                </a:solidFill>
                <a:latin typeface="Calibri"/>
              </a:rPr>
              <a:t>sync engine</a:t>
            </a:r>
          </a:p>
        </p:txBody>
      </p:sp>
      <p:sp>
        <p:nvSpPr>
          <p:cNvPr id="27" name="TextBox 26"/>
          <p:cNvSpPr txBox="1"/>
          <p:nvPr/>
        </p:nvSpPr>
        <p:spPr>
          <a:xfrm>
            <a:off x="6656831" y="3310128"/>
            <a:ext cx="4876495"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NINE LOCAL TABLES, EIGHT SYNCHRONISED</a:t>
            </a:r>
          </a:p>
        </p:txBody>
      </p:sp>
      <p:sp>
        <p:nvSpPr>
          <p:cNvPr id="28" name="Rounded Rectangle 27"/>
          <p:cNvSpPr/>
          <p:nvPr/>
        </p:nvSpPr>
        <p:spPr>
          <a:xfrm>
            <a:off x="6656831"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6559"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trackers</a:t>
            </a:r>
          </a:p>
        </p:txBody>
      </p:sp>
      <p:sp>
        <p:nvSpPr>
          <p:cNvPr id="30" name="Rounded Rectangle 29"/>
          <p:cNvSpPr/>
          <p:nvPr/>
        </p:nvSpPr>
        <p:spPr>
          <a:xfrm>
            <a:off x="8318906"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28634"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subjects</a:t>
            </a:r>
          </a:p>
        </p:txBody>
      </p:sp>
      <p:sp>
        <p:nvSpPr>
          <p:cNvPr id="32" name="Rounded Rectangle 31"/>
          <p:cNvSpPr/>
          <p:nvPr/>
        </p:nvSpPr>
        <p:spPr>
          <a:xfrm>
            <a:off x="9980980"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090708"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chapters</a:t>
            </a:r>
          </a:p>
        </p:txBody>
      </p:sp>
      <p:sp>
        <p:nvSpPr>
          <p:cNvPr id="34" name="Rounded Rectangle 33"/>
          <p:cNvSpPr/>
          <p:nvPr/>
        </p:nvSpPr>
        <p:spPr>
          <a:xfrm>
            <a:off x="6656831"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766559"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topics</a:t>
            </a:r>
          </a:p>
        </p:txBody>
      </p:sp>
      <p:sp>
        <p:nvSpPr>
          <p:cNvPr id="36" name="Rounded Rectangle 35"/>
          <p:cNvSpPr/>
          <p:nvPr/>
        </p:nvSpPr>
        <p:spPr>
          <a:xfrm>
            <a:off x="8318906"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28634"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subtopics</a:t>
            </a:r>
          </a:p>
        </p:txBody>
      </p:sp>
      <p:sp>
        <p:nvSpPr>
          <p:cNvPr id="38" name="Rounded Rectangle 37"/>
          <p:cNvSpPr/>
          <p:nvPr/>
        </p:nvSpPr>
        <p:spPr>
          <a:xfrm>
            <a:off x="9980980"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090708"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flashcards</a:t>
            </a:r>
          </a:p>
        </p:txBody>
      </p:sp>
      <p:sp>
        <p:nvSpPr>
          <p:cNvPr id="40" name="Rounded Rectangle 39"/>
          <p:cNvSpPr/>
          <p:nvPr/>
        </p:nvSpPr>
        <p:spPr>
          <a:xfrm>
            <a:off x="6656831" y="4389120"/>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766559" y="4453128"/>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study_sessions</a:t>
            </a:r>
          </a:p>
        </p:txBody>
      </p:sp>
      <p:sp>
        <p:nvSpPr>
          <p:cNvPr id="42" name="Rounded Rectangle 41"/>
          <p:cNvSpPr/>
          <p:nvPr/>
        </p:nvSpPr>
        <p:spPr>
          <a:xfrm>
            <a:off x="8318906" y="4389120"/>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428634" y="4453128"/>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reminders</a:t>
            </a:r>
          </a:p>
        </p:txBody>
      </p:sp>
      <p:sp>
        <p:nvSpPr>
          <p:cNvPr id="44" name="Rounded Rectangle 43"/>
          <p:cNvSpPr/>
          <p:nvPr/>
        </p:nvSpPr>
        <p:spPr>
          <a:xfrm>
            <a:off x="9980980" y="4389120"/>
            <a:ext cx="1552346" cy="310896"/>
          </a:xfrm>
          <a:prstGeom prst="roundRect">
            <a:avLst>
              <a:gd name="adj" fmla="val 8000"/>
            </a:avLst>
          </a:prstGeom>
          <a:solidFill>
            <a:srgbClr val="F0F3F8"/>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090708" y="4453128"/>
            <a:ext cx="1332890" cy="201168"/>
          </a:xfrm>
          <a:prstGeom prst="rect">
            <a:avLst/>
          </a:prstGeom>
          <a:noFill/>
        </p:spPr>
        <p:txBody>
          <a:bodyPr wrap="square" lIns="0" rIns="0" tIns="0" bIns="0" anchor="t">
            <a:spAutoFit/>
          </a:bodyPr>
          <a:lstStyle/>
          <a:p>
            <a:pPr algn="l">
              <a:lnSpc>
                <a:spcPct val="100000"/>
              </a:lnSpc>
            </a:pPr>
            <a:r>
              <a:rPr sz="850" b="1" i="0">
                <a:solidFill>
                  <a:srgbClr val="6B7684"/>
                </a:solidFill>
                <a:latin typeface="Consolas"/>
              </a:rPr>
              <a:t>preferences</a:t>
            </a:r>
          </a:p>
        </p:txBody>
      </p:sp>
      <p:sp>
        <p:nvSpPr>
          <p:cNvPr id="46" name="Rounded Rectangle 45"/>
          <p:cNvSpPr/>
          <p:nvPr/>
        </p:nvSpPr>
        <p:spPr>
          <a:xfrm>
            <a:off x="658368" y="4864608"/>
            <a:ext cx="10874959" cy="676656"/>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5010912"/>
            <a:ext cx="10326319" cy="420624"/>
          </a:xfrm>
          <a:prstGeom prst="rect">
            <a:avLst/>
          </a:prstGeom>
          <a:noFill/>
        </p:spPr>
        <p:txBody>
          <a:bodyPr wrap="square" lIns="0" rIns="0" tIns="0" bIns="0" anchor="t">
            <a:spAutoFit/>
          </a:bodyPr>
          <a:lstStyle/>
          <a:p>
            <a:pPr algn="l">
              <a:lnSpc>
                <a:spcPct val="118000"/>
              </a:lnSpc>
            </a:pPr>
            <a:r>
              <a:rPr sz="1100" b="0" i="0">
                <a:solidFill>
                  <a:srgbClr val="4A5568"/>
                </a:solidFill>
                <a:latin typeface="Calibri"/>
              </a:rPr>
              <a:t>Soft references: study sessions and flashcards carry no foreign key to the syllabus — only ids plus a name snapshot. Deleting a subject must not shrink “total time studied”; the student really did spend that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ISOLATION ENFORCED AT THE DATABASE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Authentication and Security</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16</a:t>
            </a:r>
          </a:p>
        </p:txBody>
      </p:sp>
      <p:sp>
        <p:nvSpPr>
          <p:cNvPr id="8" name="Rounded Rectangle 7"/>
          <p:cNvSpPr/>
          <p:nvPr/>
        </p:nvSpPr>
        <p:spPr>
          <a:xfrm>
            <a:off x="658368"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Email + password</a:t>
            </a:r>
          </a:p>
        </p:txBody>
      </p:sp>
      <p:sp>
        <p:nvSpPr>
          <p:cNvPr id="10" name="TextBox 9"/>
          <p:cNvSpPr txBox="1"/>
          <p:nvPr/>
        </p:nvSpPr>
        <p:spPr>
          <a:xfrm>
            <a:off x="859536" y="1810512"/>
            <a:ext cx="2202103" cy="237744"/>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Implemented</a:t>
            </a:r>
          </a:p>
        </p:txBody>
      </p:sp>
      <p:sp>
        <p:nvSpPr>
          <p:cNvPr id="11" name="Rounded Rectangle 10"/>
          <p:cNvSpPr/>
          <p:nvPr/>
        </p:nvSpPr>
        <p:spPr>
          <a:xfrm>
            <a:off x="3427399"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28567"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Google OAuth</a:t>
            </a:r>
          </a:p>
        </p:txBody>
      </p:sp>
      <p:sp>
        <p:nvSpPr>
          <p:cNvPr id="13" name="TextBox 12"/>
          <p:cNvSpPr txBox="1"/>
          <p:nvPr/>
        </p:nvSpPr>
        <p:spPr>
          <a:xfrm>
            <a:off x="3628567" y="1810512"/>
            <a:ext cx="2202103" cy="237744"/>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PKCE via system browser</a:t>
            </a:r>
          </a:p>
        </p:txBody>
      </p:sp>
      <p:sp>
        <p:nvSpPr>
          <p:cNvPr id="14" name="Rounded Rectangle 13"/>
          <p:cNvSpPr/>
          <p:nvPr/>
        </p:nvSpPr>
        <p:spPr>
          <a:xfrm>
            <a:off x="6196431"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97599"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Phone OTP</a:t>
            </a:r>
          </a:p>
        </p:txBody>
      </p:sp>
      <p:sp>
        <p:nvSpPr>
          <p:cNvPr id="16" name="TextBox 15"/>
          <p:cNvSpPr txBox="1"/>
          <p:nvPr/>
        </p:nvSpPr>
        <p:spPr>
          <a:xfrm>
            <a:off x="6397599" y="1810512"/>
            <a:ext cx="2202103" cy="237744"/>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Behind a feature flag</a:t>
            </a:r>
          </a:p>
        </p:txBody>
      </p:sp>
      <p:sp>
        <p:nvSpPr>
          <p:cNvPr id="17" name="Rounded Rectangle 16"/>
          <p:cNvSpPr/>
          <p:nvPr/>
        </p:nvSpPr>
        <p:spPr>
          <a:xfrm>
            <a:off x="8965463"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66631"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Guest mode</a:t>
            </a:r>
          </a:p>
        </p:txBody>
      </p:sp>
      <p:sp>
        <p:nvSpPr>
          <p:cNvPr id="19" name="TextBox 18"/>
          <p:cNvSpPr txBox="1"/>
          <p:nvPr/>
        </p:nvSpPr>
        <p:spPr>
          <a:xfrm>
            <a:off x="9166631" y="1810512"/>
            <a:ext cx="2202103"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Local only; no AI</a:t>
            </a:r>
          </a:p>
        </p:txBody>
      </p:sp>
      <p:sp>
        <p:nvSpPr>
          <p:cNvPr id="20" name="Rounded Rectangle 19"/>
          <p:cNvSpPr/>
          <p:nvPr/>
        </p:nvSpPr>
        <p:spPr>
          <a:xfrm>
            <a:off x="658368" y="2395728"/>
            <a:ext cx="5669280" cy="2212848"/>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2578608"/>
            <a:ext cx="5120640"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ROW LEVEL SECURITY</a:t>
            </a:r>
          </a:p>
        </p:txBody>
      </p:sp>
      <p:sp>
        <p:nvSpPr>
          <p:cNvPr id="22" name="Oval 21"/>
          <p:cNvSpPr/>
          <p:nvPr/>
        </p:nvSpPr>
        <p:spPr>
          <a:xfrm>
            <a:off x="932688" y="2999232"/>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33856" y="2907792"/>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Enabled AND forced on every table — forcing applies policies to the owner too</a:t>
            </a:r>
          </a:p>
        </p:txBody>
      </p:sp>
      <p:sp>
        <p:nvSpPr>
          <p:cNvPr id="24" name="Oval 23"/>
          <p:cNvSpPr/>
          <p:nvPr/>
        </p:nvSpPr>
        <p:spPr>
          <a:xfrm>
            <a:off x="932688" y="3511296"/>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33856" y="3419856"/>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Policies for select, insert and update, each scoped to auth.uid()</a:t>
            </a:r>
          </a:p>
        </p:txBody>
      </p:sp>
      <p:sp>
        <p:nvSpPr>
          <p:cNvPr id="26" name="Oval 25"/>
          <p:cNvSpPr/>
          <p:nvPr/>
        </p:nvSpPr>
        <p:spPr>
          <a:xfrm>
            <a:off x="932688" y="4023360"/>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3856" y="3931920"/>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No delete policy anywhere — deletion is by tombstone, enforced at the database</a:t>
            </a:r>
          </a:p>
        </p:txBody>
      </p:sp>
      <p:sp>
        <p:nvSpPr>
          <p:cNvPr id="28" name="Rounded Rectangle 27"/>
          <p:cNvSpPr/>
          <p:nvPr/>
        </p:nvSpPr>
        <p:spPr>
          <a:xfrm>
            <a:off x="6565392" y="2395728"/>
            <a:ext cx="496793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766559" y="261518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9440" y="2569464"/>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Supabase anon key</a:t>
            </a:r>
          </a:p>
        </p:txBody>
      </p:sp>
      <p:sp>
        <p:nvSpPr>
          <p:cNvPr id="31" name="TextBox 30"/>
          <p:cNvSpPr txBox="1"/>
          <p:nvPr/>
        </p:nvSpPr>
        <p:spPr>
          <a:xfrm>
            <a:off x="6784848" y="2962656"/>
            <a:ext cx="4529023" cy="-73152"/>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In the bundle — correct. Publishable and bounded entirely by RLS.</a:t>
            </a:r>
          </a:p>
        </p:txBody>
      </p:sp>
      <p:sp>
        <p:nvSpPr>
          <p:cNvPr id="32" name="Rounded Rectangle 31"/>
          <p:cNvSpPr/>
          <p:nvPr/>
        </p:nvSpPr>
        <p:spPr>
          <a:xfrm>
            <a:off x="6565392" y="3145536"/>
            <a:ext cx="496793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766559" y="3364991"/>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9440" y="3319272"/>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Service-role key</a:t>
            </a:r>
          </a:p>
        </p:txBody>
      </p:sp>
      <p:sp>
        <p:nvSpPr>
          <p:cNvPr id="35" name="TextBox 34"/>
          <p:cNvSpPr txBox="1"/>
          <p:nvPr/>
        </p:nvSpPr>
        <p:spPr>
          <a:xfrm>
            <a:off x="6784848" y="3712463"/>
            <a:ext cx="4529023" cy="-73152"/>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Server-side only, inside the delete-account Edge Function.</a:t>
            </a:r>
          </a:p>
        </p:txBody>
      </p:sp>
      <p:sp>
        <p:nvSpPr>
          <p:cNvPr id="36" name="Rounded Rectangle 35"/>
          <p:cNvSpPr/>
          <p:nvPr/>
        </p:nvSpPr>
        <p:spPr>
          <a:xfrm>
            <a:off x="6565392" y="3895344"/>
            <a:ext cx="496793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766559" y="4114800"/>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9440" y="4069080"/>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Gemini API key</a:t>
            </a:r>
          </a:p>
        </p:txBody>
      </p:sp>
      <p:sp>
        <p:nvSpPr>
          <p:cNvPr id="39" name="TextBox 38"/>
          <p:cNvSpPr txBox="1"/>
          <p:nvPr/>
        </p:nvSpPr>
        <p:spPr>
          <a:xfrm>
            <a:off x="6784848" y="4462272"/>
            <a:ext cx="4529023" cy="-73152"/>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Server-side only, read from a Supabase secret.</a:t>
            </a:r>
          </a:p>
        </p:txBody>
      </p:sp>
      <p:sp>
        <p:nvSpPr>
          <p:cNvPr id="40" name="Rounded Rectangle 39"/>
          <p:cNvSpPr/>
          <p:nvPr/>
        </p:nvSpPr>
        <p:spPr>
          <a:xfrm>
            <a:off x="658368" y="4791456"/>
            <a:ext cx="10874959" cy="640080"/>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32688" y="4965192"/>
            <a:ext cx="10326319" cy="329184"/>
          </a:xfrm>
          <a:prstGeom prst="rect">
            <a:avLst/>
          </a:prstGeom>
          <a:noFill/>
        </p:spPr>
        <p:txBody>
          <a:bodyPr wrap="square" lIns="0" rIns="0" tIns="0" bIns="0" anchor="t">
            <a:spAutoFit/>
          </a:bodyPr>
          <a:lstStyle/>
          <a:p>
            <a:pPr algn="l">
              <a:lnSpc>
                <a:spcPct val="100000"/>
              </a:lnSpc>
            </a:pPr>
            <a:r>
              <a:rPr sz="1150" b="0" i="0">
                <a:solidFill>
                  <a:srgbClr val="991B1B"/>
                </a:solidFill>
                <a:latin typeface="Calibri"/>
              </a:rPr>
              <a:t>Known limitation: the local SQLite database is not encrypted, and the AI rate limit is in-memory per instance rather than a durable quota.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AS BUILT, WITH VERSIONS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Technology Stack</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17</a:t>
            </a:r>
          </a:p>
        </p:txBody>
      </p:sp>
      <p:sp>
        <p:nvSpPr>
          <p:cNvPr id="8" name="Rounded Rectangle 7"/>
          <p:cNvSpPr/>
          <p:nvPr/>
        </p:nvSpPr>
        <p:spPr>
          <a:xfrm>
            <a:off x="658368"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389888"/>
            <a:ext cx="2554147"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Language &amp; Frontend</a:t>
            </a:r>
          </a:p>
        </p:txBody>
      </p:sp>
      <p:sp>
        <p:nvSpPr>
          <p:cNvPr id="11" name="TextBox 10"/>
          <p:cNvSpPr txBox="1"/>
          <p:nvPr/>
        </p:nvSpPr>
        <p:spPr>
          <a:xfrm>
            <a:off x="859536"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TypeScript</a:t>
            </a:r>
          </a:p>
        </p:txBody>
      </p:sp>
      <p:sp>
        <p:nvSpPr>
          <p:cNvPr id="12" name="TextBox 11"/>
          <p:cNvSpPr txBox="1"/>
          <p:nvPr/>
        </p:nvSpPr>
        <p:spPr>
          <a:xfrm>
            <a:off x="859536"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strict, everywhere</a:t>
            </a:r>
          </a:p>
        </p:txBody>
      </p:sp>
      <p:sp>
        <p:nvSpPr>
          <p:cNvPr id="13" name="TextBox 12"/>
          <p:cNvSpPr txBox="1"/>
          <p:nvPr/>
        </p:nvSpPr>
        <p:spPr>
          <a:xfrm>
            <a:off x="859536"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React Native 0.86</a:t>
            </a:r>
          </a:p>
        </p:txBody>
      </p:sp>
      <p:sp>
        <p:nvSpPr>
          <p:cNvPr id="14" name="TextBox 13"/>
          <p:cNvSpPr txBox="1"/>
          <p:nvPr/>
        </p:nvSpPr>
        <p:spPr>
          <a:xfrm>
            <a:off x="859536"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Android primary</a:t>
            </a:r>
          </a:p>
        </p:txBody>
      </p:sp>
      <p:sp>
        <p:nvSpPr>
          <p:cNvPr id="15" name="TextBox 14"/>
          <p:cNvSpPr txBox="1"/>
          <p:nvPr/>
        </p:nvSpPr>
        <p:spPr>
          <a:xfrm>
            <a:off x="859536"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Expo SDK 57</a:t>
            </a:r>
          </a:p>
        </p:txBody>
      </p:sp>
      <p:sp>
        <p:nvSpPr>
          <p:cNvPr id="16" name="TextBox 15"/>
          <p:cNvSpPr txBox="1"/>
          <p:nvPr/>
        </p:nvSpPr>
        <p:spPr>
          <a:xfrm>
            <a:off x="859536"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runtime &amp; build</a:t>
            </a:r>
          </a:p>
        </p:txBody>
      </p:sp>
      <p:sp>
        <p:nvSpPr>
          <p:cNvPr id="17" name="TextBox 16"/>
          <p:cNvSpPr txBox="1"/>
          <p:nvPr/>
        </p:nvSpPr>
        <p:spPr>
          <a:xfrm>
            <a:off x="859536"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Expo Router</a:t>
            </a:r>
          </a:p>
        </p:txBody>
      </p:sp>
      <p:sp>
        <p:nvSpPr>
          <p:cNvPr id="18" name="TextBox 17"/>
          <p:cNvSpPr txBox="1"/>
          <p:nvPr/>
        </p:nvSpPr>
        <p:spPr>
          <a:xfrm>
            <a:off x="859536"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file-based routing</a:t>
            </a:r>
          </a:p>
        </p:txBody>
      </p:sp>
      <p:sp>
        <p:nvSpPr>
          <p:cNvPr id="19" name="TextBox 18"/>
          <p:cNvSpPr txBox="1"/>
          <p:nvPr/>
        </p:nvSpPr>
        <p:spPr>
          <a:xfrm>
            <a:off x="859536" y="3675888"/>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Zustand 5</a:t>
            </a:r>
          </a:p>
        </p:txBody>
      </p:sp>
      <p:sp>
        <p:nvSpPr>
          <p:cNvPr id="20" name="TextBox 19"/>
          <p:cNvSpPr txBox="1"/>
          <p:nvPr/>
        </p:nvSpPr>
        <p:spPr>
          <a:xfrm>
            <a:off x="859536" y="3858768"/>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state management</a:t>
            </a:r>
          </a:p>
        </p:txBody>
      </p:sp>
      <p:sp>
        <p:nvSpPr>
          <p:cNvPr id="21" name="TextBox 20"/>
          <p:cNvSpPr txBox="1"/>
          <p:nvPr/>
        </p:nvSpPr>
        <p:spPr>
          <a:xfrm>
            <a:off x="859536" y="409651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NativeWind</a:t>
            </a:r>
          </a:p>
        </p:txBody>
      </p:sp>
      <p:sp>
        <p:nvSpPr>
          <p:cNvPr id="22" name="TextBox 21"/>
          <p:cNvSpPr txBox="1"/>
          <p:nvPr/>
        </p:nvSpPr>
        <p:spPr>
          <a:xfrm>
            <a:off x="859536" y="427939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styling</a:t>
            </a:r>
          </a:p>
        </p:txBody>
      </p:sp>
      <p:sp>
        <p:nvSpPr>
          <p:cNvPr id="23" name="Rounded Rectangle 22"/>
          <p:cNvSpPr/>
          <p:nvPr/>
        </p:nvSpPr>
        <p:spPr>
          <a:xfrm>
            <a:off x="3431971"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431971" y="1389888"/>
            <a:ext cx="2554147"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Data Layer</a:t>
            </a:r>
          </a:p>
        </p:txBody>
      </p:sp>
      <p:sp>
        <p:nvSpPr>
          <p:cNvPr id="26" name="TextBox 25"/>
          <p:cNvSpPr txBox="1"/>
          <p:nvPr/>
        </p:nvSpPr>
        <p:spPr>
          <a:xfrm>
            <a:off x="3633139"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SQLite</a:t>
            </a:r>
          </a:p>
        </p:txBody>
      </p:sp>
      <p:sp>
        <p:nvSpPr>
          <p:cNvPr id="27" name="TextBox 26"/>
          <p:cNvSpPr txBox="1"/>
          <p:nvPr/>
        </p:nvSpPr>
        <p:spPr>
          <a:xfrm>
            <a:off x="3633139"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expo-sqlite on device</a:t>
            </a:r>
          </a:p>
        </p:txBody>
      </p:sp>
      <p:sp>
        <p:nvSpPr>
          <p:cNvPr id="28" name="TextBox 27"/>
          <p:cNvSpPr txBox="1"/>
          <p:nvPr/>
        </p:nvSpPr>
        <p:spPr>
          <a:xfrm>
            <a:off x="3633139"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sql.js (WASM)</a:t>
            </a:r>
          </a:p>
        </p:txBody>
      </p:sp>
      <p:sp>
        <p:nvSpPr>
          <p:cNvPr id="29" name="TextBox 28"/>
          <p:cNvSpPr txBox="1"/>
          <p:nvPr/>
        </p:nvSpPr>
        <p:spPr>
          <a:xfrm>
            <a:off x="3633139"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in the browser</a:t>
            </a:r>
          </a:p>
        </p:txBody>
      </p:sp>
      <p:sp>
        <p:nvSpPr>
          <p:cNvPr id="30" name="TextBox 29"/>
          <p:cNvSpPr txBox="1"/>
          <p:nvPr/>
        </p:nvSpPr>
        <p:spPr>
          <a:xfrm>
            <a:off x="3633139"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Drizzle ORM 0.45</a:t>
            </a:r>
          </a:p>
        </p:txBody>
      </p:sp>
      <p:sp>
        <p:nvSpPr>
          <p:cNvPr id="31" name="TextBox 30"/>
          <p:cNvSpPr txBox="1"/>
          <p:nvPr/>
        </p:nvSpPr>
        <p:spPr>
          <a:xfrm>
            <a:off x="3633139"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typed schema &amp; queries</a:t>
            </a:r>
          </a:p>
        </p:txBody>
      </p:sp>
      <p:sp>
        <p:nvSpPr>
          <p:cNvPr id="32" name="TextBox 31"/>
          <p:cNvSpPr txBox="1"/>
          <p:nvPr/>
        </p:nvSpPr>
        <p:spPr>
          <a:xfrm>
            <a:off x="3633139"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PostgreSQL</a:t>
            </a:r>
          </a:p>
        </p:txBody>
      </p:sp>
      <p:sp>
        <p:nvSpPr>
          <p:cNvPr id="33" name="TextBox 32"/>
          <p:cNvSpPr txBox="1"/>
          <p:nvPr/>
        </p:nvSpPr>
        <p:spPr>
          <a:xfrm>
            <a:off x="3633139"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cloud, with RLS</a:t>
            </a:r>
          </a:p>
        </p:txBody>
      </p:sp>
      <p:sp>
        <p:nvSpPr>
          <p:cNvPr id="34" name="Rounded Rectangle 33"/>
          <p:cNvSpPr/>
          <p:nvPr/>
        </p:nvSpPr>
        <p:spPr>
          <a:xfrm>
            <a:off x="6205575"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205575" y="1389888"/>
            <a:ext cx="2554147" cy="5029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6743"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Backend &amp; AI</a:t>
            </a:r>
          </a:p>
        </p:txBody>
      </p:sp>
      <p:sp>
        <p:nvSpPr>
          <p:cNvPr id="37" name="TextBox 36"/>
          <p:cNvSpPr txBox="1"/>
          <p:nvPr/>
        </p:nvSpPr>
        <p:spPr>
          <a:xfrm>
            <a:off x="6406743"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Supabase</a:t>
            </a:r>
          </a:p>
        </p:txBody>
      </p:sp>
      <p:sp>
        <p:nvSpPr>
          <p:cNvPr id="38" name="TextBox 37"/>
          <p:cNvSpPr txBox="1"/>
          <p:nvPr/>
        </p:nvSpPr>
        <p:spPr>
          <a:xfrm>
            <a:off x="6406743"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the backend platform</a:t>
            </a:r>
          </a:p>
        </p:txBody>
      </p:sp>
      <p:sp>
        <p:nvSpPr>
          <p:cNvPr id="39" name="TextBox 38"/>
          <p:cNvSpPr txBox="1"/>
          <p:nvPr/>
        </p:nvSpPr>
        <p:spPr>
          <a:xfrm>
            <a:off x="6406743"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Supabase Auth</a:t>
            </a:r>
          </a:p>
        </p:txBody>
      </p:sp>
      <p:sp>
        <p:nvSpPr>
          <p:cNvPr id="40" name="TextBox 39"/>
          <p:cNvSpPr txBox="1"/>
          <p:nvPr/>
        </p:nvSpPr>
        <p:spPr>
          <a:xfrm>
            <a:off x="6406743"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authentication</a:t>
            </a:r>
          </a:p>
        </p:txBody>
      </p:sp>
      <p:sp>
        <p:nvSpPr>
          <p:cNvPr id="41" name="TextBox 40"/>
          <p:cNvSpPr txBox="1"/>
          <p:nvPr/>
        </p:nvSpPr>
        <p:spPr>
          <a:xfrm>
            <a:off x="6406743"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Edge Functions</a:t>
            </a:r>
          </a:p>
        </p:txBody>
      </p:sp>
      <p:sp>
        <p:nvSpPr>
          <p:cNvPr id="42" name="TextBox 41"/>
          <p:cNvSpPr txBox="1"/>
          <p:nvPr/>
        </p:nvSpPr>
        <p:spPr>
          <a:xfrm>
            <a:off x="6406743"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Deno runtime</a:t>
            </a:r>
          </a:p>
        </p:txBody>
      </p:sp>
      <p:sp>
        <p:nvSpPr>
          <p:cNvPr id="43" name="TextBox 42"/>
          <p:cNvSpPr txBox="1"/>
          <p:nvPr/>
        </p:nvSpPr>
        <p:spPr>
          <a:xfrm>
            <a:off x="6406743"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Google Gemini</a:t>
            </a:r>
          </a:p>
        </p:txBody>
      </p:sp>
      <p:sp>
        <p:nvSpPr>
          <p:cNvPr id="44" name="TextBox 43"/>
          <p:cNvSpPr txBox="1"/>
          <p:nvPr/>
        </p:nvSpPr>
        <p:spPr>
          <a:xfrm>
            <a:off x="6406743"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gemini-3.6-flash</a:t>
            </a:r>
          </a:p>
        </p:txBody>
      </p:sp>
      <p:sp>
        <p:nvSpPr>
          <p:cNvPr id="45" name="Rounded Rectangle 44"/>
          <p:cNvSpPr/>
          <p:nvPr/>
        </p:nvSpPr>
        <p:spPr>
          <a:xfrm>
            <a:off x="8979179"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8979179" y="1389888"/>
            <a:ext cx="2554147"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0347"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Build &amp; Tooling</a:t>
            </a:r>
          </a:p>
        </p:txBody>
      </p:sp>
      <p:sp>
        <p:nvSpPr>
          <p:cNvPr id="48" name="TextBox 47"/>
          <p:cNvSpPr txBox="1"/>
          <p:nvPr/>
        </p:nvSpPr>
        <p:spPr>
          <a:xfrm>
            <a:off x="9180347"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EAS Build</a:t>
            </a:r>
          </a:p>
        </p:txBody>
      </p:sp>
      <p:sp>
        <p:nvSpPr>
          <p:cNvPr id="49" name="TextBox 48"/>
          <p:cNvSpPr txBox="1"/>
          <p:nvPr/>
        </p:nvSpPr>
        <p:spPr>
          <a:xfrm>
            <a:off x="9180347"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Android APK</a:t>
            </a:r>
          </a:p>
        </p:txBody>
      </p:sp>
      <p:sp>
        <p:nvSpPr>
          <p:cNvPr id="50" name="TextBox 49"/>
          <p:cNvSpPr txBox="1"/>
          <p:nvPr/>
        </p:nvSpPr>
        <p:spPr>
          <a:xfrm>
            <a:off x="9180347"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GitHub Actions</a:t>
            </a:r>
          </a:p>
        </p:txBody>
      </p:sp>
      <p:sp>
        <p:nvSpPr>
          <p:cNvPr id="51" name="TextBox 50"/>
          <p:cNvSpPr txBox="1"/>
          <p:nvPr/>
        </p:nvSpPr>
        <p:spPr>
          <a:xfrm>
            <a:off x="9180347"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CI on every PR</a:t>
            </a:r>
          </a:p>
        </p:txBody>
      </p:sp>
      <p:sp>
        <p:nvSpPr>
          <p:cNvPr id="52" name="TextBox 51"/>
          <p:cNvSpPr txBox="1"/>
          <p:nvPr/>
        </p:nvSpPr>
        <p:spPr>
          <a:xfrm>
            <a:off x="9180347"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Jest · Vitest · Deno</a:t>
            </a:r>
          </a:p>
        </p:txBody>
      </p:sp>
      <p:sp>
        <p:nvSpPr>
          <p:cNvPr id="53" name="TextBox 52"/>
          <p:cNvSpPr txBox="1"/>
          <p:nvPr/>
        </p:nvSpPr>
        <p:spPr>
          <a:xfrm>
            <a:off x="9180347"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test runners</a:t>
            </a:r>
          </a:p>
        </p:txBody>
      </p:sp>
      <p:sp>
        <p:nvSpPr>
          <p:cNvPr id="54" name="TextBox 53"/>
          <p:cNvSpPr txBox="1"/>
          <p:nvPr/>
        </p:nvSpPr>
        <p:spPr>
          <a:xfrm>
            <a:off x="9180347"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Node.js 22 · pnpm</a:t>
            </a:r>
          </a:p>
        </p:txBody>
      </p:sp>
      <p:sp>
        <p:nvSpPr>
          <p:cNvPr id="55" name="TextBox 54"/>
          <p:cNvSpPr txBox="1"/>
          <p:nvPr/>
        </p:nvSpPr>
        <p:spPr>
          <a:xfrm>
            <a:off x="9180347"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toolchain only</a:t>
            </a:r>
          </a:p>
        </p:txBody>
      </p:sp>
      <p:sp>
        <p:nvSpPr>
          <p:cNvPr id="56" name="Rounded Rectangle 55"/>
          <p:cNvSpPr/>
          <p:nvPr/>
        </p:nvSpPr>
        <p:spPr>
          <a:xfrm>
            <a:off x="658368" y="4809744"/>
            <a:ext cx="10874959" cy="713232"/>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32688" y="4956048"/>
            <a:ext cx="10326319" cy="457200"/>
          </a:xfrm>
          <a:prstGeom prst="rect">
            <a:avLst/>
          </a:prstGeom>
          <a:noFill/>
        </p:spPr>
        <p:txBody>
          <a:bodyPr wrap="square" lIns="0" rIns="0" tIns="0" bIns="0" anchor="t">
            <a:spAutoFit/>
          </a:bodyPr>
          <a:lstStyle/>
          <a:p>
            <a:pPr algn="l">
              <a:lnSpc>
                <a:spcPct val="118000"/>
              </a:lnSpc>
            </a:pPr>
            <a:r>
              <a:rPr sz="1150" b="0" i="0">
                <a:solidFill>
                  <a:srgbClr val="78350F"/>
                </a:solidFill>
                <a:latin typeface="Calibri"/>
              </a:rPr>
              <a:t>Terminology: Node.js is our development toolchain — it runs the bundler, the test runners and the formatter. It is not this project's backend; there is no Node server in the repository. Supabase is the backend.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EVIDENCE THAT IT WORKS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Testing and Validation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18</a:t>
            </a:r>
          </a:p>
        </p:txBody>
      </p:sp>
      <p:sp>
        <p:nvSpPr>
          <p:cNvPr id="8" name="Rounded Rectangle 7"/>
          <p:cNvSpPr/>
          <p:nvPr/>
        </p:nvSpPr>
        <p:spPr>
          <a:xfrm>
            <a:off x="658368"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536192"/>
            <a:ext cx="2115235" cy="475488"/>
          </a:xfrm>
          <a:prstGeom prst="rect">
            <a:avLst/>
          </a:prstGeom>
          <a:noFill/>
        </p:spPr>
        <p:txBody>
          <a:bodyPr wrap="square" lIns="0" rIns="0" tIns="0" bIns="0" anchor="t">
            <a:spAutoFit/>
          </a:bodyPr>
          <a:lstStyle/>
          <a:p>
            <a:pPr algn="l">
              <a:lnSpc>
                <a:spcPct val="100000"/>
              </a:lnSpc>
            </a:pPr>
            <a:r>
              <a:rPr sz="3000" b="1" i="0">
                <a:solidFill>
                  <a:srgbClr val="3B82F6"/>
                </a:solidFill>
                <a:latin typeface="Calibri"/>
              </a:rPr>
              <a:t>1,799</a:t>
            </a:r>
          </a:p>
        </p:txBody>
      </p:sp>
      <p:sp>
        <p:nvSpPr>
          <p:cNvPr id="10" name="TextBox 9"/>
          <p:cNvSpPr txBox="1"/>
          <p:nvPr/>
        </p:nvSpPr>
        <p:spPr>
          <a:xfrm>
            <a:off x="877824"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tests passing</a:t>
            </a:r>
          </a:p>
        </p:txBody>
      </p:sp>
      <p:sp>
        <p:nvSpPr>
          <p:cNvPr id="11" name="Rounded Rectangle 10"/>
          <p:cNvSpPr/>
          <p:nvPr/>
        </p:nvSpPr>
        <p:spPr>
          <a:xfrm>
            <a:off x="3431971"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1427" y="1536192"/>
            <a:ext cx="2115235" cy="475488"/>
          </a:xfrm>
          <a:prstGeom prst="rect">
            <a:avLst/>
          </a:prstGeom>
          <a:noFill/>
        </p:spPr>
        <p:txBody>
          <a:bodyPr wrap="square" lIns="0" rIns="0" tIns="0" bIns="0" anchor="t">
            <a:spAutoFit/>
          </a:bodyPr>
          <a:lstStyle/>
          <a:p>
            <a:pPr algn="l">
              <a:lnSpc>
                <a:spcPct val="100000"/>
              </a:lnSpc>
            </a:pPr>
            <a:r>
              <a:rPr sz="3000" b="1" i="0">
                <a:solidFill>
                  <a:srgbClr val="A855F7"/>
                </a:solidFill>
                <a:latin typeface="Calibri"/>
              </a:rPr>
              <a:t>80</a:t>
            </a:r>
          </a:p>
        </p:txBody>
      </p:sp>
      <p:sp>
        <p:nvSpPr>
          <p:cNvPr id="13" name="TextBox 12"/>
          <p:cNvSpPr txBox="1"/>
          <p:nvPr/>
        </p:nvSpPr>
        <p:spPr>
          <a:xfrm>
            <a:off x="3651427"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test suites</a:t>
            </a:r>
          </a:p>
        </p:txBody>
      </p:sp>
      <p:sp>
        <p:nvSpPr>
          <p:cNvPr id="14" name="Rounded Rectangle 13"/>
          <p:cNvSpPr/>
          <p:nvPr/>
        </p:nvSpPr>
        <p:spPr>
          <a:xfrm>
            <a:off x="6205575"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5031" y="1536192"/>
            <a:ext cx="2115235" cy="475488"/>
          </a:xfrm>
          <a:prstGeom prst="rect">
            <a:avLst/>
          </a:prstGeom>
          <a:noFill/>
        </p:spPr>
        <p:txBody>
          <a:bodyPr wrap="square" lIns="0" rIns="0" tIns="0" bIns="0" anchor="t">
            <a:spAutoFit/>
          </a:bodyPr>
          <a:lstStyle/>
          <a:p>
            <a:pPr algn="l">
              <a:lnSpc>
                <a:spcPct val="100000"/>
              </a:lnSpc>
            </a:pPr>
            <a:r>
              <a:rPr sz="3000" b="1" i="0">
                <a:solidFill>
                  <a:srgbClr val="10B981"/>
                </a:solidFill>
                <a:latin typeface="Calibri"/>
              </a:rPr>
              <a:t>6</a:t>
            </a:r>
          </a:p>
        </p:txBody>
      </p:sp>
      <p:sp>
        <p:nvSpPr>
          <p:cNvPr id="16" name="TextBox 15"/>
          <p:cNvSpPr txBox="1"/>
          <p:nvPr/>
        </p:nvSpPr>
        <p:spPr>
          <a:xfrm>
            <a:off x="6425031"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CI stages per change</a:t>
            </a:r>
          </a:p>
        </p:txBody>
      </p:sp>
      <p:sp>
        <p:nvSpPr>
          <p:cNvPr id="17" name="Rounded Rectangle 16"/>
          <p:cNvSpPr/>
          <p:nvPr/>
        </p:nvSpPr>
        <p:spPr>
          <a:xfrm>
            <a:off x="8979179"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98635" y="1536192"/>
            <a:ext cx="2115235" cy="475488"/>
          </a:xfrm>
          <a:prstGeom prst="rect">
            <a:avLst/>
          </a:prstGeom>
          <a:noFill/>
        </p:spPr>
        <p:txBody>
          <a:bodyPr wrap="square" lIns="0" rIns="0" tIns="0" bIns="0" anchor="t">
            <a:spAutoFit/>
          </a:bodyPr>
          <a:lstStyle/>
          <a:p>
            <a:pPr algn="l">
              <a:lnSpc>
                <a:spcPct val="100000"/>
              </a:lnSpc>
            </a:pPr>
            <a:r>
              <a:rPr sz="3000" b="1" i="0">
                <a:solidFill>
                  <a:srgbClr val="F59E0B"/>
                </a:solidFill>
                <a:latin typeface="Calibri"/>
              </a:rPr>
              <a:t>2</a:t>
            </a:r>
          </a:p>
        </p:txBody>
      </p:sp>
      <p:sp>
        <p:nvSpPr>
          <p:cNvPr id="19" name="TextBox 18"/>
          <p:cNvSpPr txBox="1"/>
          <p:nvPr/>
        </p:nvSpPr>
        <p:spPr>
          <a:xfrm>
            <a:off x="9198635"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bundle builds verified</a:t>
            </a:r>
          </a:p>
        </p:txBody>
      </p:sp>
      <p:sp>
        <p:nvSpPr>
          <p:cNvPr id="20" name="Rounded Rectangle 19"/>
          <p:cNvSpPr/>
          <p:nvPr/>
        </p:nvSpPr>
        <p:spPr>
          <a:xfrm>
            <a:off x="658368" y="2670048"/>
            <a:ext cx="5577840" cy="219456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2834640"/>
            <a:ext cx="51206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TEST BREAKDOWN</a:t>
            </a:r>
          </a:p>
        </p:txBody>
      </p:sp>
      <p:sp>
        <p:nvSpPr>
          <p:cNvPr id="22" name="TextBox 21"/>
          <p:cNvSpPr txBox="1"/>
          <p:nvPr/>
        </p:nvSpPr>
        <p:spPr>
          <a:xfrm>
            <a:off x="950976" y="3200400"/>
            <a:ext cx="2194560" cy="274320"/>
          </a:xfrm>
          <a:prstGeom prst="rect">
            <a:avLst/>
          </a:prstGeom>
          <a:noFill/>
        </p:spPr>
        <p:txBody>
          <a:bodyPr wrap="square" lIns="0" rIns="0" tIns="0" bIns="0" anchor="t">
            <a:spAutoFit/>
          </a:bodyPr>
          <a:lstStyle/>
          <a:p>
            <a:pPr algn="l">
              <a:lnSpc>
                <a:spcPct val="100000"/>
              </a:lnSpc>
            </a:pPr>
            <a:r>
              <a:rPr sz="1150" b="0" i="0">
                <a:solidFill>
                  <a:srgbClr val="0B0F14"/>
                </a:solidFill>
                <a:latin typeface="Consolas"/>
              </a:rPr>
              <a:t>packages/shared</a:t>
            </a:r>
          </a:p>
        </p:txBody>
      </p:sp>
      <p:sp>
        <p:nvSpPr>
          <p:cNvPr id="23" name="TextBox 22"/>
          <p:cNvSpPr txBox="1"/>
          <p:nvPr/>
        </p:nvSpPr>
        <p:spPr>
          <a:xfrm>
            <a:off x="3401568" y="3200400"/>
            <a:ext cx="118872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15 suites</a:t>
            </a:r>
          </a:p>
        </p:txBody>
      </p:sp>
      <p:sp>
        <p:nvSpPr>
          <p:cNvPr id="24" name="TextBox 23"/>
          <p:cNvSpPr txBox="1"/>
          <p:nvPr/>
        </p:nvSpPr>
        <p:spPr>
          <a:xfrm>
            <a:off x="4681728" y="3200400"/>
            <a:ext cx="137160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512 tests</a:t>
            </a:r>
          </a:p>
        </p:txBody>
      </p:sp>
      <p:sp>
        <p:nvSpPr>
          <p:cNvPr id="25" name="TextBox 24"/>
          <p:cNvSpPr txBox="1"/>
          <p:nvPr/>
        </p:nvSpPr>
        <p:spPr>
          <a:xfrm>
            <a:off x="950976" y="3675887"/>
            <a:ext cx="2194560" cy="274320"/>
          </a:xfrm>
          <a:prstGeom prst="rect">
            <a:avLst/>
          </a:prstGeom>
          <a:noFill/>
        </p:spPr>
        <p:txBody>
          <a:bodyPr wrap="square" lIns="0" rIns="0" tIns="0" bIns="0" anchor="t">
            <a:spAutoFit/>
          </a:bodyPr>
          <a:lstStyle/>
          <a:p>
            <a:pPr algn="l">
              <a:lnSpc>
                <a:spcPct val="100000"/>
              </a:lnSpc>
            </a:pPr>
            <a:r>
              <a:rPr sz="1150" b="0" i="0">
                <a:solidFill>
                  <a:srgbClr val="0B0F14"/>
                </a:solidFill>
                <a:latin typeface="Consolas"/>
              </a:rPr>
              <a:t>apps/mobile</a:t>
            </a:r>
          </a:p>
        </p:txBody>
      </p:sp>
      <p:sp>
        <p:nvSpPr>
          <p:cNvPr id="26" name="TextBox 25"/>
          <p:cNvSpPr txBox="1"/>
          <p:nvPr/>
        </p:nvSpPr>
        <p:spPr>
          <a:xfrm>
            <a:off x="3401568" y="3675887"/>
            <a:ext cx="118872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65 suites</a:t>
            </a:r>
          </a:p>
        </p:txBody>
      </p:sp>
      <p:sp>
        <p:nvSpPr>
          <p:cNvPr id="27" name="TextBox 26"/>
          <p:cNvSpPr txBox="1"/>
          <p:nvPr/>
        </p:nvSpPr>
        <p:spPr>
          <a:xfrm>
            <a:off x="4681728" y="3675887"/>
            <a:ext cx="137160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1,287 tests</a:t>
            </a:r>
          </a:p>
        </p:txBody>
      </p:sp>
      <p:sp>
        <p:nvSpPr>
          <p:cNvPr id="28" name="Rounded Rectangle 27"/>
          <p:cNvSpPr/>
          <p:nvPr/>
        </p:nvSpPr>
        <p:spPr>
          <a:xfrm>
            <a:off x="841247" y="4096512"/>
            <a:ext cx="5212080" cy="420624"/>
          </a:xfrm>
          <a:prstGeom prst="roundRect">
            <a:avLst>
              <a:gd name="adj" fmla="val 6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50976" y="4151376"/>
            <a:ext cx="219456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onsolas"/>
              </a:rPr>
              <a:t>Total</a:t>
            </a:r>
          </a:p>
        </p:txBody>
      </p:sp>
      <p:sp>
        <p:nvSpPr>
          <p:cNvPr id="30" name="TextBox 29"/>
          <p:cNvSpPr txBox="1"/>
          <p:nvPr/>
        </p:nvSpPr>
        <p:spPr>
          <a:xfrm>
            <a:off x="3401568" y="4151376"/>
            <a:ext cx="1188720" cy="274320"/>
          </a:xfrm>
          <a:prstGeom prst="rect">
            <a:avLst/>
          </a:prstGeom>
          <a:noFill/>
        </p:spPr>
        <p:txBody>
          <a:bodyPr wrap="square" lIns="0" rIns="0" tIns="0" bIns="0" anchor="t">
            <a:spAutoFit/>
          </a:bodyPr>
          <a:lstStyle/>
          <a:p>
            <a:pPr algn="l">
              <a:lnSpc>
                <a:spcPct val="100000"/>
              </a:lnSpc>
            </a:pPr>
            <a:r>
              <a:rPr sz="1150" b="1" i="0">
                <a:solidFill>
                  <a:srgbClr val="4A5568"/>
                </a:solidFill>
                <a:latin typeface="Calibri"/>
              </a:rPr>
              <a:t>80 suites</a:t>
            </a:r>
          </a:p>
        </p:txBody>
      </p:sp>
      <p:sp>
        <p:nvSpPr>
          <p:cNvPr id="31" name="TextBox 30"/>
          <p:cNvSpPr txBox="1"/>
          <p:nvPr/>
        </p:nvSpPr>
        <p:spPr>
          <a:xfrm>
            <a:off x="4681728" y="4151376"/>
            <a:ext cx="1371600" cy="274320"/>
          </a:xfrm>
          <a:prstGeom prst="rect">
            <a:avLst/>
          </a:prstGeom>
          <a:noFill/>
        </p:spPr>
        <p:txBody>
          <a:bodyPr wrap="square" lIns="0" rIns="0" tIns="0" bIns="0" anchor="t">
            <a:spAutoFit/>
          </a:bodyPr>
          <a:lstStyle/>
          <a:p>
            <a:pPr algn="l">
              <a:lnSpc>
                <a:spcPct val="100000"/>
              </a:lnSpc>
            </a:pPr>
            <a:r>
              <a:rPr sz="1150" b="1" i="0">
                <a:solidFill>
                  <a:srgbClr val="10B981"/>
                </a:solidFill>
                <a:latin typeface="Calibri"/>
              </a:rPr>
              <a:t>1,799 tests</a:t>
            </a:r>
          </a:p>
        </p:txBody>
      </p:sp>
      <p:sp>
        <p:nvSpPr>
          <p:cNvPr id="32" name="TextBox 31"/>
          <p:cNvSpPr txBox="1"/>
          <p:nvPr/>
        </p:nvSpPr>
        <p:spPr>
          <a:xfrm>
            <a:off x="914400" y="4572000"/>
            <a:ext cx="5120640" cy="237744"/>
          </a:xfrm>
          <a:prstGeom prst="rect">
            <a:avLst/>
          </a:prstGeom>
          <a:noFill/>
        </p:spPr>
        <p:txBody>
          <a:bodyPr wrap="square" lIns="0" rIns="0" tIns="0" bIns="0" anchor="t">
            <a:spAutoFit/>
          </a:bodyPr>
          <a:lstStyle/>
          <a:p>
            <a:pPr algn="l">
              <a:lnSpc>
                <a:spcPct val="100000"/>
              </a:lnSpc>
            </a:pPr>
            <a:r>
              <a:rPr sz="950" b="0" i="1">
                <a:solidFill>
                  <a:srgbClr val="6B7684"/>
                </a:solidFill>
                <a:latin typeface="Calibri"/>
              </a:rPr>
              <a:t>Measured by running the suite from a clean install.</a:t>
            </a:r>
          </a:p>
        </p:txBody>
      </p:sp>
      <p:sp>
        <p:nvSpPr>
          <p:cNvPr id="33" name="TextBox 32"/>
          <p:cNvSpPr txBox="1"/>
          <p:nvPr/>
        </p:nvSpPr>
        <p:spPr>
          <a:xfrm>
            <a:off x="6473952" y="2688336"/>
            <a:ext cx="45720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CI RUNS ON EVERY CHANGE</a:t>
            </a:r>
          </a:p>
        </p:txBody>
      </p:sp>
      <p:sp>
        <p:nvSpPr>
          <p:cNvPr id="34" name="Oval 33"/>
          <p:cNvSpPr/>
          <p:nvPr/>
        </p:nvSpPr>
        <p:spPr>
          <a:xfrm>
            <a:off x="6473952" y="3017520"/>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1</a:t>
            </a:r>
          </a:p>
        </p:txBody>
      </p:sp>
      <p:sp>
        <p:nvSpPr>
          <p:cNvPr id="35" name="TextBox 34"/>
          <p:cNvSpPr txBox="1"/>
          <p:nvPr/>
        </p:nvSpPr>
        <p:spPr>
          <a:xfrm>
            <a:off x="6839712" y="3026663"/>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Formatting check</a:t>
            </a:r>
          </a:p>
        </p:txBody>
      </p:sp>
      <p:sp>
        <p:nvSpPr>
          <p:cNvPr id="36" name="Oval 35"/>
          <p:cNvSpPr/>
          <p:nvPr/>
        </p:nvSpPr>
        <p:spPr>
          <a:xfrm>
            <a:off x="6473952" y="335584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2</a:t>
            </a:r>
          </a:p>
        </p:txBody>
      </p:sp>
      <p:sp>
        <p:nvSpPr>
          <p:cNvPr id="37" name="TextBox 36"/>
          <p:cNvSpPr txBox="1"/>
          <p:nvPr/>
        </p:nvSpPr>
        <p:spPr>
          <a:xfrm>
            <a:off x="6839712" y="3364991"/>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Type-check every package</a:t>
            </a:r>
          </a:p>
        </p:txBody>
      </p:sp>
      <p:sp>
        <p:nvSpPr>
          <p:cNvPr id="38" name="Oval 37"/>
          <p:cNvSpPr/>
          <p:nvPr/>
        </p:nvSpPr>
        <p:spPr>
          <a:xfrm>
            <a:off x="6473952" y="3694175"/>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3</a:t>
            </a:r>
          </a:p>
        </p:txBody>
      </p:sp>
      <p:sp>
        <p:nvSpPr>
          <p:cNvPr id="39" name="TextBox 38"/>
          <p:cNvSpPr txBox="1"/>
          <p:nvPr/>
        </p:nvSpPr>
        <p:spPr>
          <a:xfrm>
            <a:off x="6839712" y="3703320"/>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Full suite with coverage thresholds</a:t>
            </a:r>
          </a:p>
        </p:txBody>
      </p:sp>
      <p:sp>
        <p:nvSpPr>
          <p:cNvPr id="40" name="Oval 39"/>
          <p:cNvSpPr/>
          <p:nvPr/>
        </p:nvSpPr>
        <p:spPr>
          <a:xfrm>
            <a:off x="6473952" y="4032503"/>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4</a:t>
            </a:r>
          </a:p>
        </p:txBody>
      </p:sp>
      <p:sp>
        <p:nvSpPr>
          <p:cNvPr id="41" name="TextBox 40"/>
          <p:cNvSpPr txBox="1"/>
          <p:nvPr/>
        </p:nvSpPr>
        <p:spPr>
          <a:xfrm>
            <a:off x="6839712" y="4041648"/>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Deno tests for the Edge Functions</a:t>
            </a:r>
          </a:p>
        </p:txBody>
      </p:sp>
      <p:sp>
        <p:nvSpPr>
          <p:cNvPr id="42" name="Oval 41"/>
          <p:cNvSpPr/>
          <p:nvPr/>
        </p:nvSpPr>
        <p:spPr>
          <a:xfrm>
            <a:off x="6473952" y="4370831"/>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5</a:t>
            </a:r>
          </a:p>
        </p:txBody>
      </p:sp>
      <p:sp>
        <p:nvSpPr>
          <p:cNvPr id="43" name="TextBox 42"/>
          <p:cNvSpPr txBox="1"/>
          <p:nvPr/>
        </p:nvSpPr>
        <p:spPr>
          <a:xfrm>
            <a:off x="6839712" y="4379976"/>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Android bundle build</a:t>
            </a:r>
          </a:p>
        </p:txBody>
      </p:sp>
      <p:sp>
        <p:nvSpPr>
          <p:cNvPr id="44" name="Oval 43"/>
          <p:cNvSpPr/>
          <p:nvPr/>
        </p:nvSpPr>
        <p:spPr>
          <a:xfrm>
            <a:off x="6473952" y="4709159"/>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6</a:t>
            </a:r>
          </a:p>
        </p:txBody>
      </p:sp>
      <p:sp>
        <p:nvSpPr>
          <p:cNvPr id="45" name="TextBox 44"/>
          <p:cNvSpPr txBox="1"/>
          <p:nvPr/>
        </p:nvSpPr>
        <p:spPr>
          <a:xfrm>
            <a:off x="6839712" y="4718304"/>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Web bundle build</a:t>
            </a:r>
          </a:p>
        </p:txBody>
      </p:sp>
      <p:sp>
        <p:nvSpPr>
          <p:cNvPr id="46" name="Rounded Rectangle 45"/>
          <p:cNvSpPr/>
          <p:nvPr/>
        </p:nvSpPr>
        <p:spPr>
          <a:xfrm>
            <a:off x="658368" y="5047488"/>
            <a:ext cx="10874959" cy="56692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5184648"/>
            <a:ext cx="10326319" cy="310896"/>
          </a:xfrm>
          <a:prstGeom prst="rect">
            <a:avLst/>
          </a:prstGeom>
          <a:noFill/>
        </p:spPr>
        <p:txBody>
          <a:bodyPr wrap="square" lIns="0" rIns="0" tIns="0" bIns="0" anchor="t">
            <a:spAutoFit/>
          </a:bodyPr>
          <a:lstStyle/>
          <a:p>
            <a:pPr algn="l">
              <a:lnSpc>
                <a:spcPct val="100000"/>
              </a:lnSpc>
            </a:pPr>
            <a:r>
              <a:rPr sz="1150" b="1" i="0">
                <a:solidFill>
                  <a:srgbClr val="065F46"/>
                </a:solidFill>
                <a:latin typeface="Calibri"/>
              </a:rPr>
              <a:t>The Android APK has been built via EAS and tested on a physical device. Supabase and the deployed AI function are live.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IT DOES NOT DO, AND WHAT COMES NEXT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Limitations and Future Scope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19</a:t>
            </a:r>
          </a:p>
        </p:txBody>
      </p:sp>
      <p:sp>
        <p:nvSpPr>
          <p:cNvPr id="8" name="TextBox 7"/>
          <p:cNvSpPr txBox="1"/>
          <p:nvPr/>
        </p:nvSpPr>
        <p:spPr>
          <a:xfrm>
            <a:off x="658368" y="1389888"/>
            <a:ext cx="5577840" cy="256032"/>
          </a:xfrm>
          <a:prstGeom prst="rect">
            <a:avLst/>
          </a:prstGeom>
          <a:noFill/>
        </p:spPr>
        <p:txBody>
          <a:bodyPr wrap="square" lIns="0" rIns="0" tIns="0" bIns="0" anchor="t">
            <a:spAutoFit/>
          </a:bodyPr>
          <a:lstStyle/>
          <a:p>
            <a:pPr algn="l">
              <a:lnSpc>
                <a:spcPct val="100000"/>
              </a:lnSpc>
            </a:pPr>
            <a:r>
              <a:rPr sz="950" b="1" i="0">
                <a:solidFill>
                  <a:srgbClr val="EF4444"/>
                </a:solidFill>
                <a:latin typeface="Calibri"/>
              </a:rPr>
              <a:t>LIMITATIONS — STATED PLAINLY</a:t>
            </a:r>
          </a:p>
        </p:txBody>
      </p:sp>
      <p:sp>
        <p:nvSpPr>
          <p:cNvPr id="9" name="Rounded Rectangle 8"/>
          <p:cNvSpPr/>
          <p:nvPr/>
        </p:nvSpPr>
        <p:spPr>
          <a:xfrm>
            <a:off x="658368" y="1719072"/>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193852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1892807"/>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Platform restrictions</a:t>
            </a:r>
          </a:p>
        </p:txBody>
      </p:sp>
      <p:sp>
        <p:nvSpPr>
          <p:cNvPr id="12" name="TextBox 11"/>
          <p:cNvSpPr txBox="1"/>
          <p:nvPr/>
        </p:nvSpPr>
        <p:spPr>
          <a:xfrm>
            <a:off x="877824" y="2286000"/>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Focus Mode cannot block other apps · Do Not Disturb is not toggled · web reminders stop when the tab closes</a:t>
            </a:r>
          </a:p>
        </p:txBody>
      </p:sp>
      <p:sp>
        <p:nvSpPr>
          <p:cNvPr id="13" name="Rounded Rectangle 12"/>
          <p:cNvSpPr/>
          <p:nvPr/>
        </p:nvSpPr>
        <p:spPr>
          <a:xfrm>
            <a:off x="658368" y="2761487"/>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2980944"/>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2935223"/>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Implementation gaps</a:t>
            </a:r>
          </a:p>
        </p:txBody>
      </p:sp>
      <p:sp>
        <p:nvSpPr>
          <p:cNvPr id="16" name="TextBox 15"/>
          <p:cNvSpPr txBox="1"/>
          <p:nvPr/>
        </p:nvSpPr>
        <p:spPr>
          <a:xfrm>
            <a:off x="877824" y="3328415"/>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Flashcards use fixed intervals, not adaptive SM-2 · reordering is menu-based · the local database is not encrypted</a:t>
            </a:r>
          </a:p>
        </p:txBody>
      </p:sp>
      <p:sp>
        <p:nvSpPr>
          <p:cNvPr id="17" name="Rounded Rectangle 16"/>
          <p:cNvSpPr/>
          <p:nvPr/>
        </p:nvSpPr>
        <p:spPr>
          <a:xfrm>
            <a:off x="658368" y="3803904"/>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4023360"/>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3977640"/>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Scope and verification</a:t>
            </a:r>
          </a:p>
        </p:txBody>
      </p:sp>
      <p:sp>
        <p:nvSpPr>
          <p:cNvPr id="20" name="TextBox 19"/>
          <p:cNvSpPr txBox="1"/>
          <p:nvPr/>
        </p:nvSpPr>
        <p:spPr>
          <a:xfrm>
            <a:off x="877824" y="4370832"/>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Sign-in is required before first offline use · device testing is not systematic across Android versions · iOS is untested</a:t>
            </a:r>
          </a:p>
        </p:txBody>
      </p:sp>
      <p:sp>
        <p:nvSpPr>
          <p:cNvPr id="21" name="TextBox 20"/>
          <p:cNvSpPr txBox="1"/>
          <p:nvPr/>
        </p:nvSpPr>
        <p:spPr>
          <a:xfrm>
            <a:off x="6473952" y="1389888"/>
            <a:ext cx="5059375" cy="256032"/>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FUTURE SCOPE</a:t>
            </a:r>
          </a:p>
        </p:txBody>
      </p:sp>
      <p:sp>
        <p:nvSpPr>
          <p:cNvPr id="22" name="Rounded Rectangle 21"/>
          <p:cNvSpPr/>
          <p:nvPr/>
        </p:nvSpPr>
        <p:spPr>
          <a:xfrm>
            <a:off x="6473952" y="1719072"/>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675120" y="193852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1892807"/>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Adaptive review scheduling</a:t>
            </a:r>
          </a:p>
        </p:txBody>
      </p:sp>
      <p:sp>
        <p:nvSpPr>
          <p:cNvPr id="25" name="TextBox 24"/>
          <p:cNvSpPr txBox="1"/>
          <p:nvPr/>
        </p:nvSpPr>
        <p:spPr>
          <a:xfrm>
            <a:off x="6693408" y="2286000"/>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Wire the existing, tested SM-2 implementation to the review screen — the history it needs is already recorded.</a:t>
            </a:r>
          </a:p>
        </p:txBody>
      </p:sp>
      <p:sp>
        <p:nvSpPr>
          <p:cNvPr id="26" name="Rounded Rectangle 25"/>
          <p:cNvSpPr/>
          <p:nvPr/>
        </p:nvSpPr>
        <p:spPr>
          <a:xfrm>
            <a:off x="6473952" y="2761487"/>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675120" y="2980944"/>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2935223"/>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Drag-and-drop reordering</a:t>
            </a:r>
          </a:p>
        </p:txBody>
      </p:sp>
      <p:sp>
        <p:nvSpPr>
          <p:cNvPr id="29" name="TextBox 28"/>
          <p:cNvSpPr txBox="1"/>
          <p:nvPr/>
        </p:nvSpPr>
        <p:spPr>
          <a:xfrm>
            <a:off x="6693408" y="3328415"/>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The repositories already support arbitrary reordering; only the gesture layer is missing.</a:t>
            </a:r>
          </a:p>
        </p:txBody>
      </p:sp>
      <p:sp>
        <p:nvSpPr>
          <p:cNvPr id="30" name="Rounded Rectangle 29"/>
          <p:cNvSpPr/>
          <p:nvPr/>
        </p:nvSpPr>
        <p:spPr>
          <a:xfrm>
            <a:off x="6473952" y="3803904"/>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675120" y="4023360"/>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977640"/>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Encryption, iOS and device matrix</a:t>
            </a:r>
          </a:p>
        </p:txBody>
      </p:sp>
      <p:sp>
        <p:nvSpPr>
          <p:cNvPr id="33" name="TextBox 32"/>
          <p:cNvSpPr txBox="1"/>
          <p:nvPr/>
        </p:nvSpPr>
        <p:spPr>
          <a:xfrm>
            <a:off x="6693408" y="4370832"/>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SQLCipher for data at rest, an iOS release, and systematic testing across Android versions.</a:t>
            </a:r>
          </a:p>
        </p:txBody>
      </p:sp>
      <p:sp>
        <p:nvSpPr>
          <p:cNvPr id="34" name="Rounded Rectangle 33"/>
          <p:cNvSpPr/>
          <p:nvPr/>
        </p:nvSpPr>
        <p:spPr>
          <a:xfrm>
            <a:off x="658368" y="4919472"/>
            <a:ext cx="10874959" cy="658368"/>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32688" y="5093208"/>
            <a:ext cx="10326319" cy="347472"/>
          </a:xfrm>
          <a:prstGeom prst="rect">
            <a:avLst/>
          </a:prstGeom>
          <a:noFill/>
        </p:spPr>
        <p:txBody>
          <a:bodyPr wrap="square" lIns="0" rIns="0" tIns="0" bIns="0" anchor="t">
            <a:spAutoFit/>
          </a:bodyPr>
          <a:lstStyle/>
          <a:p>
            <a:pPr algn="l">
              <a:lnSpc>
                <a:spcPct val="100000"/>
              </a:lnSpc>
            </a:pPr>
            <a:r>
              <a:rPr sz="1200" b="0" i="0">
                <a:solidFill>
                  <a:srgbClr val="FFFFFF"/>
                </a:solidFill>
                <a:latin typeface="Calibri"/>
              </a:rPr>
              <a:t>Every limitation is documented in docs/developer/LIMITATIONS.md, and the platform restrictions are stated inside the application itself.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PREPPILOT DEMONSTRATES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Conclusion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20</a:t>
            </a:r>
          </a:p>
        </p:txBody>
      </p:sp>
      <p:sp>
        <p:nvSpPr>
          <p:cNvPr id="8" name="TextBox 7"/>
          <p:cNvSpPr txBox="1"/>
          <p:nvPr/>
        </p:nvSpPr>
        <p:spPr>
          <a:xfrm>
            <a:off x="658368" y="1389888"/>
            <a:ext cx="10874959" cy="365760"/>
          </a:xfrm>
          <a:prstGeom prst="rect">
            <a:avLst/>
          </a:prstGeom>
          <a:noFill/>
        </p:spPr>
        <p:txBody>
          <a:bodyPr wrap="square" lIns="0" rIns="0" tIns="0" bIns="0" anchor="t">
            <a:spAutoFit/>
          </a:bodyPr>
          <a:lstStyle/>
          <a:p>
            <a:pPr algn="l">
              <a:lnSpc>
                <a:spcPct val="124000"/>
              </a:lnSpc>
            </a:pPr>
            <a:r>
              <a:rPr sz="1650" b="0" i="0">
                <a:solidFill>
                  <a:srgbClr val="0B0F14"/>
                </a:solidFill>
                <a:latin typeface="Calibri"/>
              </a:rPr>
              <a:t>PrepPilot demonstrates that a student-facing application can be both technically rigorous and honest about its own limits.</a:t>
            </a:r>
          </a:p>
        </p:txBody>
      </p:sp>
      <p:sp>
        <p:nvSpPr>
          <p:cNvPr id="9" name="Rounded Rectangle 8"/>
          <p:cNvSpPr/>
          <p:nvPr/>
        </p:nvSpPr>
        <p:spPr>
          <a:xfrm>
            <a:off x="658368"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221284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Offline-first, genuinely</a:t>
            </a:r>
          </a:p>
        </p:txBody>
      </p:sp>
      <p:sp>
        <p:nvSpPr>
          <p:cNvPr id="12" name="TextBox 11"/>
          <p:cNvSpPr txBox="1"/>
          <p:nvPr/>
        </p:nvSpPr>
        <p:spPr>
          <a:xfrm>
            <a:off x="877824"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local database is authoritative — made workable by client-generated ids, tombstone deletion and a server-side watermark, each addressing a specific failure mode.</a:t>
            </a:r>
          </a:p>
        </p:txBody>
      </p:sp>
      <p:sp>
        <p:nvSpPr>
          <p:cNvPr id="13" name="Rounded Rectangle 12"/>
          <p:cNvSpPr/>
          <p:nvPr/>
        </p:nvSpPr>
        <p:spPr>
          <a:xfrm>
            <a:off x="4362602"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63770" y="221284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46650"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Measurement that does not flatter</a:t>
            </a:r>
          </a:p>
        </p:txBody>
      </p:sp>
      <p:sp>
        <p:nvSpPr>
          <p:cNvPr id="16" name="TextBox 15"/>
          <p:cNvSpPr txBox="1"/>
          <p:nvPr/>
        </p:nvSpPr>
        <p:spPr>
          <a:xfrm>
            <a:off x="4582058"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Topic-weighted rather than averaged, unmeasured rather than zero, and rounded honestly.</a:t>
            </a:r>
          </a:p>
        </p:txBody>
      </p:sp>
      <p:sp>
        <p:nvSpPr>
          <p:cNvPr id="17" name="Rounded Rectangle 16"/>
          <p:cNvSpPr/>
          <p:nvPr/>
        </p:nvSpPr>
        <p:spPr>
          <a:xfrm>
            <a:off x="8066836"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268004" y="221284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50884"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AI safety that is structural</a:t>
            </a:r>
          </a:p>
        </p:txBody>
      </p:sp>
      <p:sp>
        <p:nvSpPr>
          <p:cNvPr id="20" name="TextBox 19"/>
          <p:cNvSpPr txBox="1"/>
          <p:nvPr/>
        </p:nvSpPr>
        <p:spPr>
          <a:xfrm>
            <a:off x="8286292"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proposal grammar has no verb for destruction, so unsafe operations are not discouraged — they are inexpressible.</a:t>
            </a:r>
          </a:p>
        </p:txBody>
      </p:sp>
      <p:sp>
        <p:nvSpPr>
          <p:cNvPr id="21" name="Rounded Rectangle 20"/>
          <p:cNvSpPr/>
          <p:nvPr/>
        </p:nvSpPr>
        <p:spPr>
          <a:xfrm>
            <a:off x="658368" y="3767328"/>
            <a:ext cx="10874959" cy="1005840"/>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3931920"/>
            <a:ext cx="10253167" cy="237744"/>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AND WHAT IT DECLINES TO CLAIM</a:t>
            </a:r>
          </a:p>
        </p:txBody>
      </p:sp>
      <p:sp>
        <p:nvSpPr>
          <p:cNvPr id="23" name="TextBox 22"/>
          <p:cNvSpPr txBox="1"/>
          <p:nvPr/>
        </p:nvSpPr>
        <p:spPr>
          <a:xfrm>
            <a:off x="969264" y="4206240"/>
            <a:ext cx="10253167" cy="493776"/>
          </a:xfrm>
          <a:prstGeom prst="rect">
            <a:avLst/>
          </a:prstGeom>
          <a:noFill/>
        </p:spPr>
        <p:txBody>
          <a:bodyPr wrap="square" lIns="0" rIns="0" tIns="0" bIns="0" anchor="t">
            <a:spAutoFit/>
          </a:bodyPr>
          <a:lstStyle/>
          <a:p>
            <a:pPr algn="l">
              <a:lnSpc>
                <a:spcPct val="120000"/>
              </a:lnSpc>
            </a:pPr>
            <a:r>
              <a:rPr sz="1250" b="0" i="0">
                <a:solidFill>
                  <a:srgbClr val="FFFFFF"/>
                </a:solidFill>
                <a:latin typeface="Calibri"/>
              </a:rPr>
              <a:t>Focus Mode does not pretend to block apps it cannot block. Web reminders say they will stop when the tab closes. The flashcard scheduler is described as what it is.</a:t>
            </a:r>
          </a:p>
        </p:txBody>
      </p:sp>
      <p:sp>
        <p:nvSpPr>
          <p:cNvPr id="24" name="TextBox 23"/>
          <p:cNvSpPr txBox="1"/>
          <p:nvPr/>
        </p:nvSpPr>
        <p:spPr>
          <a:xfrm>
            <a:off x="658368" y="4956048"/>
            <a:ext cx="5486400" cy="384048"/>
          </a:xfrm>
          <a:prstGeom prst="rect">
            <a:avLst/>
          </a:prstGeom>
          <a:noFill/>
        </p:spPr>
        <p:txBody>
          <a:bodyPr wrap="square" lIns="0" rIns="0" tIns="0" bIns="0" anchor="t">
            <a:spAutoFit/>
          </a:bodyPr>
          <a:lstStyle/>
          <a:p>
            <a:pPr algn="l">
              <a:lnSpc>
                <a:spcPct val="100000"/>
              </a:lnSpc>
            </a:pPr>
            <a:r>
              <a:rPr sz="2600" b="1" i="0">
                <a:solidFill>
                  <a:srgbClr val="294A48"/>
                </a:solidFill>
                <a:latin typeface="Calibri"/>
              </a:rPr>
              <a:t>Thank You</a:t>
            </a:r>
          </a:p>
        </p:txBody>
      </p:sp>
      <p:sp>
        <p:nvSpPr>
          <p:cNvPr id="25" name="TextBox 24"/>
          <p:cNvSpPr txBox="1"/>
          <p:nvPr/>
        </p:nvSpPr>
        <p:spPr>
          <a:xfrm>
            <a:off x="658368" y="5376672"/>
            <a:ext cx="5486400" cy="237744"/>
          </a:xfrm>
          <a:prstGeom prst="rect">
            <a:avLst/>
          </a:prstGeom>
          <a:noFill/>
        </p:spPr>
        <p:txBody>
          <a:bodyPr wrap="square" lIns="0" rIns="0" tIns="0" bIns="0" anchor="t">
            <a:spAutoFit/>
          </a:bodyPr>
          <a:lstStyle/>
          <a:p>
            <a:pPr algn="l">
              <a:lnSpc>
                <a:spcPct val="100000"/>
              </a:lnSpc>
            </a:pPr>
            <a:r>
              <a:rPr sz="1200" b="0" i="0">
                <a:solidFill>
                  <a:srgbClr val="4A5568"/>
                </a:solidFill>
                <a:latin typeface="Calibri"/>
              </a:rPr>
              <a:t>Questions are welcome</a:t>
            </a:r>
          </a:p>
        </p:txBody>
      </p:sp>
      <p:sp>
        <p:nvSpPr>
          <p:cNvPr id="26" name="TextBox 25"/>
          <p:cNvSpPr txBox="1"/>
          <p:nvPr/>
        </p:nvSpPr>
        <p:spPr>
          <a:xfrm>
            <a:off x="6309360" y="4974336"/>
            <a:ext cx="5303520" cy="237744"/>
          </a:xfrm>
          <a:prstGeom prst="rect">
            <a:avLst/>
          </a:prstGeom>
          <a:noFill/>
        </p:spPr>
        <p:txBody>
          <a:bodyPr wrap="square" lIns="0" rIns="0" tIns="0" bIns="0" anchor="t">
            <a:spAutoFit/>
          </a:bodyPr>
          <a:lstStyle/>
          <a:p>
            <a:pPr algn="r">
              <a:lnSpc>
                <a:spcPct val="100000"/>
              </a:lnSpc>
            </a:pPr>
            <a:r>
              <a:rPr sz="1050" b="1" i="0">
                <a:solidFill>
                  <a:srgbClr val="0B0F14"/>
                </a:solidFill>
                <a:latin typeface="Calibri"/>
              </a:rPr>
              <a:t>Archit Jain  ·  Vanshika Rajput  ·  Lavi Chaudhary  ·  Jasmine Chaudhary</a:t>
            </a:r>
          </a:p>
        </p:txBody>
      </p:sp>
      <p:sp>
        <p:nvSpPr>
          <p:cNvPr id="27" name="TextBox 26"/>
          <p:cNvSpPr txBox="1"/>
          <p:nvPr/>
        </p:nvSpPr>
        <p:spPr>
          <a:xfrm>
            <a:off x="6309360" y="5212080"/>
            <a:ext cx="5303520" cy="219456"/>
          </a:xfrm>
          <a:prstGeom prst="rect">
            <a:avLst/>
          </a:prstGeom>
          <a:noFill/>
        </p:spPr>
        <p:txBody>
          <a:bodyPr wrap="square" lIns="0" rIns="0" tIns="0" bIns="0" anchor="t">
            <a:spAutoFit/>
          </a:bodyPr>
          <a:lstStyle/>
          <a:p>
            <a:pPr algn="r">
              <a:lnSpc>
                <a:spcPct val="100000"/>
              </a:lnSpc>
            </a:pPr>
            <a:r>
              <a:rPr sz="1000" b="0" i="0">
                <a:solidFill>
                  <a:srgbClr val="4A5568"/>
                </a:solidFill>
                <a:latin typeface="Calibri"/>
              </a:rPr>
              <a:t>Guided by Ms. Kareena</a:t>
            </a:r>
          </a:p>
        </p:txBody>
      </p:sp>
      <p:sp>
        <p:nvSpPr>
          <p:cNvPr id="28" name="TextBox 27"/>
          <p:cNvSpPr txBox="1"/>
          <p:nvPr/>
        </p:nvSpPr>
        <p:spPr>
          <a:xfrm>
            <a:off x="6309360" y="5431536"/>
            <a:ext cx="5303520" cy="219456"/>
          </a:xfrm>
          <a:prstGeom prst="rect">
            <a:avLst/>
          </a:prstGeom>
          <a:noFill/>
        </p:spPr>
        <p:txBody>
          <a:bodyPr wrap="square" lIns="0" rIns="0" tIns="0" bIns="0" anchor="t">
            <a:spAutoFit/>
          </a:bodyPr>
          <a:lstStyle/>
          <a:p>
            <a:pPr algn="r">
              <a:lnSpc>
                <a:spcPct val="100000"/>
              </a:lnSpc>
            </a:pPr>
            <a:r>
              <a:rPr sz="1000" b="0" i="0">
                <a:solidFill>
                  <a:srgbClr val="6B7684"/>
                </a:solidFill>
                <a:latin typeface="Calibri"/>
              </a:rPr>
              <a:t>Vidya University, Meerut  ·  12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